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2.svg" ContentType="image/svg"/>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s-CO" sz="1800" b="0" u="none" strike="noStrike">
                <a:solidFill>
                  <a:schemeClr val="dk1"/>
                </a:solidFill>
                <a:effectLst/>
                <a:uFillTx/>
                <a:latin typeface="Montserrat"/>
              </a:rPr>
              <a:t>Pulse para desplazar la diapositiva</a:t>
            </a:r>
            <a:endParaRPr lang="es-CO" sz="1800" b="0" u="none" strike="noStrike">
              <a:solidFill>
                <a:schemeClr val="dk1"/>
              </a:solidFill>
              <a:effectLst/>
              <a:uFillTx/>
              <a:latin typeface="Montserrat"/>
            </a:endParaRPr>
          </a:p>
        </p:txBody>
      </p:sp>
      <p:sp>
        <p:nvSpPr>
          <p:cNvPr id="1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s-CO" sz="2000" b="0" u="none" strike="noStrike">
                <a:solidFill>
                  <a:srgbClr val="000000"/>
                </a:solidFill>
                <a:effectLst/>
                <a:uFillTx/>
                <a:latin typeface="Arial"/>
              </a:rPr>
              <a:t>Pulse para editar el formato de las notas</a:t>
            </a:r>
            <a:endParaRPr lang="es-CO" sz="2000" b="0" u="none" strike="noStrike">
              <a:solidFill>
                <a:srgbClr val="000000"/>
              </a:solidFill>
              <a:effectLst/>
              <a:uFillTx/>
              <a:latin typeface="Arial"/>
            </a:endParaRPr>
          </a:p>
        </p:txBody>
      </p:sp>
      <p:sp>
        <p:nvSpPr>
          <p:cNvPr id="1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s-CO" sz="1400" b="0" u="none" strike="noStrike">
                <a:solidFill>
                  <a:srgbClr val="000000"/>
                </a:solidFill>
                <a:effectLst/>
                <a:uFillTx/>
                <a:latin typeface="Times New Roman"/>
              </a:rPr>
              <a:t>&lt;cabecera&gt;</a:t>
            </a:r>
            <a:endParaRPr lang="es-CO" sz="1400" b="0" u="none" strike="noStrike">
              <a:solidFill>
                <a:srgbClr val="000000"/>
              </a:solidFill>
              <a:effectLst/>
              <a:uFillTx/>
              <a:latin typeface="Times New Roman"/>
            </a:endParaRPr>
          </a:p>
        </p:txBody>
      </p:sp>
      <p:sp>
        <p:nvSpPr>
          <p:cNvPr id="19" name="PlaceHolder 4"/>
          <p:cNvSpPr>
            <a:spLocks noGrp="1"/>
          </p:cNvSpPr>
          <p:nvPr>
            <p:ph type="dt" idx="3"/>
          </p:nvPr>
        </p:nvSpPr>
        <p:spPr>
          <a:xfrm>
            <a:off x="4399200" y="0"/>
            <a:ext cx="3372840" cy="502560"/>
          </a:xfrm>
          <a:prstGeom prst="rect">
            <a:avLst/>
          </a:prstGeom>
          <a:noFill/>
          <a:ln w="0">
            <a:noFill/>
          </a:ln>
        </p:spPr>
        <p:txBody>
          <a:bodyPr lIns="0" tIns="0" rIns="0" bIns="0" anchor="t">
            <a:noAutofit/>
          </a:bodyPr>
          <a:lstStyle>
            <a:lvl1pPr indent="0" algn="r">
              <a:buNone/>
              <a:defRPr lang="es-CO" sz="1400" b="0" u="none" strike="noStrike">
                <a:solidFill>
                  <a:srgbClr val="000000"/>
                </a:solidFill>
                <a:effectLst/>
                <a:uFillTx/>
                <a:latin typeface="Times New Roman"/>
              </a:defRPr>
            </a:lvl1pPr>
          </a:lstStyle>
          <a:p>
            <a:pPr indent="0" algn="r">
              <a:buNone/>
            </a:pPr>
            <a:r>
              <a:rPr lang="es-CO" sz="1400" b="0" u="none" strike="noStrike">
                <a:solidFill>
                  <a:srgbClr val="000000"/>
                </a:solidFill>
                <a:effectLst/>
                <a:uFillTx/>
                <a:latin typeface="Times New Roman"/>
              </a:rPr>
              <a:t>&lt;fecha/hora&gt;</a:t>
            </a:r>
            <a:endParaRPr lang="es-CO" sz="1400" b="0" u="none" strike="noStrike">
              <a:solidFill>
                <a:srgbClr val="000000"/>
              </a:solidFill>
              <a:effectLst/>
              <a:uFillTx/>
              <a:latin typeface="Times New Roman"/>
            </a:endParaRPr>
          </a:p>
        </p:txBody>
      </p:sp>
      <p:sp>
        <p:nvSpPr>
          <p:cNvPr id="20" name="PlaceHolder 5"/>
          <p:cNvSpPr>
            <a:spLocks noGrp="1"/>
          </p:cNvSpPr>
          <p:nvPr>
            <p:ph type="ftr" idx="4"/>
          </p:nvPr>
        </p:nvSpPr>
        <p:spPr>
          <a:xfrm>
            <a:off x="0" y="9555480"/>
            <a:ext cx="3372840" cy="502560"/>
          </a:xfrm>
          <a:prstGeom prst="rect">
            <a:avLst/>
          </a:prstGeom>
          <a:noFill/>
          <a:ln w="0">
            <a:noFill/>
          </a:ln>
        </p:spPr>
        <p:txBody>
          <a:bodyPr lIns="0" tIns="0" rIns="0" bIns="0" anchor="b">
            <a:noAutofit/>
          </a:bodyPr>
          <a:lstStyle>
            <a:lvl1pPr indent="0" algn="l">
              <a:buNone/>
              <a:defRPr lang="es-CO" sz="1400" b="0" u="none" strike="noStrike">
                <a:solidFill>
                  <a:srgbClr val="000000"/>
                </a:solidFill>
                <a:effectLst/>
                <a:uFillTx/>
                <a:latin typeface="Times New Roman"/>
              </a:defRPr>
            </a:lvl1pPr>
          </a:lstStyle>
          <a:p>
            <a:pPr indent="0" algn="l">
              <a:buNone/>
            </a:pPr>
            <a:r>
              <a:rPr lang="es-CO" sz="1400" b="0" u="none" strike="noStrike">
                <a:solidFill>
                  <a:srgbClr val="000000"/>
                </a:solidFill>
                <a:effectLst/>
                <a:uFillTx/>
                <a:latin typeface="Times New Roman"/>
              </a:rPr>
              <a:t>&lt;pie de página&gt;</a:t>
            </a:r>
            <a:endParaRPr lang="es-CO" sz="1400" b="0" u="none" strike="noStrike">
              <a:solidFill>
                <a:srgbClr val="000000"/>
              </a:solidFill>
              <a:effectLst/>
              <a:uFillTx/>
              <a:latin typeface="Times New Roman"/>
            </a:endParaRPr>
          </a:p>
        </p:txBody>
      </p:sp>
      <p:sp>
        <p:nvSpPr>
          <p:cNvPr id="21" name="PlaceHolder 6"/>
          <p:cNvSpPr>
            <a:spLocks noGrp="1"/>
          </p:cNvSpPr>
          <p:nvPr>
            <p:ph type="sldNum" idx="5"/>
          </p:nvPr>
        </p:nvSpPr>
        <p:spPr>
          <a:xfrm>
            <a:off x="4399200" y="9555480"/>
            <a:ext cx="3372840" cy="502560"/>
          </a:xfrm>
          <a:prstGeom prst="rect">
            <a:avLst/>
          </a:prstGeom>
          <a:noFill/>
          <a:ln w="0">
            <a:noFill/>
          </a:ln>
        </p:spPr>
        <p:txBody>
          <a:bodyPr lIns="0" tIns="0" rIns="0" bIns="0" anchor="b">
            <a:noAutofit/>
          </a:bodyPr>
          <a:lstStyle>
            <a:lvl1pPr indent="0" algn="r">
              <a:buNone/>
              <a:defRPr lang="es-CO" sz="1400" b="0" u="none" strike="noStrike">
                <a:solidFill>
                  <a:srgbClr val="000000"/>
                </a:solidFill>
                <a:effectLst/>
                <a:uFillTx/>
                <a:latin typeface="Times New Roman"/>
              </a:defRPr>
            </a:lvl1pPr>
          </a:lstStyle>
          <a:p>
            <a:pPr indent="0" algn="r">
              <a:buNone/>
            </a:pPr>
            <a:fld id="{AA5A80D1-D628-4E8F-9B2C-0BEF47E9BB15}" type="slidenum">
              <a:rPr lang="es-CO" sz="1400" b="0" u="none" strike="noStrike">
                <a:solidFill>
                  <a:srgbClr val="000000"/>
                </a:solidFill>
                <a:effectLst/>
                <a:uFillTx/>
                <a:latin typeface="Times New Roman"/>
              </a:rPr>
              <a:t>&lt;número&gt;</a:t>
            </a:fld>
            <a:endParaRPr lang="es-CO"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6040" cy="3085920"/>
          </a:xfrm>
          <a:prstGeom prst="rect">
            <a:avLst/>
          </a:prstGeom>
          <a:ln w="0">
            <a:noFill/>
          </a:ln>
        </p:spPr>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Esperanza</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0:30</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Buenos días. Somos John Paez y Esperanza Niño. Presentamos el Observatorio Anticorrupción de Colombia, una solución del reto de asistentes virtuales para facilitar el acceso ciudadano a datos abiertos. Nuestra idea se resume en una frase: convertir datos dispersos en decisiones focalizadas.</a:t>
            </a:r>
            <a:endParaRPr lang="es-CO" sz="2000" b="0" u="none" strike="noStrike">
              <a:solidFill>
                <a:srgbClr val="000000"/>
              </a:solidFill>
              <a:effectLst/>
              <a:uFillTx/>
              <a:latin typeface="Arial"/>
            </a:endParaRPr>
          </a:p>
        </p:txBody>
      </p:sp>
      <p:sp>
        <p:nvSpPr>
          <p:cNvPr id="491"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5A5B99-7833-432C-98AC-5FCBF1670FB5}"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6040" cy="3085920"/>
          </a:xfrm>
          <a:prstGeom prst="rect">
            <a:avLst/>
          </a:prstGeom>
          <a:ln w="0">
            <a:noFill/>
          </a:ln>
        </p:spPr>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Esperanza</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0:45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Colombia ya publica millones de registros. El problema es que disponibilidad no significa comprensión. Las fuentes están separadas, el lenguaje es técnico y la priorización suele ser manual. Por eso preguntamos: ¿cómo puede una persona hablar con estos datos sin ser especialista y obtener una respuesta que pueda verificar?</a:t>
            </a:r>
            <a:endParaRPr lang="es-CO" sz="2000" b="0" u="none" strike="noStrike">
              <a:solidFill>
                <a:srgbClr val="000000"/>
              </a:solidFill>
              <a:effectLst/>
              <a:uFillTx/>
              <a:latin typeface="Arial"/>
            </a:endParaRPr>
          </a:p>
        </p:txBody>
      </p:sp>
      <p:sp>
        <p:nvSpPr>
          <p:cNvPr id="494"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9C5AE1-D8F6-4419-A4C7-AF01641A080E}"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6040" cy="3085920"/>
          </a:xfrm>
          <a:prstGeom prst="rect">
            <a:avLst/>
          </a:prstGeom>
          <a:ln w="0">
            <a:noFill/>
          </a:ln>
        </p:spPr>
      </p:sp>
      <p:sp>
        <p:nvSpPr>
          <p:cNvPr id="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Esperanza</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0:55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Nuestro cliente principal son las entidades de control y las oficinas de control interno. El usuario que opera la herramienta es el analista o auditor, y el beneficio se extiende a ciudadanos, veedurías, periodistas e investigadores. La aplicación no acusa ni reemplaza una investigación: prioriza, explica y conserva la fuente para que una persona tome la decisión.</a:t>
            </a:r>
            <a:endParaRPr lang="es-CO" sz="2000" b="0" u="none" strike="noStrike">
              <a:solidFill>
                <a:srgbClr val="000000"/>
              </a:solidFill>
              <a:effectLst/>
              <a:uFillTx/>
              <a:latin typeface="Arial"/>
            </a:endParaRPr>
          </a:p>
        </p:txBody>
      </p:sp>
      <p:sp>
        <p:nvSpPr>
          <p:cNvPr id="497"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B75A9A-0C5A-48BC-8D56-2D10B867CCB5}"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6040" cy="3085920"/>
          </a:xfrm>
          <a:prstGeom prst="rect">
            <a:avLst/>
          </a:prstGeom>
          <a:ln w="0">
            <a:noFill/>
          </a:ln>
        </p:spPr>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Anexo</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Usar únicamente si el jurado pregunta cómo se construye el score. Recalcar que cada punto es visible, que el semáforo es una regla operativa y que la anomalía no reemplaza las banderas documentales.</a:t>
            </a:r>
            <a:endParaRPr lang="es-CO" sz="2000" b="0" u="none" strike="noStrike">
              <a:solidFill>
                <a:srgbClr val="000000"/>
              </a:solidFill>
              <a:effectLst/>
              <a:uFillTx/>
              <a:latin typeface="Arial"/>
            </a:endParaRPr>
          </a:p>
        </p:txBody>
      </p:sp>
      <p:sp>
        <p:nvSpPr>
          <p:cNvPr id="500"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556945-C0E7-4099-BD78-37C9E40B5BBD}"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6040" cy="3085920"/>
          </a:xfrm>
          <a:prstGeom prst="rect">
            <a:avLst/>
          </a:prstGeom>
          <a:ln w="0">
            <a:noFill/>
          </a:ln>
        </p:spPr>
      </p:sp>
      <p:sp>
        <p:nvSpPr>
          <p:cNvPr id="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Esperanza</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0:45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experiencia es simple: una persona pregunta; el sistema integra las fuentes; aplica reglas explicables y detección de anomalías; y devuelve un semáforo con evidencias verificables. El objetivo no es prometer una sentencia automática, sino entregar una plataforma funcional y medible para facilitar el acceso y focalizar la revisión.</a:t>
            </a:r>
            <a:endParaRPr lang="es-CO" sz="2000" b="0" u="none" strike="noStrike">
              <a:solidFill>
                <a:srgbClr val="000000"/>
              </a:solidFill>
              <a:effectLst/>
              <a:uFillTx/>
              <a:latin typeface="Arial"/>
            </a:endParaRPr>
          </a:p>
        </p:txBody>
      </p:sp>
      <p:sp>
        <p:nvSpPr>
          <p:cNvPr id="503"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EC71A5-0178-4A35-AD09-A2850CE1D9C3}"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6040" cy="3085920"/>
          </a:xfrm>
          <a:prstGeom prst="rect">
            <a:avLst/>
          </a:prstGeom>
          <a:ln w="0">
            <a:noFill/>
          </a:ln>
        </p:spPr>
      </p:sp>
      <p:sp>
        <p:nvSpPr>
          <p:cNvPr id="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0:55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fuente principal es SECOP II Contratos Electrónicos, publicada por Colombia Compra Eficiente con cobertura nacional y actualización diaria. La conectamos mediante Socrata y la complementamos con SIRI, CGR, FGN, multas y obras. El trabajo de datos incluye normalizar identificadores, fechas, valores y estados, construir variables y conservar la evidencia original para que el proceso sea reproducible.</a:t>
            </a:r>
            <a:endParaRPr lang="es-CO" sz="2000" b="0" u="none" strike="noStrike">
              <a:solidFill>
                <a:srgbClr val="000000"/>
              </a:solidFill>
              <a:effectLst/>
              <a:uFillTx/>
              <a:latin typeface="Arial"/>
            </a:endParaRPr>
          </a:p>
        </p:txBody>
      </p:sp>
      <p:sp>
        <p:nvSpPr>
          <p:cNvPr id="506"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5524C9-9AB9-4BF7-8222-EB42D6E3F802}"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6040" cy="308592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0:55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Construimos una API propia que integra cinco dominios: responsabilidades fiscales de Contraloría, antecedentes disciplinarios SIRI, sanciones penales de Fiscalía, multas SECOP y obras inconclusas. Permite buscar en todas las bases, construir un perfil por documento y consultar estadísticas o rutas especializadas. Está documentada con Swagger y puede ser consumida por nuestra aplicación, por el agente o por otras soluciones públicas.</a:t>
            </a:r>
            <a:endParaRPr lang="es-CO" sz="2000" b="0" u="none" strike="noStrike">
              <a:solidFill>
                <a:srgbClr val="000000"/>
              </a:solidFill>
              <a:effectLst/>
              <a:uFillTx/>
              <a:latin typeface="Arial"/>
            </a:endParaRPr>
          </a:p>
        </p:txBody>
      </p:sp>
      <p:sp>
        <p:nvSpPr>
          <p:cNvPr id="509"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D8868B9-046E-4571-9FAC-FBE54F10A7A3}"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6040" cy="308592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Esperanza</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0:45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Nuestra propuesta no es otra tabla de datos. Antes, una persona debía entrar a varias fuentes, interpretar columnas y revisar sin una prioridad. Con el Observatorio consulta un NIT o sector, entiende cada bandera, identifica qué revisar primero y puede preguntar en lenguaje natural. La API propia permite reutilizar esta integración más allá de nuestra interfaz.</a:t>
            </a:r>
            <a:endParaRPr lang="es-CO" sz="2000" b="0" u="none" strike="noStrike">
              <a:solidFill>
                <a:srgbClr val="000000"/>
              </a:solidFill>
              <a:effectLst/>
              <a:uFillTx/>
              <a:latin typeface="Arial"/>
            </a:endParaRPr>
          </a:p>
        </p:txBody>
      </p:sp>
      <p:sp>
        <p:nvSpPr>
          <p:cNvPr id="512"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A823B5-4824-4C67-AFE4-5971081273AE}"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6040" cy="308592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1:00</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Seguimos un ciclo CRISP-ML. Como antecedente colombiano tomamos el estudio Índice de riesgo de corrupción en el sistema de compra pública colombiano, de Zuleta, Ospina y Caro, publicado por Fedesarrollo y el BID en 2019. Ese trabajo analiza SECOP mediante indicadores de falta de competencia, falta de transparencia y anomalías. Nuestro prototipo combina nueve reglas operativas visibles con una señal estadística basada en Isolation Forest. Los pesos exactos son decisiones propias, no una reproducción literal del índice del estudio. Evaluamos aritmética, persistencia, caché y flujo E2E, y desplegamos en contenedores.</a:t>
            </a:r>
            <a:endParaRPr lang="es-CO" sz="2000" b="0" u="none" strike="noStrike">
              <a:solidFill>
                <a:srgbClr val="000000"/>
              </a:solidFill>
              <a:effectLst/>
              <a:uFillTx/>
              <a:latin typeface="Arial"/>
            </a:endParaRPr>
          </a:p>
        </p:txBody>
      </p:sp>
      <p:sp>
        <p:nvSpPr>
          <p:cNvPr id="515"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401453-D76F-42E3-ABC1-2F64320B1AAA}"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6040" cy="308592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1:00</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arquitectura tiene cuatro capas. Las fuentes abiertas alimentan la API Anticorrupción Colombia, que normaliza y unifica antecedentes por documento. Sobre esa capa se ejecutan el score, Isolation Forest y las herramientas del agente. Finalmente, el dashboard presenta alertas, perfiles y conversación. La API desacopla las fuentes de la experiencia y permite que otras soluciones reutilicen los datos.</a:t>
            </a:r>
            <a:endParaRPr lang="es-CO" sz="2000" b="0" u="none" strike="noStrike">
              <a:solidFill>
                <a:srgbClr val="000000"/>
              </a:solidFill>
              <a:effectLst/>
              <a:uFillTx/>
              <a:latin typeface="Arial"/>
            </a:endParaRPr>
          </a:p>
        </p:txBody>
      </p:sp>
      <p:sp>
        <p:nvSpPr>
          <p:cNvPr id="518"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3D9706-0F81-416C-B400-30D7A3E9737E}"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1:00</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Usamos tres formas de IA. Para detectar comportamientos atípicos nos basamos en el paper Isolation Forest, de Fei Tony Liu, Kai Ming Ting y Zhi-Hua Zhou, publicado en IEEE ICDM 2008. Su idea es que las observaciones escasas y diferentes suelen aislarse con recorridos más cortos en árboles aleatorios. Lo aplicamos por sector con nueve variables, cien árboles y un umbral explícito. El paper fundamenta el algoritmo de anomalías; los puntos de las banderas y el semáforo son reglas operativas propias. Sin etiquetas confiables de corrupción no inventamos una precisión: un outlier es una señal para revisar, nunca una acusación.</a:t>
            </a:r>
            <a:endParaRPr lang="es-CO" sz="2000" b="0" u="none" strike="noStrike">
              <a:solidFill>
                <a:srgbClr val="000000"/>
              </a:solidFill>
              <a:effectLst/>
              <a:uFillTx/>
              <a:latin typeface="Arial"/>
            </a:endParaRPr>
          </a:p>
        </p:txBody>
      </p:sp>
      <p:sp>
        <p:nvSpPr>
          <p:cNvPr id="521"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95930B-1250-4C4C-925B-EED26CF56D02}"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Esperanza</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0:55</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resultado es una API reutilizable y una aplicación pública funcionando con datos reales. En la captura vemos 5,70 millones de contratos, 460 alertas rojas, nueve banderas explicables y cinco dominios institucionales integrados por la API. El impacto es social porque democratiza la consulta, y operativo porque focaliza revisiones.</a:t>
            </a:r>
            <a:endParaRPr lang="es-CO" sz="2000" b="0" u="none" strike="noStrike">
              <a:solidFill>
                <a:srgbClr val="000000"/>
              </a:solidFill>
              <a:effectLst/>
              <a:uFillTx/>
              <a:latin typeface="Arial"/>
            </a:endParaRPr>
          </a:p>
        </p:txBody>
      </p:sp>
      <p:sp>
        <p:nvSpPr>
          <p:cNvPr id="524"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99BA9C-13C3-4660-A5FE-7BC38C4A7238}"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0:20 + demo 5:00</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Ahora vamos a probar la solución con una pregunta concreta. Primero veremos el sector, luego abriremos el perfil que integra la API Anticorrupción y finalmente pediremos al asistente que sintetice la evidencia. Si la conexión falla, usamos las capturas de respaldo.</a:t>
            </a:r>
            <a:endParaRPr lang="es-CO" sz="2000" b="0" u="none" strike="noStrike">
              <a:solidFill>
                <a:srgbClr val="000000"/>
              </a:solidFill>
              <a:effectLst/>
              <a:uFillTx/>
              <a:latin typeface="Arial"/>
            </a:endParaRPr>
          </a:p>
        </p:txBody>
      </p:sp>
      <p:sp>
        <p:nvSpPr>
          <p:cNvPr id="527"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7E9DC7-DBD8-43F3-B6B2-4BF699C5F27D}"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John</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Anexo</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Usar únicamente si el jurado pregunta cómo se construye el score. Recalcar que cada punto es visible, que el semáforo es una regla operativa y que la anomalía no reemplaza las banderas documentales.</a:t>
            </a:r>
            <a:endParaRPr lang="es-CO" sz="2000" b="0" u="none" strike="noStrike">
              <a:solidFill>
                <a:srgbClr val="000000"/>
              </a:solidFill>
              <a:effectLst/>
              <a:uFillTx/>
              <a:latin typeface="Arial"/>
            </a:endParaRPr>
          </a:p>
        </p:txBody>
      </p:sp>
      <p:sp>
        <p:nvSpPr>
          <p:cNvPr id="530"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81B36F-A516-418C-B871-A55963435BBE}"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Equipo</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Anexo</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Usar si el jurado pregunta por fuentes o fundamento metodológico. Abrir los enlaces únicamente si hay tiempo y conexión estable.</a:t>
            </a:r>
            <a:endParaRPr lang="es-CO" sz="2000" b="0" u="none" strike="noStrike">
              <a:solidFill>
                <a:srgbClr val="000000"/>
              </a:solidFill>
              <a:effectLst/>
              <a:uFillTx/>
              <a:latin typeface="Arial"/>
            </a:endParaRPr>
          </a:p>
        </p:txBody>
      </p:sp>
      <p:sp>
        <p:nvSpPr>
          <p:cNvPr id="533"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E08668-8FBF-4C04-A03A-DB9EE3406406}"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EXPOSITOR: Equipo</a:t>
            </a:r>
            <a:endParaRPr lang="es-CO"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TIEMPO OBJETIVO: Anexo</a:t>
            </a:r>
            <a:endParaRPr lang="es-CO" sz="2000" b="0" u="none" strike="noStrike">
              <a:solidFill>
                <a:srgbClr val="000000"/>
              </a:solidFill>
              <a:effectLst/>
              <a:uFillTx/>
              <a:latin typeface="Arial"/>
            </a:endParaRPr>
          </a:p>
          <a:p>
            <a:pPr indent="0" algn="l">
              <a:buNone/>
            </a:pPr>
            <a:endParaRPr lang="es-CO"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Esperanza responde impacto, cliente y adopción. John responde arquitectura, datos y modelo. Ambos deben iniciar agradeciendo la pregunta y terminar conectando la respuesta con el valor público.</a:t>
            </a:r>
            <a:endParaRPr lang="es-CO" sz="2000" b="0" u="none" strike="noStrike">
              <a:solidFill>
                <a:srgbClr val="000000"/>
              </a:solidFill>
              <a:effectLst/>
              <a:uFillTx/>
              <a:latin typeface="Arial"/>
            </a:endParaRPr>
          </a:p>
        </p:txBody>
      </p:sp>
      <p:sp>
        <p:nvSpPr>
          <p:cNvPr id="536"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9FDFD0-7B77-4F33-9D75-3B85487B967D}" type="slidenum">
              <a:rPr lang="en-US"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s-CO" sz="1800" b="0" u="none" strike="noStrike">
                <a:solidFill>
                  <a:schemeClr val="dk1"/>
                </a:solidFill>
                <a:effectLst/>
                <a:uFillTx/>
                <a:latin typeface="Montserrat"/>
              </a:defRPr>
            </a:lvl1pPr>
          </a:lstStyle>
          <a:p>
            <a:pPr indent="0" algn="l">
              <a:buNone/>
            </a:pPr>
            <a:r>
              <a:rPr lang="es-CO" sz="1800" b="0" u="none" strike="noStrike">
                <a:solidFill>
                  <a:schemeClr val="dk1"/>
                </a:solidFill>
                <a:effectLst/>
                <a:uFillTx/>
                <a:latin typeface="Montserrat"/>
              </a:rPr>
              <a:t>Pulse para editar el formato del texto de título</a:t>
            </a:r>
            <a:endParaRPr lang="es-CO" sz="1800" b="0" u="none" strike="noStrike">
              <a:solidFill>
                <a:schemeClr val="dk1"/>
              </a:solidFill>
              <a:effectLst/>
              <a:uFillTx/>
              <a:latin typeface="Montserrat"/>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CO" sz="3200" b="0" u="none" strike="noStrike">
                <a:solidFill>
                  <a:schemeClr val="dk1"/>
                </a:solidFill>
                <a:effectLst/>
                <a:uFillTx/>
                <a:latin typeface="Montserrat"/>
              </a:defRPr>
            </a:lvl1pPr>
            <a:lvl2pPr lvl="1" algn="l">
              <a:spcBef>
                <a:spcPts val="1134"/>
              </a:spcBef>
              <a:buClr>
                <a:srgbClr val="000000"/>
              </a:buClr>
              <a:buSzPct val="75000"/>
              <a:buFont typeface="Symbol" charset="2"/>
              <a:buChar char=""/>
              <a:defRPr lang="es-CO" sz="2400" b="0" u="none" strike="noStrike">
                <a:solidFill>
                  <a:schemeClr val="dk1"/>
                </a:solidFill>
                <a:effectLst/>
                <a:uFillTx/>
                <a:latin typeface="Montserrat"/>
              </a:defRPr>
            </a:lvl2pPr>
            <a:lvl3pPr lvl="2" algn="l">
              <a:spcBef>
                <a:spcPts val="850"/>
              </a:spcBef>
              <a:buClr>
                <a:srgbClr val="000000"/>
              </a:buClr>
              <a:buSzPct val="45000"/>
              <a:buFont typeface="Wingdings" charset="2"/>
              <a:buChar char=""/>
              <a:defRPr lang="es-CO" sz="2000" b="0" u="none" strike="noStrike">
                <a:solidFill>
                  <a:schemeClr val="dk1"/>
                </a:solidFill>
                <a:effectLst/>
                <a:uFillTx/>
                <a:latin typeface="Montserrat"/>
              </a:defRPr>
            </a:lvl3pPr>
            <a:lvl4pPr lvl="3" algn="l">
              <a:spcBef>
                <a:spcPts val="567"/>
              </a:spcBef>
              <a:buClr>
                <a:srgbClr val="000000"/>
              </a:buClr>
              <a:buSzPct val="75000"/>
              <a:buFont typeface="Symbol" charset="2"/>
              <a:buChar char=""/>
              <a:defRPr lang="es-CO" sz="2000" b="0" u="none" strike="noStrike">
                <a:solidFill>
                  <a:schemeClr val="dk1"/>
                </a:solidFill>
                <a:effectLst/>
                <a:uFillTx/>
                <a:latin typeface="Montserrat"/>
              </a:defRPr>
            </a:lvl4pPr>
            <a:lvl5pPr lvl="4"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5pPr>
            <a:lvl6pPr lvl="5"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6pPr>
            <a:lvl7pPr lvl="6"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7pPr>
          </a:lstStyle>
          <a:p>
            <a:pPr marL="432000" indent="-324000" algn="l">
              <a:spcBef>
                <a:spcPts val="1417"/>
              </a:spcBef>
              <a:buClr>
                <a:srgbClr val="000000"/>
              </a:buClr>
              <a:buSzPct val="45000"/>
              <a:buFont typeface="Wingdings" charset="2"/>
              <a:buChar char=""/>
            </a:pPr>
            <a:r>
              <a:rPr lang="es-CO" sz="3200" b="0" u="none" strike="noStrike">
                <a:solidFill>
                  <a:schemeClr val="dk1"/>
                </a:solidFill>
                <a:effectLst/>
                <a:uFillTx/>
                <a:latin typeface="Montserrat"/>
              </a:rPr>
              <a:t>Pulse para editar el formato de texto del esquema</a:t>
            </a:r>
            <a:endParaRPr lang="es-CO" sz="3200" b="0" u="none" strike="noStrike">
              <a:solidFill>
                <a:schemeClr val="dk1"/>
              </a:solidFill>
              <a:effectLst/>
              <a:uFillTx/>
              <a:latin typeface="Montserrat"/>
            </a:endParaRPr>
          </a:p>
          <a:p>
            <a:pPr marL="864000" lvl="1" indent="-324000" algn="l">
              <a:spcBef>
                <a:spcPts val="1134"/>
              </a:spcBef>
              <a:buClr>
                <a:srgbClr val="000000"/>
              </a:buClr>
              <a:buSzPct val="75000"/>
              <a:buFont typeface="Symbol" charset="2"/>
              <a:buChar char=""/>
            </a:pPr>
            <a:r>
              <a:rPr lang="es-CO" sz="2400" b="0" u="none" strike="noStrike">
                <a:solidFill>
                  <a:schemeClr val="dk1"/>
                </a:solidFill>
                <a:effectLst/>
                <a:uFillTx/>
                <a:latin typeface="Montserrat"/>
              </a:rPr>
              <a:t>Segundo nivel del esquema</a:t>
            </a:r>
            <a:endParaRPr lang="es-CO" sz="2400" b="0" u="none" strike="noStrike">
              <a:solidFill>
                <a:schemeClr val="dk1"/>
              </a:solidFill>
              <a:effectLst/>
              <a:uFillTx/>
              <a:latin typeface="Montserrat"/>
            </a:endParaRPr>
          </a:p>
          <a:p>
            <a:pPr marL="1296000" lvl="2" indent="-288000" algn="l">
              <a:spcBef>
                <a:spcPts val="850"/>
              </a:spcBef>
              <a:buClr>
                <a:srgbClr val="000000"/>
              </a:buClr>
              <a:buSzPct val="45000"/>
              <a:buFont typeface="Wingdings" charset="2"/>
              <a:buChar char=""/>
            </a:pPr>
            <a:r>
              <a:rPr lang="es-CO" sz="2000" b="0" u="none" strike="noStrike">
                <a:solidFill>
                  <a:schemeClr val="dk1"/>
                </a:solidFill>
                <a:effectLst/>
                <a:uFillTx/>
                <a:latin typeface="Montserrat"/>
              </a:rPr>
              <a:t>Tercer nivel del esquema</a:t>
            </a:r>
            <a:endParaRPr lang="es-CO" sz="2000" b="0" u="none" strike="noStrike">
              <a:solidFill>
                <a:schemeClr val="dk1"/>
              </a:solidFill>
              <a:effectLst/>
              <a:uFillTx/>
              <a:latin typeface="Montserrat"/>
            </a:endParaRPr>
          </a:p>
          <a:p>
            <a:pPr marL="1728000" lvl="3" indent="-216000" algn="l">
              <a:spcBef>
                <a:spcPts val="567"/>
              </a:spcBef>
              <a:buClr>
                <a:srgbClr val="000000"/>
              </a:buClr>
              <a:buSzPct val="75000"/>
              <a:buFont typeface="Symbol" charset="2"/>
              <a:buChar char=""/>
            </a:pPr>
            <a:r>
              <a:rPr lang="es-CO" sz="2000" b="0" u="none" strike="noStrike">
                <a:solidFill>
                  <a:schemeClr val="dk1"/>
                </a:solidFill>
                <a:effectLst/>
                <a:uFillTx/>
                <a:latin typeface="Montserrat"/>
              </a:rPr>
              <a:t>Cuarto nivel del esquema</a:t>
            </a:r>
            <a:endParaRPr lang="es-CO" sz="2000" b="0" u="none" strike="noStrike">
              <a:solidFill>
                <a:schemeClr val="dk1"/>
              </a:solidFill>
              <a:effectLst/>
              <a:uFillTx/>
              <a:latin typeface="Montserrat"/>
            </a:endParaRPr>
          </a:p>
          <a:p>
            <a:pPr marL="2160000" lvl="4"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Quinto nivel del esquema</a:t>
            </a:r>
            <a:endParaRPr lang="es-CO" sz="2000" b="0" u="none" strike="noStrike">
              <a:solidFill>
                <a:schemeClr val="dk1"/>
              </a:solidFill>
              <a:effectLst/>
              <a:uFillTx/>
              <a:latin typeface="Montserrat"/>
            </a:endParaRPr>
          </a:p>
          <a:p>
            <a:pPr marL="2592000" lvl="5"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Sexto nivel del esquema</a:t>
            </a:r>
            <a:endParaRPr lang="es-CO" sz="2000" b="0" u="none" strike="noStrike">
              <a:solidFill>
                <a:schemeClr val="dk1"/>
              </a:solidFill>
              <a:effectLst/>
              <a:uFillTx/>
              <a:latin typeface="Montserrat"/>
            </a:endParaRPr>
          </a:p>
          <a:p>
            <a:pPr marL="3024000" lvl="6"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Séptimo nivel del esquema</a:t>
            </a:r>
            <a:endParaRPr lang="es-CO" sz="2000" b="0" u="none" strike="noStrike">
              <a:solidFill>
                <a:schemeClr val="dk1"/>
              </a:solidFill>
              <a:effectLst/>
              <a:uFillTx/>
              <a:latin typeface="Montserrat"/>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9FC"/>
        </a:solidFill>
      </p:bgPr>
    </p:bg>
    <p:spTree>
      <p:nvGrpSpPr>
        <p:cNvPr id="1" name=""/>
        <p:cNvGrpSpPr/>
        <p:nvPr/>
      </p:nvGrpSpPr>
      <p:grpSpPr>
        <a:xfrm>
          <a:off x="0" y="0"/>
          <a:ext cx="0" cy="0"/>
          <a:chOff x="0" y="0"/>
          <a:chExt cx="0" cy="0"/>
        </a:xfrm>
      </p:grpSpPr>
      <p:sp>
        <p:nvSpPr>
          <p:cNvPr id="4" name="Shape 0"/>
          <p:cNvSpPr/>
          <p:nvPr/>
        </p:nvSpPr>
        <p:spPr>
          <a:xfrm>
            <a:off x="0" y="0"/>
            <a:ext cx="12191400" cy="63720"/>
          </a:xfrm>
          <a:prstGeom prst="rect">
            <a:avLst/>
          </a:prstGeom>
          <a:solidFill>
            <a:srgbClr val="FEC82F"/>
          </a:solidFill>
          <a:ln w="12700">
            <a:solidFill>
              <a:srgbClr val="FEC82F"/>
            </a:solidFill>
            <a:round/>
          </a:ln>
        </p:spPr>
        <p:style>
          <a:lnRef idx="0"/>
          <a:fillRef idx="0"/>
          <a:effectRef idx="0"/>
          <a:fontRef idx="minor"/>
        </p:style>
        <p:txBody>
          <a:bodyPr lIns="90000" tIns="19080" rIns="90000" bIns="19080" anchor="t">
            <a:noAutofit/>
          </a:bodyPr>
          <a:p>
            <a:endParaRPr lang="es-CO" sz="1800" b="0" u="none" strike="noStrike">
              <a:solidFill>
                <a:srgbClr val="000000"/>
              </a:solidFill>
              <a:effectLst/>
              <a:uFillTx/>
              <a:latin typeface="Arial"/>
            </a:endParaRPr>
          </a:p>
        </p:txBody>
      </p:sp>
      <p:sp>
        <p:nvSpPr>
          <p:cNvPr id="5" name="Text 1"/>
          <p:cNvSpPr/>
          <p:nvPr/>
        </p:nvSpPr>
        <p:spPr>
          <a:xfrm>
            <a:off x="502920" y="6510600"/>
            <a:ext cx="804636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80" b="1" u="none" spc="119" strike="noStrike">
                <a:solidFill>
                  <a:srgbClr val="718096"/>
                </a:solidFill>
                <a:effectLst/>
                <a:uFillTx/>
                <a:latin typeface="Montserrat"/>
                <a:ea typeface="Montserrat"/>
              </a:rPr>
              <a:t>OBSERVATORIO ANTICORRUPCIÓN · DATOS AL ECOSISTEMA 2026</a:t>
            </a:r>
            <a:endParaRPr lang="es-CO" sz="580" b="0" u="none" strike="noStrike">
              <a:solidFill>
                <a:srgbClr val="000000"/>
              </a:solidFill>
              <a:effectLst/>
              <a:uFillTx/>
              <a:latin typeface="Arial"/>
            </a:endParaRPr>
          </a:p>
        </p:txBody>
      </p:sp>
      <p:sp>
        <p:nvSpPr>
          <p:cNvPr id="6" name="Text 2"/>
          <p:cNvSpPr/>
          <p:nvPr/>
        </p:nvSpPr>
        <p:spPr>
          <a:xfrm>
            <a:off x="8321040" y="6510600"/>
            <a:ext cx="336456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1" u="none" strike="noStrike">
                <a:solidFill>
                  <a:srgbClr val="9A3412"/>
                </a:solidFill>
                <a:effectLst/>
                <a:uFillTx/>
                <a:latin typeface="Montserrat"/>
                <a:ea typeface="Montserrat"/>
              </a:rPr>
              <a:t>RIESGO INDICATIVO · NO CONSTITUYE PRUEBA DE CORRUPCIÓN</a:t>
            </a:r>
            <a:endParaRPr lang="es-CO" sz="550" b="0" u="none" strike="noStrike">
              <a:solidFill>
                <a:srgbClr val="000000"/>
              </a:solidFill>
              <a:effectLst/>
              <a:uFillTx/>
              <a:latin typeface="Arial"/>
            </a:endParaRPr>
          </a:p>
        </p:txBody>
      </p:sp>
      <p:sp>
        <p:nvSpPr>
          <p:cNvPr id="7" name="PlaceHolder 1"/>
          <p:cNvSpPr>
            <a:spLocks noGrp="1"/>
          </p:cNvSpPr>
          <p:nvPr>
            <p:ph type="sldNum" idx="1"/>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E8532289-D4B5-4667-AE3A-449BC406CE40}"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
        <p:nvSpPr>
          <p:cNvPr id="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s-CO" sz="1800" b="0" u="none" strike="noStrike">
                <a:solidFill>
                  <a:schemeClr val="dk1"/>
                </a:solidFill>
                <a:effectLst/>
                <a:uFillTx/>
                <a:latin typeface="Montserrat"/>
              </a:defRPr>
            </a:lvl1pPr>
          </a:lstStyle>
          <a:p>
            <a:pPr indent="0" algn="l">
              <a:buNone/>
            </a:pPr>
            <a:r>
              <a:rPr lang="es-CO" sz="1800" b="0" u="none" strike="noStrike">
                <a:solidFill>
                  <a:schemeClr val="dk1"/>
                </a:solidFill>
                <a:effectLst/>
                <a:uFillTx/>
                <a:latin typeface="Montserrat"/>
              </a:rPr>
              <a:t>Pulse para editar el formato del texto de título</a:t>
            </a:r>
            <a:endParaRPr lang="es-CO" sz="1800" b="0" u="none" strike="noStrike">
              <a:solidFill>
                <a:schemeClr val="dk1"/>
              </a:solidFill>
              <a:effectLst/>
              <a:uFillTx/>
              <a:latin typeface="Montserrat"/>
            </a:endParaRPr>
          </a:p>
        </p:txBody>
      </p:sp>
      <p:sp>
        <p:nvSpPr>
          <p:cNvPr id="9"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CO" sz="3200" b="0" u="none" strike="noStrike">
                <a:solidFill>
                  <a:schemeClr val="dk1"/>
                </a:solidFill>
                <a:effectLst/>
                <a:uFillTx/>
                <a:latin typeface="Montserrat"/>
              </a:defRPr>
            </a:lvl1pPr>
            <a:lvl2pPr lvl="1" algn="l">
              <a:spcBef>
                <a:spcPts val="1134"/>
              </a:spcBef>
              <a:buClr>
                <a:srgbClr val="000000"/>
              </a:buClr>
              <a:buSzPct val="75000"/>
              <a:buFont typeface="Symbol" charset="2"/>
              <a:buChar char=""/>
              <a:defRPr lang="es-CO" sz="2400" b="0" u="none" strike="noStrike">
                <a:solidFill>
                  <a:schemeClr val="dk1"/>
                </a:solidFill>
                <a:effectLst/>
                <a:uFillTx/>
                <a:latin typeface="Montserrat"/>
              </a:defRPr>
            </a:lvl2pPr>
            <a:lvl3pPr lvl="2" algn="l">
              <a:spcBef>
                <a:spcPts val="850"/>
              </a:spcBef>
              <a:buClr>
                <a:srgbClr val="000000"/>
              </a:buClr>
              <a:buSzPct val="45000"/>
              <a:buFont typeface="Wingdings" charset="2"/>
              <a:buChar char=""/>
              <a:defRPr lang="es-CO" sz="2000" b="0" u="none" strike="noStrike">
                <a:solidFill>
                  <a:schemeClr val="dk1"/>
                </a:solidFill>
                <a:effectLst/>
                <a:uFillTx/>
                <a:latin typeface="Montserrat"/>
              </a:defRPr>
            </a:lvl3pPr>
            <a:lvl4pPr lvl="3" algn="l">
              <a:spcBef>
                <a:spcPts val="567"/>
              </a:spcBef>
              <a:buClr>
                <a:srgbClr val="000000"/>
              </a:buClr>
              <a:buSzPct val="75000"/>
              <a:buFont typeface="Symbol" charset="2"/>
              <a:buChar char=""/>
              <a:defRPr lang="es-CO" sz="2000" b="0" u="none" strike="noStrike">
                <a:solidFill>
                  <a:schemeClr val="dk1"/>
                </a:solidFill>
                <a:effectLst/>
                <a:uFillTx/>
                <a:latin typeface="Montserrat"/>
              </a:defRPr>
            </a:lvl4pPr>
            <a:lvl5pPr lvl="4"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5pPr>
            <a:lvl6pPr lvl="5"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6pPr>
            <a:lvl7pPr lvl="6"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7pPr>
          </a:lstStyle>
          <a:p>
            <a:pPr marL="432000" indent="-324000" algn="l">
              <a:spcBef>
                <a:spcPts val="1417"/>
              </a:spcBef>
              <a:buClr>
                <a:srgbClr val="000000"/>
              </a:buClr>
              <a:buSzPct val="45000"/>
              <a:buFont typeface="Wingdings" charset="2"/>
              <a:buChar char=""/>
            </a:pPr>
            <a:r>
              <a:rPr lang="es-CO" sz="3200" b="0" u="none" strike="noStrike">
                <a:solidFill>
                  <a:schemeClr val="dk1"/>
                </a:solidFill>
                <a:effectLst/>
                <a:uFillTx/>
                <a:latin typeface="Montserrat"/>
              </a:rPr>
              <a:t>Pulse para editar el formato de texto del esquema</a:t>
            </a:r>
            <a:endParaRPr lang="es-CO" sz="3200" b="0" u="none" strike="noStrike">
              <a:solidFill>
                <a:schemeClr val="dk1"/>
              </a:solidFill>
              <a:effectLst/>
              <a:uFillTx/>
              <a:latin typeface="Montserrat"/>
            </a:endParaRPr>
          </a:p>
          <a:p>
            <a:pPr marL="864000" lvl="1" indent="-324000" algn="l">
              <a:spcBef>
                <a:spcPts val="1134"/>
              </a:spcBef>
              <a:buClr>
                <a:srgbClr val="000000"/>
              </a:buClr>
              <a:buSzPct val="75000"/>
              <a:buFont typeface="Symbol" charset="2"/>
              <a:buChar char=""/>
            </a:pPr>
            <a:r>
              <a:rPr lang="es-CO" sz="2400" b="0" u="none" strike="noStrike">
                <a:solidFill>
                  <a:schemeClr val="dk1"/>
                </a:solidFill>
                <a:effectLst/>
                <a:uFillTx/>
                <a:latin typeface="Montserrat"/>
              </a:rPr>
              <a:t>Segundo nivel del esquema</a:t>
            </a:r>
            <a:endParaRPr lang="es-CO" sz="2400" b="0" u="none" strike="noStrike">
              <a:solidFill>
                <a:schemeClr val="dk1"/>
              </a:solidFill>
              <a:effectLst/>
              <a:uFillTx/>
              <a:latin typeface="Montserrat"/>
            </a:endParaRPr>
          </a:p>
          <a:p>
            <a:pPr marL="1296000" lvl="2" indent="-288000" algn="l">
              <a:spcBef>
                <a:spcPts val="850"/>
              </a:spcBef>
              <a:buClr>
                <a:srgbClr val="000000"/>
              </a:buClr>
              <a:buSzPct val="45000"/>
              <a:buFont typeface="Wingdings" charset="2"/>
              <a:buChar char=""/>
            </a:pPr>
            <a:r>
              <a:rPr lang="es-CO" sz="2000" b="0" u="none" strike="noStrike">
                <a:solidFill>
                  <a:schemeClr val="dk1"/>
                </a:solidFill>
                <a:effectLst/>
                <a:uFillTx/>
                <a:latin typeface="Montserrat"/>
              </a:rPr>
              <a:t>Tercer nivel del esquema</a:t>
            </a:r>
            <a:endParaRPr lang="es-CO" sz="2000" b="0" u="none" strike="noStrike">
              <a:solidFill>
                <a:schemeClr val="dk1"/>
              </a:solidFill>
              <a:effectLst/>
              <a:uFillTx/>
              <a:latin typeface="Montserrat"/>
            </a:endParaRPr>
          </a:p>
          <a:p>
            <a:pPr marL="1728000" lvl="3" indent="-216000" algn="l">
              <a:spcBef>
                <a:spcPts val="567"/>
              </a:spcBef>
              <a:buClr>
                <a:srgbClr val="000000"/>
              </a:buClr>
              <a:buSzPct val="75000"/>
              <a:buFont typeface="Symbol" charset="2"/>
              <a:buChar char=""/>
            </a:pPr>
            <a:r>
              <a:rPr lang="es-CO" sz="2000" b="0" u="none" strike="noStrike">
                <a:solidFill>
                  <a:schemeClr val="dk1"/>
                </a:solidFill>
                <a:effectLst/>
                <a:uFillTx/>
                <a:latin typeface="Montserrat"/>
              </a:rPr>
              <a:t>Cuarto nivel del esquema</a:t>
            </a:r>
            <a:endParaRPr lang="es-CO" sz="2000" b="0" u="none" strike="noStrike">
              <a:solidFill>
                <a:schemeClr val="dk1"/>
              </a:solidFill>
              <a:effectLst/>
              <a:uFillTx/>
              <a:latin typeface="Montserrat"/>
            </a:endParaRPr>
          </a:p>
          <a:p>
            <a:pPr marL="2160000" lvl="4"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Quinto nivel del esquema</a:t>
            </a:r>
            <a:endParaRPr lang="es-CO" sz="2000" b="0" u="none" strike="noStrike">
              <a:solidFill>
                <a:schemeClr val="dk1"/>
              </a:solidFill>
              <a:effectLst/>
              <a:uFillTx/>
              <a:latin typeface="Montserrat"/>
            </a:endParaRPr>
          </a:p>
          <a:p>
            <a:pPr marL="2592000" lvl="5"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Sexto nivel del esquema</a:t>
            </a:r>
            <a:endParaRPr lang="es-CO" sz="2000" b="0" u="none" strike="noStrike">
              <a:solidFill>
                <a:schemeClr val="dk1"/>
              </a:solidFill>
              <a:effectLst/>
              <a:uFillTx/>
              <a:latin typeface="Montserrat"/>
            </a:endParaRPr>
          </a:p>
          <a:p>
            <a:pPr marL="3024000" lvl="6"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Séptimo nivel del esquema</a:t>
            </a:r>
            <a:endParaRPr lang="es-CO" sz="2000" b="0" u="none" strike="noStrike">
              <a:solidFill>
                <a:schemeClr val="dk1"/>
              </a:solidFill>
              <a:effectLst/>
              <a:uFillTx/>
              <a:latin typeface="Montserrat"/>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MASTER">
    <p:bg>
      <p:bgPr>
        <a:solidFill>
          <a:srgbClr val="F7F9FC"/>
        </a:solidFill>
      </p:bgPr>
    </p:bg>
    <p:spTree>
      <p:nvGrpSpPr>
        <p:cNvPr id="1" name=""/>
        <p:cNvGrpSpPr/>
        <p:nvPr/>
      </p:nvGrpSpPr>
      <p:grpSpPr>
        <a:xfrm>
          <a:off x="0" y="0"/>
          <a:ext cx="0" cy="0"/>
          <a:chOff x="0" y="0"/>
          <a:chExt cx="0" cy="0"/>
        </a:xfrm>
      </p:grpSpPr>
      <p:sp>
        <p:nvSpPr>
          <p:cNvPr id="10" name="Shape 0"/>
          <p:cNvSpPr/>
          <p:nvPr/>
        </p:nvSpPr>
        <p:spPr>
          <a:xfrm>
            <a:off x="0" y="0"/>
            <a:ext cx="12191400" cy="63720"/>
          </a:xfrm>
          <a:prstGeom prst="rect">
            <a:avLst/>
          </a:prstGeom>
          <a:solidFill>
            <a:srgbClr val="FEC82F"/>
          </a:solidFill>
          <a:ln w="12700">
            <a:solidFill>
              <a:srgbClr val="FEC82F"/>
            </a:solidFill>
            <a:round/>
          </a:ln>
        </p:spPr>
        <p:style>
          <a:lnRef idx="0"/>
          <a:fillRef idx="0"/>
          <a:effectRef idx="0"/>
          <a:fontRef idx="minor"/>
        </p:style>
        <p:txBody>
          <a:bodyPr lIns="90000" tIns="19080" rIns="90000" bIns="19080" anchor="t">
            <a:noAutofit/>
          </a:bodyPr>
          <a:p>
            <a:endParaRPr lang="es-CO" sz="1800" b="0" u="none" strike="noStrike">
              <a:solidFill>
                <a:srgbClr val="000000"/>
              </a:solidFill>
              <a:effectLst/>
              <a:uFillTx/>
              <a:latin typeface="Arial"/>
            </a:endParaRPr>
          </a:p>
        </p:txBody>
      </p:sp>
      <p:sp>
        <p:nvSpPr>
          <p:cNvPr id="11" name="Text 1"/>
          <p:cNvSpPr/>
          <p:nvPr/>
        </p:nvSpPr>
        <p:spPr>
          <a:xfrm>
            <a:off x="502920" y="6510600"/>
            <a:ext cx="804636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80" b="1" u="none" spc="119" strike="noStrike">
                <a:solidFill>
                  <a:srgbClr val="718096"/>
                </a:solidFill>
                <a:effectLst/>
                <a:uFillTx/>
                <a:latin typeface="Montserrat"/>
                <a:ea typeface="Montserrat"/>
              </a:rPr>
              <a:t>OBSERVATORIO ANTICORRUPCIÓN · DATOS AL ECOSISTEMA 2026</a:t>
            </a:r>
            <a:endParaRPr lang="es-CO" sz="580" b="0" u="none" strike="noStrike">
              <a:solidFill>
                <a:srgbClr val="000000"/>
              </a:solidFill>
              <a:effectLst/>
              <a:uFillTx/>
              <a:latin typeface="Arial"/>
            </a:endParaRPr>
          </a:p>
        </p:txBody>
      </p:sp>
      <p:sp>
        <p:nvSpPr>
          <p:cNvPr id="12" name="Text 2"/>
          <p:cNvSpPr/>
          <p:nvPr/>
        </p:nvSpPr>
        <p:spPr>
          <a:xfrm>
            <a:off x="8321040" y="6510600"/>
            <a:ext cx="336456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1" u="none" strike="noStrike">
                <a:solidFill>
                  <a:srgbClr val="9A3412"/>
                </a:solidFill>
                <a:effectLst/>
                <a:uFillTx/>
                <a:latin typeface="Montserrat"/>
                <a:ea typeface="Montserrat"/>
              </a:rPr>
              <a:t>RIESGO INDICATIVO · NO CONSTITUYE PRUEBA DE CORRUPCIÓN</a:t>
            </a:r>
            <a:endParaRPr lang="es-CO" sz="550" b="0" u="none" strike="noStrike">
              <a:solidFill>
                <a:srgbClr val="000000"/>
              </a:solidFill>
              <a:effectLst/>
              <a:uFillTx/>
              <a:latin typeface="Arial"/>
            </a:endParaRPr>
          </a:p>
        </p:txBody>
      </p:sp>
      <p:sp>
        <p:nvSpPr>
          <p:cNvPr id="13" name="PlaceHolder 1"/>
          <p:cNvSpPr>
            <a:spLocks noGrp="1"/>
          </p:cNvSpPr>
          <p:nvPr>
            <p:ph type="sldNum" idx="2"/>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95B8D348-C649-4E36-822F-1BC8D53403D1}"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
        <p:nvSpPr>
          <p:cNvPr id="1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s-CO" sz="1800" b="0" u="none" strike="noStrike">
                <a:solidFill>
                  <a:schemeClr val="dk1"/>
                </a:solidFill>
                <a:effectLst/>
                <a:uFillTx/>
                <a:latin typeface="Montserrat"/>
              </a:defRPr>
            </a:lvl1pPr>
          </a:lstStyle>
          <a:p>
            <a:pPr indent="0" algn="l">
              <a:buNone/>
            </a:pPr>
            <a:r>
              <a:rPr lang="es-CO" sz="1800" b="0" u="none" strike="noStrike">
                <a:solidFill>
                  <a:schemeClr val="dk1"/>
                </a:solidFill>
                <a:effectLst/>
                <a:uFillTx/>
                <a:latin typeface="Montserrat"/>
              </a:rPr>
              <a:t>Pulse para editar el formato del texto de título</a:t>
            </a:r>
            <a:endParaRPr lang="es-CO" sz="1800" b="0" u="none" strike="noStrike">
              <a:solidFill>
                <a:schemeClr val="dk1"/>
              </a:solidFill>
              <a:effectLst/>
              <a:uFillTx/>
              <a:latin typeface="Montserrat"/>
            </a:endParaRPr>
          </a:p>
        </p:txBody>
      </p:sp>
      <p:sp>
        <p:nvSpPr>
          <p:cNvPr id="1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CO" sz="3200" b="0" u="none" strike="noStrike">
                <a:solidFill>
                  <a:schemeClr val="dk1"/>
                </a:solidFill>
                <a:effectLst/>
                <a:uFillTx/>
                <a:latin typeface="Montserrat"/>
              </a:defRPr>
            </a:lvl1pPr>
            <a:lvl2pPr lvl="1" algn="l">
              <a:spcBef>
                <a:spcPts val="1134"/>
              </a:spcBef>
              <a:buClr>
                <a:srgbClr val="000000"/>
              </a:buClr>
              <a:buSzPct val="75000"/>
              <a:buFont typeface="Symbol" charset="2"/>
              <a:buChar char=""/>
              <a:defRPr lang="es-CO" sz="2400" b="0" u="none" strike="noStrike">
                <a:solidFill>
                  <a:schemeClr val="dk1"/>
                </a:solidFill>
                <a:effectLst/>
                <a:uFillTx/>
                <a:latin typeface="Montserrat"/>
              </a:defRPr>
            </a:lvl2pPr>
            <a:lvl3pPr lvl="2" algn="l">
              <a:spcBef>
                <a:spcPts val="850"/>
              </a:spcBef>
              <a:buClr>
                <a:srgbClr val="000000"/>
              </a:buClr>
              <a:buSzPct val="45000"/>
              <a:buFont typeface="Wingdings" charset="2"/>
              <a:buChar char=""/>
              <a:defRPr lang="es-CO" sz="2000" b="0" u="none" strike="noStrike">
                <a:solidFill>
                  <a:schemeClr val="dk1"/>
                </a:solidFill>
                <a:effectLst/>
                <a:uFillTx/>
                <a:latin typeface="Montserrat"/>
              </a:defRPr>
            </a:lvl3pPr>
            <a:lvl4pPr lvl="3" algn="l">
              <a:spcBef>
                <a:spcPts val="567"/>
              </a:spcBef>
              <a:buClr>
                <a:srgbClr val="000000"/>
              </a:buClr>
              <a:buSzPct val="75000"/>
              <a:buFont typeface="Symbol" charset="2"/>
              <a:buChar char=""/>
              <a:defRPr lang="es-CO" sz="2000" b="0" u="none" strike="noStrike">
                <a:solidFill>
                  <a:schemeClr val="dk1"/>
                </a:solidFill>
                <a:effectLst/>
                <a:uFillTx/>
                <a:latin typeface="Montserrat"/>
              </a:defRPr>
            </a:lvl4pPr>
            <a:lvl5pPr lvl="4"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5pPr>
            <a:lvl6pPr lvl="5"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6pPr>
            <a:lvl7pPr lvl="6" algn="l">
              <a:spcBef>
                <a:spcPts val="283"/>
              </a:spcBef>
              <a:buClr>
                <a:srgbClr val="000000"/>
              </a:buClr>
              <a:buSzPct val="45000"/>
              <a:buFont typeface="Wingdings" charset="2"/>
              <a:buChar char=""/>
              <a:defRPr lang="es-CO" sz="2000" b="0" u="none" strike="noStrike">
                <a:solidFill>
                  <a:schemeClr val="dk1"/>
                </a:solidFill>
                <a:effectLst/>
                <a:uFillTx/>
                <a:latin typeface="Montserrat"/>
              </a:defRPr>
            </a:lvl7pPr>
          </a:lstStyle>
          <a:p>
            <a:pPr marL="432000" indent="-324000" algn="l">
              <a:spcBef>
                <a:spcPts val="1417"/>
              </a:spcBef>
              <a:buClr>
                <a:srgbClr val="000000"/>
              </a:buClr>
              <a:buSzPct val="45000"/>
              <a:buFont typeface="Wingdings" charset="2"/>
              <a:buChar char=""/>
            </a:pPr>
            <a:r>
              <a:rPr lang="es-CO" sz="3200" b="0" u="none" strike="noStrike">
                <a:solidFill>
                  <a:schemeClr val="dk1"/>
                </a:solidFill>
                <a:effectLst/>
                <a:uFillTx/>
                <a:latin typeface="Montserrat"/>
              </a:rPr>
              <a:t>Pulse para editar el formato de texto del esquema</a:t>
            </a:r>
            <a:endParaRPr lang="es-CO" sz="3200" b="0" u="none" strike="noStrike">
              <a:solidFill>
                <a:schemeClr val="dk1"/>
              </a:solidFill>
              <a:effectLst/>
              <a:uFillTx/>
              <a:latin typeface="Montserrat"/>
            </a:endParaRPr>
          </a:p>
          <a:p>
            <a:pPr marL="864000" lvl="1" indent="-324000" algn="l">
              <a:spcBef>
                <a:spcPts val="1134"/>
              </a:spcBef>
              <a:buClr>
                <a:srgbClr val="000000"/>
              </a:buClr>
              <a:buSzPct val="75000"/>
              <a:buFont typeface="Symbol" charset="2"/>
              <a:buChar char=""/>
            </a:pPr>
            <a:r>
              <a:rPr lang="es-CO" sz="2400" b="0" u="none" strike="noStrike">
                <a:solidFill>
                  <a:schemeClr val="dk1"/>
                </a:solidFill>
                <a:effectLst/>
                <a:uFillTx/>
                <a:latin typeface="Montserrat"/>
              </a:rPr>
              <a:t>Segundo nivel del esquema</a:t>
            </a:r>
            <a:endParaRPr lang="es-CO" sz="2400" b="0" u="none" strike="noStrike">
              <a:solidFill>
                <a:schemeClr val="dk1"/>
              </a:solidFill>
              <a:effectLst/>
              <a:uFillTx/>
              <a:latin typeface="Montserrat"/>
            </a:endParaRPr>
          </a:p>
          <a:p>
            <a:pPr marL="1296000" lvl="2" indent="-288000" algn="l">
              <a:spcBef>
                <a:spcPts val="850"/>
              </a:spcBef>
              <a:buClr>
                <a:srgbClr val="000000"/>
              </a:buClr>
              <a:buSzPct val="45000"/>
              <a:buFont typeface="Wingdings" charset="2"/>
              <a:buChar char=""/>
            </a:pPr>
            <a:r>
              <a:rPr lang="es-CO" sz="2000" b="0" u="none" strike="noStrike">
                <a:solidFill>
                  <a:schemeClr val="dk1"/>
                </a:solidFill>
                <a:effectLst/>
                <a:uFillTx/>
                <a:latin typeface="Montserrat"/>
              </a:rPr>
              <a:t>Tercer nivel del esquema</a:t>
            </a:r>
            <a:endParaRPr lang="es-CO" sz="2000" b="0" u="none" strike="noStrike">
              <a:solidFill>
                <a:schemeClr val="dk1"/>
              </a:solidFill>
              <a:effectLst/>
              <a:uFillTx/>
              <a:latin typeface="Montserrat"/>
            </a:endParaRPr>
          </a:p>
          <a:p>
            <a:pPr marL="1728000" lvl="3" indent="-216000" algn="l">
              <a:spcBef>
                <a:spcPts val="567"/>
              </a:spcBef>
              <a:buClr>
                <a:srgbClr val="000000"/>
              </a:buClr>
              <a:buSzPct val="75000"/>
              <a:buFont typeface="Symbol" charset="2"/>
              <a:buChar char=""/>
            </a:pPr>
            <a:r>
              <a:rPr lang="es-CO" sz="2000" b="0" u="none" strike="noStrike">
                <a:solidFill>
                  <a:schemeClr val="dk1"/>
                </a:solidFill>
                <a:effectLst/>
                <a:uFillTx/>
                <a:latin typeface="Montserrat"/>
              </a:rPr>
              <a:t>Cuarto nivel del esquema</a:t>
            </a:r>
            <a:endParaRPr lang="es-CO" sz="2000" b="0" u="none" strike="noStrike">
              <a:solidFill>
                <a:schemeClr val="dk1"/>
              </a:solidFill>
              <a:effectLst/>
              <a:uFillTx/>
              <a:latin typeface="Montserrat"/>
            </a:endParaRPr>
          </a:p>
          <a:p>
            <a:pPr marL="2160000" lvl="4"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Quinto nivel del esquema</a:t>
            </a:r>
            <a:endParaRPr lang="es-CO" sz="2000" b="0" u="none" strike="noStrike">
              <a:solidFill>
                <a:schemeClr val="dk1"/>
              </a:solidFill>
              <a:effectLst/>
              <a:uFillTx/>
              <a:latin typeface="Montserrat"/>
            </a:endParaRPr>
          </a:p>
          <a:p>
            <a:pPr marL="2592000" lvl="5"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Sexto nivel del esquema</a:t>
            </a:r>
            <a:endParaRPr lang="es-CO" sz="2000" b="0" u="none" strike="noStrike">
              <a:solidFill>
                <a:schemeClr val="dk1"/>
              </a:solidFill>
              <a:effectLst/>
              <a:uFillTx/>
              <a:latin typeface="Montserrat"/>
            </a:endParaRPr>
          </a:p>
          <a:p>
            <a:pPr marL="3024000" lvl="6" indent="-216000" algn="l">
              <a:spcBef>
                <a:spcPts val="283"/>
              </a:spcBef>
              <a:buClr>
                <a:srgbClr val="000000"/>
              </a:buClr>
              <a:buSzPct val="45000"/>
              <a:buFont typeface="Wingdings" charset="2"/>
              <a:buChar char=""/>
            </a:pPr>
            <a:r>
              <a:rPr lang="es-CO" sz="2000" b="0" u="none" strike="noStrike">
                <a:solidFill>
                  <a:schemeClr val="dk1"/>
                </a:solidFill>
                <a:effectLst/>
                <a:uFillTx/>
                <a:latin typeface="Montserrat"/>
              </a:rPr>
              <a:t>Séptimo nivel del esquema</a:t>
            </a:r>
            <a:endParaRPr lang="es-CO" sz="2000" b="0" u="none" strike="noStrike">
              <a:solidFill>
                <a:schemeClr val="dk1"/>
              </a:solidFill>
              <a:effectLst/>
              <a:uFillTx/>
              <a:latin typeface="Montserrat"/>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hyperlink" Target="https://observatorio-col.srv991465.hstgr.cloud" TargetMode="External"/><Relationship Id="rId5" Type="http://schemas.openxmlformats.org/officeDocument/2006/relationships/hyperlink" Target="https://observatorio-col.srv991465.hstgr.cloud" TargetMode="External"/><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s://www.datos.gov.co/Gastos-Gubernamentales/SECOP-II-Contratos-Electr-nicos/jbjy-vk9h" TargetMode="External"/><Relationship Id="rId2" Type="http://schemas.openxmlformats.org/officeDocument/2006/relationships/hyperlink" Target="https://www.datos.gov.co/Gastos-Gubernamentales/SECOP-II-Contratos-Electr-nicos/jbjy-vk9h" TargetMode="External"/><Relationship Id="rId3" Type="http://schemas.openxmlformats.org/officeDocument/2006/relationships/slideLayout" Target="../slideLayouts/slideLayout2.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hyperlink" Target="https://observatorio-col.srv991465.hstgr.cloud" TargetMode="External"/><Relationship Id="rId5" Type="http://schemas.openxmlformats.org/officeDocument/2006/relationships/hyperlink" Target="https://observatorio-col.srv991465.hstgr.cloud" TargetMode="External"/><Relationship Id="rId6" Type="http://schemas.openxmlformats.org/officeDocument/2006/relationships/slideLayout" Target="../slideLayouts/slideLayout1.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hyperlink" Target="https://www.datos.gov.co/Gastos-Gubernamentales/SECOP-II-Contratos-Electr-nicos/jbjy-vk9h" TargetMode="External"/><Relationship Id="rId2" Type="http://schemas.openxmlformats.org/officeDocument/2006/relationships/hyperlink" Target="https://www.datos.gov.co/Gastos-Gubernamentales/SECOP-II-Contratos-Electr-nicos/jbjy-vk9h" TargetMode="External"/><Relationship Id="rId3" Type="http://schemas.openxmlformats.org/officeDocument/2006/relationships/hyperlink" Target="https://hdl.handle.net/11445/3872" TargetMode="External"/><Relationship Id="rId4" Type="http://schemas.openxmlformats.org/officeDocument/2006/relationships/hyperlink" Target="https://hdl.handle.net/11445/3872" TargetMode="External"/><Relationship Id="rId5" Type="http://schemas.openxmlformats.org/officeDocument/2006/relationships/hyperlink" Target="https://cs.nju.edu.cn/zhouzh/zhouzh.files/publication/icdm08b.pdf" TargetMode="External"/><Relationship Id="rId6" Type="http://schemas.openxmlformats.org/officeDocument/2006/relationships/hyperlink" Target="https://cs.nju.edu.cn/zhouzh/zhouzh.files/publication/icdm08b.pdf" TargetMode="External"/><Relationship Id="rId7" Type="http://schemas.openxmlformats.org/officeDocument/2006/relationships/slideLayout" Target="../slideLayouts/slideLayout2.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D58"/>
        </a:solidFill>
      </p:bgPr>
    </p:bg>
    <p:spTree>
      <p:nvGrpSpPr>
        <p:cNvPr id="1" name=""/>
        <p:cNvGrpSpPr/>
        <p:nvPr/>
      </p:nvGrpSpPr>
      <p:grpSpPr>
        <a:xfrm>
          <a:off x="0" y="0"/>
          <a:ext cx="0" cy="0"/>
          <a:chOff x="0" y="0"/>
          <a:chExt cx="0" cy="0"/>
        </a:xfrm>
      </p:grpSpPr>
      <p:sp>
        <p:nvSpPr>
          <p:cNvPr id="22" name="Shape 0"/>
          <p:cNvSpPr/>
          <p:nvPr/>
        </p:nvSpPr>
        <p:spPr>
          <a:xfrm>
            <a:off x="0" y="0"/>
            <a:ext cx="109440" cy="685764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pic>
        <p:nvPicPr>
          <p:cNvPr id="23" name="Image 0" descr="/home/johnpaez/Documentos/Apps/observatorio/frontend/public/favicon.svg"/>
          <p:cNvPicPr/>
          <p:nvPr/>
        </p:nvPicPr>
        <p:blipFill>
          <a:blip r:embed="rId1">
            <a:extLst>
              <a:ext uri="{96DAC541-7B7A-43D3-8B79-37D633B846F1}">
                <asvg:svgBlip xmlns:asvg="http://schemas.microsoft.com/office/drawing/2016/SVG/main" r:embed="rId2"/>
              </a:ext>
            </a:extLst>
          </a:blip>
          <a:stretch/>
        </p:blipFill>
        <p:spPr>
          <a:xfrm>
            <a:off x="594360" y="567000"/>
            <a:ext cx="566640" cy="566640"/>
          </a:xfrm>
          <a:prstGeom prst="rect">
            <a:avLst/>
          </a:prstGeom>
          <a:noFill/>
          <a:ln w="0">
            <a:noFill/>
          </a:ln>
        </p:spPr>
      </p:pic>
      <p:sp>
        <p:nvSpPr>
          <p:cNvPr id="24" name="Text 1"/>
          <p:cNvSpPr/>
          <p:nvPr/>
        </p:nvSpPr>
        <p:spPr>
          <a:xfrm>
            <a:off x="1353240" y="676800"/>
            <a:ext cx="48459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81" strike="noStrike">
                <a:solidFill>
                  <a:srgbClr val="FEC82F"/>
                </a:solidFill>
                <a:effectLst/>
                <a:uFillTx/>
                <a:latin typeface="Montserrat"/>
              </a:rPr>
              <a:t>DATOS AL ECOSISTEMA 2026 · RETO 7</a:t>
            </a:r>
            <a:endParaRPr lang="es-CO" sz="800" b="0" u="none" strike="noStrike">
              <a:solidFill>
                <a:srgbClr val="FFFFFF"/>
              </a:solidFill>
              <a:effectLst/>
              <a:uFillTx/>
              <a:latin typeface="Arial"/>
            </a:endParaRPr>
          </a:p>
        </p:txBody>
      </p:sp>
      <p:sp>
        <p:nvSpPr>
          <p:cNvPr id="25" name="Text 2"/>
          <p:cNvSpPr/>
          <p:nvPr/>
        </p:nvSpPr>
        <p:spPr>
          <a:xfrm>
            <a:off x="621720" y="1298520"/>
            <a:ext cx="6080400" cy="239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Montserrat"/>
              </a:rPr>
              <a:t>Observatorio</a:t>
            </a:r>
            <a:endParaRPr lang="es-CO" sz="3400" b="0" u="none" strike="noStrike">
              <a:solidFill>
                <a:srgbClr val="FFFFFF"/>
              </a:solidFill>
              <a:effectLst/>
              <a:uFillTx/>
              <a:latin typeface="Arial"/>
            </a:endParaRPr>
          </a:p>
          <a:p>
            <a:pPr defTabSz="914400">
              <a:lnSpc>
                <a:spcPct val="100000"/>
              </a:lnSpc>
              <a:tabLst>
                <a:tab pos="0" algn="l"/>
              </a:tabLst>
            </a:pPr>
            <a:r>
              <a:rPr lang="en-US" sz="3400" b="1" u="none" strike="noStrike">
                <a:solidFill>
                  <a:srgbClr val="FFFFFF"/>
                </a:solidFill>
                <a:effectLst/>
                <a:uFillTx/>
                <a:latin typeface="Montserrat"/>
              </a:rPr>
              <a:t>Anticorrupción</a:t>
            </a:r>
            <a:endParaRPr lang="es-CO" sz="3400" b="0" u="none" strike="noStrike">
              <a:solidFill>
                <a:srgbClr val="FFFFFF"/>
              </a:solidFill>
              <a:effectLst/>
              <a:uFillTx/>
              <a:latin typeface="Arial"/>
            </a:endParaRPr>
          </a:p>
          <a:p>
            <a:pPr defTabSz="914400">
              <a:lnSpc>
                <a:spcPct val="100000"/>
              </a:lnSpc>
              <a:tabLst>
                <a:tab pos="0" algn="l"/>
              </a:tabLst>
            </a:pPr>
            <a:r>
              <a:rPr lang="en-US" sz="3400" b="1" u="none" strike="noStrike">
                <a:solidFill>
                  <a:srgbClr val="FFFFFF"/>
                </a:solidFill>
                <a:effectLst/>
                <a:uFillTx/>
                <a:latin typeface="Montserrat"/>
              </a:rPr>
              <a:t>de Colombia</a:t>
            </a:r>
            <a:endParaRPr lang="es-CO" sz="3400" b="0" u="none" strike="noStrike">
              <a:solidFill>
                <a:srgbClr val="FFFFFF"/>
              </a:solidFill>
              <a:effectLst/>
              <a:uFillTx/>
              <a:latin typeface="Arial"/>
            </a:endParaRPr>
          </a:p>
        </p:txBody>
      </p:sp>
      <p:sp>
        <p:nvSpPr>
          <p:cNvPr id="26" name="Text 3"/>
          <p:cNvSpPr/>
          <p:nvPr/>
        </p:nvSpPr>
        <p:spPr>
          <a:xfrm>
            <a:off x="658440" y="3977640"/>
            <a:ext cx="5394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EC82F"/>
                </a:solidFill>
                <a:effectLst/>
                <a:uFillTx/>
                <a:latin typeface="Montserrat"/>
              </a:rPr>
              <a:t>De datos dispersos a decisiones focalizadas</a:t>
            </a:r>
            <a:endParaRPr lang="es-CO" sz="1600" b="0" u="none" strike="noStrike">
              <a:solidFill>
                <a:srgbClr val="FFFFFF"/>
              </a:solidFill>
              <a:effectLst/>
              <a:uFillTx/>
              <a:latin typeface="Arial"/>
            </a:endParaRPr>
          </a:p>
        </p:txBody>
      </p:sp>
      <p:sp>
        <p:nvSpPr>
          <p:cNvPr id="27" name="Text 4"/>
          <p:cNvSpPr/>
          <p:nvPr/>
        </p:nvSpPr>
        <p:spPr>
          <a:xfrm>
            <a:off x="658440" y="4526280"/>
            <a:ext cx="539460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DCE7F3"/>
                </a:solidFill>
                <a:effectLst/>
                <a:uFillTx/>
                <a:latin typeface="Montserrat"/>
              </a:rPr>
              <a:t>Asistente virtual y analítica explicable para facilitar el acceso ciudadano a datos abiertos de contratación pública.</a:t>
            </a:r>
            <a:endParaRPr lang="es-CO" sz="1200" b="0" u="none" strike="noStrike">
              <a:solidFill>
                <a:srgbClr val="FFFFFF"/>
              </a:solidFill>
              <a:effectLst/>
              <a:uFillTx/>
              <a:latin typeface="Arial"/>
            </a:endParaRPr>
          </a:p>
        </p:txBody>
      </p:sp>
      <p:sp>
        <p:nvSpPr>
          <p:cNvPr id="28" name="Shape 5"/>
          <p:cNvSpPr/>
          <p:nvPr/>
        </p:nvSpPr>
        <p:spPr>
          <a:xfrm>
            <a:off x="6748200" y="658440"/>
            <a:ext cx="4891680" cy="5431320"/>
          </a:xfrm>
          <a:prstGeom prst="roundRect">
            <a:avLst>
              <a:gd name="adj" fmla="val 1495"/>
            </a:avLst>
          </a:prstGeom>
          <a:solidFill>
            <a:srgbClr val="FFFFFF">
              <a:alpha val="99000"/>
            </a:srgbClr>
          </a:solidFill>
          <a:ln w="12700">
            <a:solidFill>
              <a:srgbClr val="40658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pic>
        <p:nvPicPr>
          <p:cNvPr id="29" name="Image 1" descr="/home/johnpaez/Documentos/Apps/observatorio/scripts/presentation_assets/home.png"/>
          <p:cNvPicPr/>
          <p:nvPr/>
        </p:nvPicPr>
        <p:blipFill>
          <a:blip r:embed="rId3"/>
          <a:stretch/>
        </p:blipFill>
        <p:spPr>
          <a:xfrm>
            <a:off x="6931080" y="841320"/>
            <a:ext cx="4525920" cy="2825280"/>
          </a:xfrm>
          <a:prstGeom prst="rect">
            <a:avLst/>
          </a:prstGeom>
          <a:noFill/>
          <a:ln w="0">
            <a:noFill/>
          </a:ln>
        </p:spPr>
      </p:pic>
      <p:sp>
        <p:nvSpPr>
          <p:cNvPr id="30" name="Text 6"/>
          <p:cNvSpPr/>
          <p:nvPr/>
        </p:nvSpPr>
        <p:spPr>
          <a:xfrm>
            <a:off x="7040880" y="3977640"/>
            <a:ext cx="10969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59" strike="noStrike">
                <a:solidFill>
                  <a:srgbClr val="FEC82F"/>
                </a:solidFill>
                <a:effectLst/>
                <a:uFillTx/>
                <a:latin typeface="Montserrat"/>
              </a:rPr>
              <a:t>EQUIPO</a:t>
            </a:r>
            <a:endParaRPr lang="es-CO" sz="800" b="0" u="none" strike="noStrike">
              <a:solidFill>
                <a:srgbClr val="FFFFFF"/>
              </a:solidFill>
              <a:effectLst/>
              <a:uFillTx/>
              <a:latin typeface="Arial"/>
            </a:endParaRPr>
          </a:p>
        </p:txBody>
      </p:sp>
      <p:sp>
        <p:nvSpPr>
          <p:cNvPr id="31" name="Text 7"/>
          <p:cNvSpPr/>
          <p:nvPr/>
        </p:nvSpPr>
        <p:spPr>
          <a:xfrm>
            <a:off x="7040880" y="4316040"/>
            <a:ext cx="191988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John Paez</a:t>
            </a:r>
            <a:endParaRPr lang="es-CO" sz="1300" b="0" u="none" strike="noStrike">
              <a:solidFill>
                <a:srgbClr val="FFFFFF"/>
              </a:solidFill>
              <a:effectLst/>
              <a:uFillTx/>
              <a:latin typeface="Arial"/>
            </a:endParaRPr>
          </a:p>
        </p:txBody>
      </p:sp>
      <p:sp>
        <p:nvSpPr>
          <p:cNvPr id="32" name="Text 8"/>
          <p:cNvSpPr/>
          <p:nvPr/>
        </p:nvSpPr>
        <p:spPr>
          <a:xfrm>
            <a:off x="7040880" y="4636080"/>
            <a:ext cx="384012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677D"/>
                </a:solidFill>
                <a:effectLst/>
                <a:uFillTx/>
                <a:latin typeface="Montserrat"/>
              </a:rPr>
              <a:t>Desarrollo de software · Arquitectura · IA</a:t>
            </a:r>
            <a:endParaRPr lang="es-CO" sz="800" b="0" u="none" strike="noStrike">
              <a:solidFill>
                <a:srgbClr val="FFFFFF"/>
              </a:solidFill>
              <a:effectLst/>
              <a:uFillTx/>
              <a:latin typeface="Arial"/>
            </a:endParaRPr>
          </a:p>
        </p:txBody>
      </p:sp>
      <p:sp>
        <p:nvSpPr>
          <p:cNvPr id="33" name="Text 9"/>
          <p:cNvSpPr/>
          <p:nvPr/>
        </p:nvSpPr>
        <p:spPr>
          <a:xfrm>
            <a:off x="7040880" y="5074920"/>
            <a:ext cx="255996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Esperanza Niño</a:t>
            </a:r>
            <a:endParaRPr lang="es-CO" sz="1300" b="0" u="none" strike="noStrike">
              <a:solidFill>
                <a:srgbClr val="FFFFFF"/>
              </a:solidFill>
              <a:effectLst/>
              <a:uFillTx/>
              <a:latin typeface="Arial"/>
            </a:endParaRPr>
          </a:p>
        </p:txBody>
      </p:sp>
      <p:sp>
        <p:nvSpPr>
          <p:cNvPr id="34" name="Text 10"/>
          <p:cNvSpPr/>
          <p:nvPr/>
        </p:nvSpPr>
        <p:spPr>
          <a:xfrm>
            <a:off x="7040880" y="5394960"/>
            <a:ext cx="338292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677D"/>
                </a:solidFill>
                <a:effectLst/>
                <a:uFillTx/>
                <a:latin typeface="Montserrat"/>
              </a:rPr>
              <a:t>Producto · Operaciones · Impacto</a:t>
            </a:r>
            <a:endParaRPr lang="es-CO" sz="800" b="0" u="none" strike="noStrike">
              <a:solidFill>
                <a:srgbClr val="FFFFFF"/>
              </a:solidFill>
              <a:effectLst/>
              <a:uFillTx/>
              <a:latin typeface="Arial"/>
            </a:endParaRPr>
          </a:p>
        </p:txBody>
      </p:sp>
      <p:sp>
        <p:nvSpPr>
          <p:cNvPr id="35" name="Text 11">
            <a:hlinkClick r:id="rId4"/>
          </p:cNvPr>
          <p:cNvSpPr/>
          <p:nvPr/>
        </p:nvSpPr>
        <p:spPr>
          <a:xfrm>
            <a:off x="658440" y="6172200"/>
            <a:ext cx="58518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sng" strike="noStrike">
                <a:solidFill>
                  <a:srgbClr val="BFD4E8"/>
                </a:solidFill>
                <a:effectLst/>
                <a:uFillTx/>
                <a:latin typeface="Montserrat"/>
                <a:hlinkClick r:id="rId5"/>
              </a:rPr>
              <a:t>observatorio-col.srv991465.hstgr.cloud</a:t>
            </a:r>
            <a:endParaRPr lang="es-CO"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EL RETO</a:t>
            </a:r>
            <a:endParaRPr lang="es-CO" sz="750" b="0" u="none" strike="noStrike">
              <a:solidFill>
                <a:srgbClr val="000000"/>
              </a:solidFill>
              <a:effectLst/>
              <a:uFillTx/>
              <a:latin typeface="Arial"/>
            </a:endParaRPr>
          </a:p>
        </p:txBody>
      </p:sp>
      <p:sp>
        <p:nvSpPr>
          <p:cNvPr id="37"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Publicar datos no garantiza que puedan comprenderse</a:t>
            </a:r>
            <a:endParaRPr lang="es-CO" sz="2500" b="0" u="none" strike="noStrike">
              <a:solidFill>
                <a:srgbClr val="000000"/>
              </a:solidFill>
              <a:effectLst/>
              <a:uFillTx/>
              <a:latin typeface="Arial"/>
            </a:endParaRPr>
          </a:p>
        </p:txBody>
      </p:sp>
      <p:sp>
        <p:nvSpPr>
          <p:cNvPr id="38"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La contratación pública es abierta, pero consultarla, cruzarla e interpretarla sigue siendo una tarea especializada.</a:t>
            </a:r>
            <a:endParaRPr lang="es-CO" sz="950" b="0" u="none" strike="noStrike">
              <a:solidFill>
                <a:srgbClr val="000000"/>
              </a:solidFill>
              <a:effectLst/>
              <a:uFillTx/>
              <a:latin typeface="Arial"/>
            </a:endParaRPr>
          </a:p>
        </p:txBody>
      </p:sp>
      <p:sp>
        <p:nvSpPr>
          <p:cNvPr id="39" name="Text 3"/>
          <p:cNvSpPr/>
          <p:nvPr/>
        </p:nvSpPr>
        <p:spPr>
          <a:xfrm>
            <a:off x="567000" y="1645920"/>
            <a:ext cx="32000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900" b="1" u="none" strike="noStrike">
                <a:solidFill>
                  <a:srgbClr val="002D58"/>
                </a:solidFill>
                <a:effectLst/>
                <a:uFillTx/>
                <a:latin typeface="Montserrat"/>
              </a:rPr>
              <a:t>5,70 M</a:t>
            </a:r>
            <a:endParaRPr lang="es-CO" sz="3900" b="0" u="none" strike="noStrike">
              <a:solidFill>
                <a:srgbClr val="000000"/>
              </a:solidFill>
              <a:effectLst/>
              <a:uFillTx/>
              <a:latin typeface="Arial"/>
            </a:endParaRPr>
          </a:p>
        </p:txBody>
      </p:sp>
      <p:sp>
        <p:nvSpPr>
          <p:cNvPr id="40" name="Text 4"/>
          <p:cNvSpPr/>
          <p:nvPr/>
        </p:nvSpPr>
        <p:spPr>
          <a:xfrm>
            <a:off x="603360" y="2423160"/>
            <a:ext cx="301716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A677D"/>
                </a:solidFill>
                <a:effectLst/>
                <a:uFillTx/>
                <a:latin typeface="Montserrat"/>
              </a:rPr>
              <a:t>contratos visibles en la plataforma</a:t>
            </a:r>
            <a:endParaRPr lang="es-CO" sz="1100" b="0" u="none" strike="noStrike">
              <a:solidFill>
                <a:srgbClr val="000000"/>
              </a:solidFill>
              <a:effectLst/>
              <a:uFillTx/>
              <a:latin typeface="Arial"/>
            </a:endParaRPr>
          </a:p>
          <a:p>
            <a:pPr defTabSz="914400">
              <a:lnSpc>
                <a:spcPct val="100000"/>
              </a:lnSpc>
              <a:tabLst>
                <a:tab pos="0" algn="l"/>
              </a:tabLst>
            </a:pPr>
            <a:r>
              <a:rPr lang="en-US" sz="1100" b="1" u="none" strike="noStrike">
                <a:solidFill>
                  <a:srgbClr val="5A677D"/>
                </a:solidFill>
                <a:effectLst/>
                <a:uFillTx/>
                <a:latin typeface="Montserrat"/>
              </a:rPr>
              <a:t>al 16 de julio de 2026</a:t>
            </a:r>
            <a:endParaRPr lang="es-CO" sz="1100" b="0" u="none" strike="noStrike">
              <a:solidFill>
                <a:srgbClr val="000000"/>
              </a:solidFill>
              <a:effectLst/>
              <a:uFillTx/>
              <a:latin typeface="Arial"/>
            </a:endParaRPr>
          </a:p>
        </p:txBody>
      </p:sp>
      <p:sp>
        <p:nvSpPr>
          <p:cNvPr id="41" name="Shape 5"/>
          <p:cNvSpPr/>
          <p:nvPr/>
        </p:nvSpPr>
        <p:spPr>
          <a:xfrm>
            <a:off x="3858480" y="1572480"/>
            <a:ext cx="360" cy="4251960"/>
          </a:xfrm>
          <a:prstGeom prst="line">
            <a:avLst/>
          </a:prstGeom>
          <a:ln w="15240">
            <a:solidFill>
              <a:srgbClr val="D8E1EC"/>
            </a:solidFill>
            <a:round/>
          </a:ln>
        </p:spPr>
        <p:style>
          <a:lnRef idx="0"/>
          <a:fillRef idx="0"/>
          <a:effectRef idx="0"/>
          <a:fontRef idx="minor"/>
        </p:style>
        <p:txBody>
          <a:bodyPr lIns="90000" tIns="45000" rIns="90000" bIns="45000" anchor="t" anchorCtr="1">
            <a:noAutofit/>
          </a:bodyPr>
          <a:p>
            <a:endParaRPr lang="es-CO" sz="1800" b="0" u="none" strike="noStrike">
              <a:solidFill>
                <a:srgbClr val="000000"/>
              </a:solidFill>
              <a:effectLst/>
              <a:uFillTx/>
              <a:latin typeface="Arial"/>
            </a:endParaRPr>
          </a:p>
        </p:txBody>
      </p:sp>
      <p:sp>
        <p:nvSpPr>
          <p:cNvPr id="42" name="Shape 6"/>
          <p:cNvSpPr/>
          <p:nvPr/>
        </p:nvSpPr>
        <p:spPr>
          <a:xfrm>
            <a:off x="4251960" y="1572840"/>
            <a:ext cx="2331360" cy="1352880"/>
          </a:xfrm>
          <a:prstGeom prst="roundRect">
            <a:avLst>
              <a:gd name="adj" fmla="val 540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3" name="Shape 7"/>
          <p:cNvSpPr/>
          <p:nvPr/>
        </p:nvSpPr>
        <p:spPr>
          <a:xfrm>
            <a:off x="4251960" y="1572840"/>
            <a:ext cx="63720" cy="135288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4" name="Text 8"/>
          <p:cNvSpPr/>
          <p:nvPr/>
        </p:nvSpPr>
        <p:spPr>
          <a:xfrm>
            <a:off x="4453200" y="1737360"/>
            <a:ext cx="19656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02D58"/>
                </a:solidFill>
                <a:effectLst/>
                <a:uFillTx/>
                <a:latin typeface="Montserrat"/>
                <a:ea typeface="Montserrat"/>
              </a:rPr>
              <a:t>Fuentes dispersas</a:t>
            </a:r>
            <a:endParaRPr lang="es-CO" sz="1100" b="0" u="none" strike="noStrike">
              <a:solidFill>
                <a:srgbClr val="000000"/>
              </a:solidFill>
              <a:effectLst/>
              <a:uFillTx/>
              <a:latin typeface="Arial"/>
            </a:endParaRPr>
          </a:p>
        </p:txBody>
      </p:sp>
      <p:sp>
        <p:nvSpPr>
          <p:cNvPr id="45" name="Text 9"/>
          <p:cNvSpPr/>
          <p:nvPr/>
        </p:nvSpPr>
        <p:spPr>
          <a:xfrm>
            <a:off x="4453200" y="2103120"/>
            <a:ext cx="1965600" cy="6944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00" b="0" u="none" strike="noStrike">
                <a:solidFill>
                  <a:srgbClr val="172033"/>
                </a:solidFill>
                <a:effectLst/>
                <a:uFillTx/>
                <a:latin typeface="Montserrat"/>
                <a:ea typeface="Montserrat"/>
              </a:rPr>
              <a:t>Contratos, sanciones, responsabilidades fiscales, multas y obras se consultan por separado.</a:t>
            </a:r>
            <a:endParaRPr lang="es-CO" sz="800" b="0" u="none" strike="noStrike">
              <a:solidFill>
                <a:srgbClr val="000000"/>
              </a:solidFill>
              <a:effectLst/>
              <a:uFillTx/>
              <a:latin typeface="Arial"/>
            </a:endParaRPr>
          </a:p>
        </p:txBody>
      </p:sp>
      <p:sp>
        <p:nvSpPr>
          <p:cNvPr id="46" name="Shape 10"/>
          <p:cNvSpPr/>
          <p:nvPr/>
        </p:nvSpPr>
        <p:spPr>
          <a:xfrm>
            <a:off x="6784920" y="1572840"/>
            <a:ext cx="2331360" cy="1352880"/>
          </a:xfrm>
          <a:prstGeom prst="roundRect">
            <a:avLst>
              <a:gd name="adj" fmla="val 540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7" name="Shape 11"/>
          <p:cNvSpPr/>
          <p:nvPr/>
        </p:nvSpPr>
        <p:spPr>
          <a:xfrm>
            <a:off x="6784920" y="1572840"/>
            <a:ext cx="63720" cy="135288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8" name="Text 12"/>
          <p:cNvSpPr/>
          <p:nvPr/>
        </p:nvSpPr>
        <p:spPr>
          <a:xfrm>
            <a:off x="6986160" y="1737360"/>
            <a:ext cx="19656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02D58"/>
                </a:solidFill>
                <a:effectLst/>
                <a:uFillTx/>
                <a:latin typeface="Montserrat"/>
                <a:ea typeface="Montserrat"/>
              </a:rPr>
              <a:t>Lenguaje técnico</a:t>
            </a:r>
            <a:endParaRPr lang="es-CO" sz="1100" b="0" u="none" strike="noStrike">
              <a:solidFill>
                <a:srgbClr val="000000"/>
              </a:solidFill>
              <a:effectLst/>
              <a:uFillTx/>
              <a:latin typeface="Arial"/>
            </a:endParaRPr>
          </a:p>
        </p:txBody>
      </p:sp>
      <p:sp>
        <p:nvSpPr>
          <p:cNvPr id="49" name="Text 13"/>
          <p:cNvSpPr/>
          <p:nvPr/>
        </p:nvSpPr>
        <p:spPr>
          <a:xfrm>
            <a:off x="6986160" y="2103120"/>
            <a:ext cx="1965600" cy="6944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00" b="0" u="none" strike="noStrike">
                <a:solidFill>
                  <a:srgbClr val="172033"/>
                </a:solidFill>
                <a:effectLst/>
                <a:uFillTx/>
                <a:latin typeface="Montserrat"/>
                <a:ea typeface="Montserrat"/>
              </a:rPr>
              <a:t>Campos, códigos, filtros y grandes volúmenes excluyen a usuarios no especializados.</a:t>
            </a:r>
            <a:endParaRPr lang="es-CO" sz="800" b="0" u="none" strike="noStrike">
              <a:solidFill>
                <a:srgbClr val="000000"/>
              </a:solidFill>
              <a:effectLst/>
              <a:uFillTx/>
              <a:latin typeface="Arial"/>
            </a:endParaRPr>
          </a:p>
        </p:txBody>
      </p:sp>
      <p:sp>
        <p:nvSpPr>
          <p:cNvPr id="50" name="Shape 14"/>
          <p:cNvSpPr/>
          <p:nvPr/>
        </p:nvSpPr>
        <p:spPr>
          <a:xfrm>
            <a:off x="9317880" y="1572840"/>
            <a:ext cx="2331360" cy="1352880"/>
          </a:xfrm>
          <a:prstGeom prst="roundRect">
            <a:avLst>
              <a:gd name="adj" fmla="val 540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51" name="Shape 15"/>
          <p:cNvSpPr/>
          <p:nvPr/>
        </p:nvSpPr>
        <p:spPr>
          <a:xfrm>
            <a:off x="9317880" y="1572840"/>
            <a:ext cx="63720" cy="135288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52" name="Text 16"/>
          <p:cNvSpPr/>
          <p:nvPr/>
        </p:nvSpPr>
        <p:spPr>
          <a:xfrm>
            <a:off x="9518760" y="1737360"/>
            <a:ext cx="19656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02D58"/>
                </a:solidFill>
                <a:effectLst/>
                <a:uFillTx/>
                <a:latin typeface="Montserrat"/>
                <a:ea typeface="Montserrat"/>
              </a:rPr>
              <a:t>Revisión manual</a:t>
            </a:r>
            <a:endParaRPr lang="es-CO" sz="1100" b="0" u="none" strike="noStrike">
              <a:solidFill>
                <a:srgbClr val="000000"/>
              </a:solidFill>
              <a:effectLst/>
              <a:uFillTx/>
              <a:latin typeface="Arial"/>
            </a:endParaRPr>
          </a:p>
        </p:txBody>
      </p:sp>
      <p:sp>
        <p:nvSpPr>
          <p:cNvPr id="53" name="Text 17"/>
          <p:cNvSpPr/>
          <p:nvPr/>
        </p:nvSpPr>
        <p:spPr>
          <a:xfrm>
            <a:off x="9518760" y="2103120"/>
            <a:ext cx="1965600" cy="6944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00" b="0" u="none" strike="noStrike">
                <a:solidFill>
                  <a:srgbClr val="172033"/>
                </a:solidFill>
                <a:effectLst/>
                <a:uFillTx/>
                <a:latin typeface="Montserrat"/>
                <a:ea typeface="Montserrat"/>
              </a:rPr>
              <a:t>Sin priorización, los equipos deben buscar señales registro por registro.</a:t>
            </a:r>
            <a:endParaRPr lang="es-CO" sz="800" b="0" u="none" strike="noStrike">
              <a:solidFill>
                <a:srgbClr val="000000"/>
              </a:solidFill>
              <a:effectLst/>
              <a:uFillTx/>
              <a:latin typeface="Arial"/>
            </a:endParaRPr>
          </a:p>
        </p:txBody>
      </p:sp>
      <p:sp>
        <p:nvSpPr>
          <p:cNvPr id="54" name="Shape 18"/>
          <p:cNvSpPr/>
          <p:nvPr/>
        </p:nvSpPr>
        <p:spPr>
          <a:xfrm>
            <a:off x="4251960" y="3310200"/>
            <a:ext cx="7397280" cy="1965600"/>
          </a:xfrm>
          <a:prstGeom prst="roundRect">
            <a:avLst>
              <a:gd name="adj" fmla="val 3721"/>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55" name="Text 19"/>
          <p:cNvSpPr/>
          <p:nvPr/>
        </p:nvSpPr>
        <p:spPr>
          <a:xfrm>
            <a:off x="4617720" y="3703320"/>
            <a:ext cx="667476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Montserrat"/>
              </a:rPr>
              <a:t>La brecha no es de disponibilidad.</a:t>
            </a:r>
            <a:endParaRPr lang="es-CO" sz="2200" b="0" u="none" strike="noStrike">
              <a:solidFill>
                <a:srgbClr val="000000"/>
              </a:solidFill>
              <a:effectLst/>
              <a:uFillTx/>
              <a:latin typeface="Arial"/>
            </a:endParaRPr>
          </a:p>
          <a:p>
            <a:pPr algn="ctr" defTabSz="914400">
              <a:lnSpc>
                <a:spcPct val="100000"/>
              </a:lnSpc>
              <a:tabLst>
                <a:tab pos="0" algn="l"/>
              </a:tabLst>
            </a:pPr>
            <a:r>
              <a:rPr lang="en-US" sz="2200" b="1" u="none" strike="noStrike">
                <a:solidFill>
                  <a:srgbClr val="FFFFFF"/>
                </a:solidFill>
                <a:effectLst/>
                <a:uFillTx/>
                <a:latin typeface="Montserrat"/>
              </a:rPr>
              <a:t>Es de acceso, contexto y capacidad de actuar.</a:t>
            </a:r>
            <a:endParaRPr lang="es-CO" sz="2200" b="0" u="none" strike="noStrike">
              <a:solidFill>
                <a:srgbClr val="000000"/>
              </a:solidFill>
              <a:effectLst/>
              <a:uFillTx/>
              <a:latin typeface="Arial"/>
            </a:endParaRPr>
          </a:p>
        </p:txBody>
      </p:sp>
      <p:sp>
        <p:nvSpPr>
          <p:cNvPr id="56" name="Text 20"/>
          <p:cNvSpPr/>
          <p:nvPr/>
        </p:nvSpPr>
        <p:spPr>
          <a:xfrm>
            <a:off x="594360" y="3794760"/>
            <a:ext cx="21942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30" strike="noStrike">
                <a:solidFill>
                  <a:srgbClr val="CE1126"/>
                </a:solidFill>
                <a:effectLst/>
                <a:uFillTx/>
                <a:latin typeface="Montserrat"/>
              </a:rPr>
              <a:t>Pregunta de diseño</a:t>
            </a:r>
            <a:endParaRPr lang="es-CO" sz="800" b="0" u="none" strike="noStrike">
              <a:solidFill>
                <a:srgbClr val="000000"/>
              </a:solidFill>
              <a:effectLst/>
              <a:uFillTx/>
              <a:latin typeface="Arial"/>
            </a:endParaRPr>
          </a:p>
        </p:txBody>
      </p:sp>
      <p:sp>
        <p:nvSpPr>
          <p:cNvPr id="57" name="Text 21"/>
          <p:cNvSpPr/>
          <p:nvPr/>
        </p:nvSpPr>
        <p:spPr>
          <a:xfrm>
            <a:off x="594360" y="4160520"/>
            <a:ext cx="2880000" cy="9871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002D58"/>
                </a:solidFill>
                <a:effectLst/>
                <a:uFillTx/>
                <a:latin typeface="Montserrat"/>
              </a:rPr>
              <a:t>¿Cómo hablar con estos datos sin ser especialista?</a:t>
            </a:r>
            <a:endParaRPr lang="es-CO" sz="1800" b="0" u="none" strike="noStrike">
              <a:solidFill>
                <a:srgbClr val="000000"/>
              </a:solidFill>
              <a:effectLst/>
              <a:uFillTx/>
              <a:latin typeface="Arial"/>
            </a:endParaRPr>
          </a:p>
        </p:txBody>
      </p:sp>
      <p:sp>
        <p:nvSpPr>
          <p:cNvPr id="58" name="PlaceHolder 1"/>
          <p:cNvSpPr>
            <a:spLocks noGrp="1"/>
          </p:cNvSpPr>
          <p:nvPr>
            <p:ph type="sldNum" idx="6"/>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834F94E1-EF3E-4A4F-BD18-F33CCC0C3B2A}" type="slidenum">
              <a:rPr lang="en-US" sz="600" b="0" u="none" strike="noStrike">
                <a:solidFill>
                  <a:srgbClr val="718096"/>
                </a:solidFill>
                <a:effectLst/>
                <a:uFillTx/>
                <a:latin typeface="Montserrat"/>
                <a:ea typeface="Montserrat"/>
              </a:rPr>
              <a:t>2</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PROBLEMA Y AUDIENCIA</a:t>
            </a:r>
            <a:endParaRPr lang="es-CO" sz="750" b="0" u="none" strike="noStrike">
              <a:solidFill>
                <a:srgbClr val="000000"/>
              </a:solidFill>
              <a:effectLst/>
              <a:uFillTx/>
              <a:latin typeface="Arial"/>
            </a:endParaRPr>
          </a:p>
        </p:txBody>
      </p:sp>
      <p:sp>
        <p:nvSpPr>
          <p:cNvPr id="60"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Diseñamos para quien debe decidir dónde revisar primero</a:t>
            </a:r>
            <a:endParaRPr lang="es-CO" sz="2500" b="0" u="none" strike="noStrike">
              <a:solidFill>
                <a:srgbClr val="000000"/>
              </a:solidFill>
              <a:effectLst/>
              <a:uFillTx/>
              <a:latin typeface="Arial"/>
            </a:endParaRPr>
          </a:p>
        </p:txBody>
      </p:sp>
      <p:sp>
        <p:nvSpPr>
          <p:cNvPr id="61"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El producto distingue quién adopta la solución, quién la opera y quién recibe el valor público.</a:t>
            </a:r>
            <a:endParaRPr lang="es-CO" sz="950" b="0" u="none" strike="noStrike">
              <a:solidFill>
                <a:srgbClr val="000000"/>
              </a:solidFill>
              <a:effectLst/>
              <a:uFillTx/>
              <a:latin typeface="Arial"/>
            </a:endParaRPr>
          </a:p>
        </p:txBody>
      </p:sp>
      <p:sp>
        <p:nvSpPr>
          <p:cNvPr id="62" name="Shape 3"/>
          <p:cNvSpPr/>
          <p:nvPr/>
        </p:nvSpPr>
        <p:spPr>
          <a:xfrm>
            <a:off x="567000" y="1600200"/>
            <a:ext cx="3456000" cy="2057040"/>
          </a:xfrm>
          <a:prstGeom prst="roundRect">
            <a:avLst>
              <a:gd name="adj" fmla="val 3556"/>
            </a:avLst>
          </a:prstGeom>
          <a:solidFill>
            <a:srgbClr val="EDF3F8"/>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63" name="Shape 4"/>
          <p:cNvSpPr/>
          <p:nvPr/>
        </p:nvSpPr>
        <p:spPr>
          <a:xfrm>
            <a:off x="567000" y="1600200"/>
            <a:ext cx="63720" cy="2057040"/>
          </a:xfrm>
          <a:prstGeom prst="rect">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64" name="Text 5"/>
          <p:cNvSpPr/>
          <p:nvPr/>
        </p:nvSpPr>
        <p:spPr>
          <a:xfrm>
            <a:off x="768240" y="1764720"/>
            <a:ext cx="3090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Cliente / adoptante</a:t>
            </a:r>
            <a:endParaRPr lang="es-CO" sz="1300" b="0" u="none" strike="noStrike">
              <a:solidFill>
                <a:srgbClr val="000000"/>
              </a:solidFill>
              <a:effectLst/>
              <a:uFillTx/>
              <a:latin typeface="Arial"/>
            </a:endParaRPr>
          </a:p>
        </p:txBody>
      </p:sp>
      <p:sp>
        <p:nvSpPr>
          <p:cNvPr id="65" name="Text 6"/>
          <p:cNvSpPr/>
          <p:nvPr/>
        </p:nvSpPr>
        <p:spPr>
          <a:xfrm>
            <a:off x="768240" y="2130480"/>
            <a:ext cx="3090240" cy="13986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172033"/>
                </a:solidFill>
                <a:effectLst/>
                <a:uFillTx/>
                <a:latin typeface="Montserrat"/>
                <a:ea typeface="Montserrat"/>
              </a:rPr>
              <a:t>Entidades de control</a:t>
            </a:r>
            <a:endParaRPr lang="es-CO"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72033"/>
                </a:solidFill>
                <a:effectLst/>
                <a:uFillTx/>
                <a:latin typeface="Montserrat"/>
                <a:ea typeface="Montserrat"/>
              </a:rPr>
              <a:t>Oficinas de control interno</a:t>
            </a:r>
            <a:endParaRPr lang="es-CO"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72033"/>
                </a:solidFill>
                <a:effectLst/>
                <a:uFillTx/>
                <a:latin typeface="Montserrat"/>
                <a:ea typeface="Montserrat"/>
              </a:rPr>
              <a:t>Equipos de contratación pública</a:t>
            </a:r>
            <a:endParaRPr lang="es-CO" sz="1200" b="0" u="none" strike="noStrike">
              <a:solidFill>
                <a:srgbClr val="000000"/>
              </a:solidFill>
              <a:effectLst/>
              <a:uFillTx/>
              <a:latin typeface="Arial"/>
            </a:endParaRPr>
          </a:p>
        </p:txBody>
      </p:sp>
      <p:sp>
        <p:nvSpPr>
          <p:cNvPr id="66" name="Shape 7"/>
          <p:cNvSpPr/>
          <p:nvPr/>
        </p:nvSpPr>
        <p:spPr>
          <a:xfrm>
            <a:off x="4352400" y="1600200"/>
            <a:ext cx="3456000" cy="2057040"/>
          </a:xfrm>
          <a:prstGeom prst="roundRect">
            <a:avLst>
              <a:gd name="adj" fmla="val 3556"/>
            </a:avLst>
          </a:prstGeom>
          <a:solidFill>
            <a:srgbClr val="FFF9D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67" name="Shape 8"/>
          <p:cNvSpPr/>
          <p:nvPr/>
        </p:nvSpPr>
        <p:spPr>
          <a:xfrm>
            <a:off x="4352400" y="1600200"/>
            <a:ext cx="63720" cy="205704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68" name="Text 9"/>
          <p:cNvSpPr/>
          <p:nvPr/>
        </p:nvSpPr>
        <p:spPr>
          <a:xfrm>
            <a:off x="4553640" y="1764720"/>
            <a:ext cx="3090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Usuario directo</a:t>
            </a:r>
            <a:endParaRPr lang="es-CO" sz="1300" b="0" u="none" strike="noStrike">
              <a:solidFill>
                <a:srgbClr val="000000"/>
              </a:solidFill>
              <a:effectLst/>
              <a:uFillTx/>
              <a:latin typeface="Arial"/>
            </a:endParaRPr>
          </a:p>
        </p:txBody>
      </p:sp>
      <p:sp>
        <p:nvSpPr>
          <p:cNvPr id="69" name="Text 10"/>
          <p:cNvSpPr/>
          <p:nvPr/>
        </p:nvSpPr>
        <p:spPr>
          <a:xfrm>
            <a:off x="4553640" y="2130480"/>
            <a:ext cx="3090240" cy="13986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172033"/>
                </a:solidFill>
                <a:effectLst/>
                <a:uFillTx/>
                <a:latin typeface="Montserrat"/>
                <a:ea typeface="Montserrat"/>
              </a:rPr>
              <a:t>Analistas</a:t>
            </a:r>
            <a:endParaRPr lang="es-CO"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72033"/>
                </a:solidFill>
                <a:effectLst/>
                <a:uFillTx/>
                <a:latin typeface="Montserrat"/>
                <a:ea typeface="Montserrat"/>
              </a:rPr>
              <a:t>Auditores</a:t>
            </a:r>
            <a:endParaRPr lang="es-CO"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72033"/>
                </a:solidFill>
                <a:effectLst/>
                <a:uFillTx/>
                <a:latin typeface="Montserrat"/>
                <a:ea typeface="Montserrat"/>
              </a:rPr>
              <a:t>Funcionarios que investigan alertas</a:t>
            </a:r>
            <a:endParaRPr lang="es-CO" sz="1200" b="0" u="none" strike="noStrike">
              <a:solidFill>
                <a:srgbClr val="000000"/>
              </a:solidFill>
              <a:effectLst/>
              <a:uFillTx/>
              <a:latin typeface="Arial"/>
            </a:endParaRPr>
          </a:p>
        </p:txBody>
      </p:sp>
      <p:sp>
        <p:nvSpPr>
          <p:cNvPr id="70" name="Shape 11"/>
          <p:cNvSpPr/>
          <p:nvPr/>
        </p:nvSpPr>
        <p:spPr>
          <a:xfrm>
            <a:off x="8138160" y="1600200"/>
            <a:ext cx="3456000" cy="2057040"/>
          </a:xfrm>
          <a:prstGeom prst="roundRect">
            <a:avLst>
              <a:gd name="adj" fmla="val 3556"/>
            </a:avLst>
          </a:prstGeom>
          <a:solidFill>
            <a:srgbClr val="EAF7F1"/>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71" name="Shape 12"/>
          <p:cNvSpPr/>
          <p:nvPr/>
        </p:nvSpPr>
        <p:spPr>
          <a:xfrm>
            <a:off x="8138160" y="1600200"/>
            <a:ext cx="63720" cy="205704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72" name="Text 13"/>
          <p:cNvSpPr/>
          <p:nvPr/>
        </p:nvSpPr>
        <p:spPr>
          <a:xfrm>
            <a:off x="8339400" y="1764720"/>
            <a:ext cx="3090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Beneficiario</a:t>
            </a:r>
            <a:endParaRPr lang="es-CO" sz="1300" b="0" u="none" strike="noStrike">
              <a:solidFill>
                <a:srgbClr val="000000"/>
              </a:solidFill>
              <a:effectLst/>
              <a:uFillTx/>
              <a:latin typeface="Arial"/>
            </a:endParaRPr>
          </a:p>
        </p:txBody>
      </p:sp>
      <p:sp>
        <p:nvSpPr>
          <p:cNvPr id="73" name="Text 14"/>
          <p:cNvSpPr/>
          <p:nvPr/>
        </p:nvSpPr>
        <p:spPr>
          <a:xfrm>
            <a:off x="8339400" y="2130480"/>
            <a:ext cx="3090240" cy="13986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172033"/>
                </a:solidFill>
                <a:effectLst/>
                <a:uFillTx/>
                <a:latin typeface="Montserrat"/>
                <a:ea typeface="Montserrat"/>
              </a:rPr>
              <a:t>Ciudadanía y veedurías</a:t>
            </a:r>
            <a:endParaRPr lang="es-CO"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72033"/>
                </a:solidFill>
                <a:effectLst/>
                <a:uFillTx/>
                <a:latin typeface="Montserrat"/>
                <a:ea typeface="Montserrat"/>
              </a:rPr>
              <a:t>Periodistas e investigadores</a:t>
            </a:r>
            <a:endParaRPr lang="es-CO"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72033"/>
                </a:solidFill>
                <a:effectLst/>
                <a:uFillTx/>
                <a:latin typeface="Montserrat"/>
                <a:ea typeface="Montserrat"/>
              </a:rPr>
              <a:t>Ecosistema de transparencia</a:t>
            </a:r>
            <a:endParaRPr lang="es-CO" sz="1200" b="0" u="none" strike="noStrike">
              <a:solidFill>
                <a:srgbClr val="000000"/>
              </a:solidFill>
              <a:effectLst/>
              <a:uFillTx/>
              <a:latin typeface="Arial"/>
            </a:endParaRPr>
          </a:p>
        </p:txBody>
      </p:sp>
      <p:sp>
        <p:nvSpPr>
          <p:cNvPr id="74" name="Shape 15"/>
          <p:cNvSpPr/>
          <p:nvPr/>
        </p:nvSpPr>
        <p:spPr>
          <a:xfrm>
            <a:off x="960120" y="4160520"/>
            <a:ext cx="10259280" cy="1298160"/>
          </a:xfrm>
          <a:prstGeom prst="roundRect">
            <a:avLst>
              <a:gd name="adj" fmla="val 5634"/>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75" name="Text 16"/>
          <p:cNvSpPr/>
          <p:nvPr/>
        </p:nvSpPr>
        <p:spPr>
          <a:xfrm>
            <a:off x="1353240" y="4498920"/>
            <a:ext cx="9463680" cy="6213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700" b="1" u="none" strike="noStrike">
                <a:solidFill>
                  <a:srgbClr val="FFFFFF"/>
                </a:solidFill>
                <a:effectLst/>
                <a:uFillTx/>
                <a:latin typeface="Montserrat"/>
              </a:rPr>
              <a:t>¿Cómo facilitar la consulta y comprensión de datos abiertos de contratación pública, transformándolos en alertas explicables y respuestas útiles mediante IA?</a:t>
            </a:r>
            <a:endParaRPr lang="es-CO" sz="1700" b="0" u="none" strike="noStrike">
              <a:solidFill>
                <a:srgbClr val="000000"/>
              </a:solidFill>
              <a:effectLst/>
              <a:uFillTx/>
              <a:latin typeface="Arial"/>
            </a:endParaRPr>
          </a:p>
        </p:txBody>
      </p:sp>
      <p:sp>
        <p:nvSpPr>
          <p:cNvPr id="76" name="Shape 17"/>
          <p:cNvSpPr/>
          <p:nvPr/>
        </p:nvSpPr>
        <p:spPr>
          <a:xfrm>
            <a:off x="2944440" y="5742360"/>
            <a:ext cx="1298160" cy="310680"/>
          </a:xfrm>
          <a:prstGeom prst="roundRect">
            <a:avLst>
              <a:gd name="adj" fmla="val 23529"/>
            </a:avLst>
          </a:prstGeom>
          <a:solidFill>
            <a:srgbClr val="FDEBEC"/>
          </a:solidFill>
          <a:ln w="1016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77" name="Text 18"/>
          <p:cNvSpPr/>
          <p:nvPr/>
        </p:nvSpPr>
        <p:spPr>
          <a:xfrm>
            <a:off x="3017520" y="5806440"/>
            <a:ext cx="115164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80" b="1" u="none" strike="noStrike">
                <a:solidFill>
                  <a:srgbClr val="CE1126"/>
                </a:solidFill>
                <a:effectLst/>
                <a:uFillTx/>
                <a:latin typeface="Montserrat"/>
                <a:ea typeface="Montserrat"/>
              </a:rPr>
              <a:t>NO ACUSA</a:t>
            </a:r>
            <a:endParaRPr lang="es-CO" sz="680" b="0" u="none" strike="noStrike">
              <a:solidFill>
                <a:srgbClr val="000000"/>
              </a:solidFill>
              <a:effectLst/>
              <a:uFillTx/>
              <a:latin typeface="Arial"/>
            </a:endParaRPr>
          </a:p>
        </p:txBody>
      </p:sp>
      <p:sp>
        <p:nvSpPr>
          <p:cNvPr id="78" name="Shape 19"/>
          <p:cNvSpPr/>
          <p:nvPr/>
        </p:nvSpPr>
        <p:spPr>
          <a:xfrm>
            <a:off x="4443840" y="5742360"/>
            <a:ext cx="1298160" cy="310680"/>
          </a:xfrm>
          <a:prstGeom prst="roundRect">
            <a:avLst>
              <a:gd name="adj" fmla="val 23529"/>
            </a:avLst>
          </a:prstGeom>
          <a:solidFill>
            <a:srgbClr val="EAF3FA"/>
          </a:solidFill>
          <a:ln w="1016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79" name="Text 20"/>
          <p:cNvSpPr/>
          <p:nvPr/>
        </p:nvSpPr>
        <p:spPr>
          <a:xfrm>
            <a:off x="4517280" y="5806440"/>
            <a:ext cx="115164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80" b="1" u="none" strike="noStrike">
                <a:solidFill>
                  <a:srgbClr val="004884"/>
                </a:solidFill>
                <a:effectLst/>
                <a:uFillTx/>
                <a:latin typeface="Montserrat"/>
                <a:ea typeface="Montserrat"/>
              </a:rPr>
              <a:t>PRIORIZA</a:t>
            </a:r>
            <a:endParaRPr lang="es-CO" sz="680" b="0" u="none" strike="noStrike">
              <a:solidFill>
                <a:srgbClr val="000000"/>
              </a:solidFill>
              <a:effectLst/>
              <a:uFillTx/>
              <a:latin typeface="Arial"/>
            </a:endParaRPr>
          </a:p>
        </p:txBody>
      </p:sp>
      <p:sp>
        <p:nvSpPr>
          <p:cNvPr id="80" name="Shape 21"/>
          <p:cNvSpPr/>
          <p:nvPr/>
        </p:nvSpPr>
        <p:spPr>
          <a:xfrm>
            <a:off x="5943600" y="5742360"/>
            <a:ext cx="1298160" cy="310680"/>
          </a:xfrm>
          <a:prstGeom prst="roundRect">
            <a:avLst>
              <a:gd name="adj" fmla="val 23529"/>
            </a:avLst>
          </a:prstGeom>
          <a:solidFill>
            <a:srgbClr val="EAF7F1"/>
          </a:solidFill>
          <a:ln w="1016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81" name="Text 22"/>
          <p:cNvSpPr/>
          <p:nvPr/>
        </p:nvSpPr>
        <p:spPr>
          <a:xfrm>
            <a:off x="6016680" y="5806440"/>
            <a:ext cx="115164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80" b="1" u="none" strike="noStrike">
                <a:solidFill>
                  <a:srgbClr val="16865A"/>
                </a:solidFill>
                <a:effectLst/>
                <a:uFillTx/>
                <a:latin typeface="Montserrat"/>
                <a:ea typeface="Montserrat"/>
              </a:rPr>
              <a:t>EXPLICA</a:t>
            </a:r>
            <a:endParaRPr lang="es-CO" sz="680" b="0" u="none" strike="noStrike">
              <a:solidFill>
                <a:srgbClr val="000000"/>
              </a:solidFill>
              <a:effectLst/>
              <a:uFillTx/>
              <a:latin typeface="Arial"/>
            </a:endParaRPr>
          </a:p>
        </p:txBody>
      </p:sp>
      <p:sp>
        <p:nvSpPr>
          <p:cNvPr id="82" name="Shape 23"/>
          <p:cNvSpPr/>
          <p:nvPr/>
        </p:nvSpPr>
        <p:spPr>
          <a:xfrm>
            <a:off x="7443360" y="5742360"/>
            <a:ext cx="1755360" cy="310680"/>
          </a:xfrm>
          <a:prstGeom prst="roundRect">
            <a:avLst>
              <a:gd name="adj" fmla="val 23529"/>
            </a:avLst>
          </a:prstGeom>
          <a:solidFill>
            <a:srgbClr val="EDF3F8"/>
          </a:solidFill>
          <a:ln w="1016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83" name="Text 24"/>
          <p:cNvSpPr/>
          <p:nvPr/>
        </p:nvSpPr>
        <p:spPr>
          <a:xfrm>
            <a:off x="7516440" y="5806440"/>
            <a:ext cx="160884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80" b="1" u="none" strike="noStrike">
                <a:solidFill>
                  <a:srgbClr val="002D58"/>
                </a:solidFill>
                <a:effectLst/>
                <a:uFillTx/>
                <a:latin typeface="Montserrat"/>
                <a:ea typeface="Montserrat"/>
              </a:rPr>
              <a:t>CITA LA FUENTE</a:t>
            </a:r>
            <a:endParaRPr lang="es-CO" sz="680" b="0" u="none" strike="noStrike">
              <a:solidFill>
                <a:srgbClr val="000000"/>
              </a:solidFill>
              <a:effectLst/>
              <a:uFillTx/>
              <a:latin typeface="Arial"/>
            </a:endParaRPr>
          </a:p>
        </p:txBody>
      </p:sp>
      <p:sp>
        <p:nvSpPr>
          <p:cNvPr id="84" name="PlaceHolder 1"/>
          <p:cNvSpPr>
            <a:spLocks noGrp="1"/>
          </p:cNvSpPr>
          <p:nvPr>
            <p:ph type="sldNum" idx="7"/>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8652E829-D50C-48CE-BF5A-4B517B855251}" type="slidenum">
              <a:rPr lang="en-US" sz="600" b="0" u="none" strike="noStrike">
                <a:solidFill>
                  <a:srgbClr val="718096"/>
                </a:solidFill>
                <a:effectLst/>
                <a:uFillTx/>
                <a:latin typeface="Montserrat"/>
                <a:ea typeface="Montserrat"/>
              </a:rPr>
              <a:t>3</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 46"/>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ANEXO TÉCNICO</a:t>
            </a:r>
            <a:endParaRPr lang="es-CO" sz="750" b="0" u="none" strike="noStrike">
              <a:solidFill>
                <a:srgbClr val="000000"/>
              </a:solidFill>
              <a:effectLst/>
              <a:uFillTx/>
              <a:latin typeface="Arial"/>
            </a:endParaRPr>
          </a:p>
        </p:txBody>
      </p:sp>
      <p:sp>
        <p:nvSpPr>
          <p:cNvPr id="86" name="Text 48"/>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Las nueve banderas(Variables</a:t>
            </a:r>
            <a:r>
              <a:rPr lang="en-US" sz="2500" b="1" u="none" strike="noStrike">
                <a:solidFill>
                  <a:srgbClr val="002D58"/>
                </a:solidFill>
                <a:effectLst/>
                <a:uFillTx/>
                <a:latin typeface="Montserrat"/>
                <a:ea typeface="Montserrat"/>
              </a:rPr>
              <a:t>) y su contribución al score</a:t>
            </a:r>
            <a:endParaRPr lang="es-CO" sz="2500" b="0" u="none" strike="noStrike">
              <a:solidFill>
                <a:srgbClr val="000000"/>
              </a:solidFill>
              <a:effectLst/>
              <a:uFillTx/>
              <a:latin typeface="Arial"/>
            </a:endParaRPr>
          </a:p>
        </p:txBody>
      </p:sp>
      <p:sp>
        <p:nvSpPr>
          <p:cNvPr id="87" name="Text 50"/>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Material de respaldo para preguntas del jurado; no hace parte de los 10 minutos.</a:t>
            </a:r>
            <a:endParaRPr lang="es-CO" sz="950" b="0" u="none" strike="noStrike">
              <a:solidFill>
                <a:srgbClr val="000000"/>
              </a:solidFill>
              <a:effectLst/>
              <a:uFillTx/>
              <a:latin typeface="Arial"/>
            </a:endParaRPr>
          </a:p>
        </p:txBody>
      </p:sp>
      <p:sp>
        <p:nvSpPr>
          <p:cNvPr id="88" name="Shape 41"/>
          <p:cNvSpPr/>
          <p:nvPr/>
        </p:nvSpPr>
        <p:spPr>
          <a:xfrm>
            <a:off x="567000" y="150876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89" name="Shape 45"/>
          <p:cNvSpPr/>
          <p:nvPr/>
        </p:nvSpPr>
        <p:spPr>
          <a:xfrm>
            <a:off x="567000" y="150876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90" name="Text 52"/>
          <p:cNvSpPr/>
          <p:nvPr/>
        </p:nvSpPr>
        <p:spPr>
          <a:xfrm>
            <a:off x="768240" y="167328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Vencidos sin cerrar</a:t>
            </a:r>
            <a:endParaRPr lang="es-CO" sz="1050" b="0" u="none" strike="noStrike">
              <a:solidFill>
                <a:srgbClr val="000000"/>
              </a:solidFill>
              <a:effectLst/>
              <a:uFillTx/>
              <a:latin typeface="Arial"/>
            </a:endParaRPr>
          </a:p>
        </p:txBody>
      </p:sp>
      <p:sp>
        <p:nvSpPr>
          <p:cNvPr id="91" name="Text 53"/>
          <p:cNvSpPr/>
          <p:nvPr/>
        </p:nvSpPr>
        <p:spPr>
          <a:xfrm>
            <a:off x="768240" y="203904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+25 c/u · máx. 75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Ejecución vencida hace más de 6 meses</a:t>
            </a:r>
            <a:endParaRPr lang="es-CO" sz="850" b="0" u="none" strike="noStrike">
              <a:solidFill>
                <a:srgbClr val="000000"/>
              </a:solidFill>
              <a:effectLst/>
              <a:uFillTx/>
              <a:latin typeface="Arial"/>
            </a:endParaRPr>
          </a:p>
        </p:txBody>
      </p:sp>
      <p:sp>
        <p:nvSpPr>
          <p:cNvPr id="92" name="Shape 47"/>
          <p:cNvSpPr/>
          <p:nvPr/>
        </p:nvSpPr>
        <p:spPr>
          <a:xfrm>
            <a:off x="4407480" y="150876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93" name="Shape 49"/>
          <p:cNvSpPr/>
          <p:nvPr/>
        </p:nvSpPr>
        <p:spPr>
          <a:xfrm>
            <a:off x="4407480" y="150876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94" name="Text 54"/>
          <p:cNvSpPr/>
          <p:nvPr/>
        </p:nvSpPr>
        <p:spPr>
          <a:xfrm>
            <a:off x="4608720" y="167328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Extensión &gt; 1 año</a:t>
            </a:r>
            <a:endParaRPr lang="es-CO" sz="1050" b="0" u="none" strike="noStrike">
              <a:solidFill>
                <a:srgbClr val="000000"/>
              </a:solidFill>
              <a:effectLst/>
              <a:uFillTx/>
              <a:latin typeface="Arial"/>
            </a:endParaRPr>
          </a:p>
        </p:txBody>
      </p:sp>
      <p:sp>
        <p:nvSpPr>
          <p:cNvPr id="95" name="Text 55"/>
          <p:cNvSpPr/>
          <p:nvPr/>
        </p:nvSpPr>
        <p:spPr>
          <a:xfrm>
            <a:off x="4608720" y="203904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+20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Más de 365 días adicionados</a:t>
            </a:r>
            <a:endParaRPr lang="es-CO" sz="850" b="0" u="none" strike="noStrike">
              <a:solidFill>
                <a:srgbClr val="000000"/>
              </a:solidFill>
              <a:effectLst/>
              <a:uFillTx/>
              <a:latin typeface="Arial"/>
            </a:endParaRPr>
          </a:p>
        </p:txBody>
      </p:sp>
      <p:sp>
        <p:nvSpPr>
          <p:cNvPr id="96" name="Shape 51"/>
          <p:cNvSpPr/>
          <p:nvPr/>
        </p:nvSpPr>
        <p:spPr>
          <a:xfrm>
            <a:off x="8247960" y="150876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97" name="Shape 52"/>
          <p:cNvSpPr/>
          <p:nvPr/>
        </p:nvSpPr>
        <p:spPr>
          <a:xfrm>
            <a:off x="8247960" y="150876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98" name="Text 56"/>
          <p:cNvSpPr/>
          <p:nvPr/>
        </p:nvSpPr>
        <p:spPr>
          <a:xfrm>
            <a:off x="8449200" y="167328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Múltiples adiciones</a:t>
            </a:r>
            <a:endParaRPr lang="es-CO" sz="1050" b="0" u="none" strike="noStrike">
              <a:solidFill>
                <a:srgbClr val="000000"/>
              </a:solidFill>
              <a:effectLst/>
              <a:uFillTx/>
              <a:latin typeface="Arial"/>
            </a:endParaRPr>
          </a:p>
        </p:txBody>
      </p:sp>
      <p:sp>
        <p:nvSpPr>
          <p:cNvPr id="99" name="Text 57"/>
          <p:cNvSpPr/>
          <p:nvPr/>
        </p:nvSpPr>
        <p:spPr>
          <a:xfrm>
            <a:off x="8449200" y="203904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Tres o más contratos con extensión</a:t>
            </a:r>
            <a:endParaRPr lang="es-CO" sz="850" b="0" u="none" strike="noStrike">
              <a:solidFill>
                <a:srgbClr val="000000"/>
              </a:solidFill>
              <a:effectLst/>
              <a:uFillTx/>
              <a:latin typeface="Arial"/>
            </a:endParaRPr>
          </a:p>
        </p:txBody>
      </p:sp>
      <p:sp>
        <p:nvSpPr>
          <p:cNvPr id="100" name="Shape 53"/>
          <p:cNvSpPr/>
          <p:nvPr/>
        </p:nvSpPr>
        <p:spPr>
          <a:xfrm>
            <a:off x="567000" y="301752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01" name="Shape 54"/>
          <p:cNvSpPr/>
          <p:nvPr/>
        </p:nvSpPr>
        <p:spPr>
          <a:xfrm>
            <a:off x="567000" y="301752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02" name="Text 58"/>
          <p:cNvSpPr/>
          <p:nvPr/>
        </p:nvSpPr>
        <p:spPr>
          <a:xfrm>
            <a:off x="768240" y="318204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Concentración</a:t>
            </a:r>
            <a:endParaRPr lang="es-CO" sz="1050" b="0" u="none" strike="noStrike">
              <a:solidFill>
                <a:srgbClr val="000000"/>
              </a:solidFill>
              <a:effectLst/>
              <a:uFillTx/>
              <a:latin typeface="Arial"/>
            </a:endParaRPr>
          </a:p>
        </p:txBody>
      </p:sp>
      <p:sp>
        <p:nvSpPr>
          <p:cNvPr id="103" name="Text 59"/>
          <p:cNvSpPr/>
          <p:nvPr/>
        </p:nvSpPr>
        <p:spPr>
          <a:xfrm>
            <a:off x="768240" y="354780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Cinco o más entidades del sector</a:t>
            </a:r>
            <a:endParaRPr lang="es-CO" sz="850" b="0" u="none" strike="noStrike">
              <a:solidFill>
                <a:srgbClr val="000000"/>
              </a:solidFill>
              <a:effectLst/>
              <a:uFillTx/>
              <a:latin typeface="Arial"/>
            </a:endParaRPr>
          </a:p>
        </p:txBody>
      </p:sp>
      <p:sp>
        <p:nvSpPr>
          <p:cNvPr id="104" name="Shape 55"/>
          <p:cNvSpPr/>
          <p:nvPr/>
        </p:nvSpPr>
        <p:spPr>
          <a:xfrm>
            <a:off x="4407480" y="301752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05" name="Shape 56"/>
          <p:cNvSpPr/>
          <p:nvPr/>
        </p:nvSpPr>
        <p:spPr>
          <a:xfrm>
            <a:off x="4407480" y="301752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06" name="Text 60"/>
          <p:cNvSpPr/>
          <p:nvPr/>
        </p:nvSpPr>
        <p:spPr>
          <a:xfrm>
            <a:off x="4608720" y="318204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Baja ejecución</a:t>
            </a:r>
            <a:endParaRPr lang="es-CO" sz="1050" b="0" u="none" strike="noStrike">
              <a:solidFill>
                <a:srgbClr val="000000"/>
              </a:solidFill>
              <a:effectLst/>
              <a:uFillTx/>
              <a:latin typeface="Arial"/>
            </a:endParaRPr>
          </a:p>
        </p:txBody>
      </p:sp>
      <p:sp>
        <p:nvSpPr>
          <p:cNvPr id="107" name="Text 61"/>
          <p:cNvSpPr/>
          <p:nvPr/>
        </p:nvSpPr>
        <p:spPr>
          <a:xfrm>
            <a:off x="4608720" y="354780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Facturado &lt; 50 % en contratos &gt; $5 M</a:t>
            </a:r>
            <a:endParaRPr lang="es-CO" sz="850" b="0" u="none" strike="noStrike">
              <a:solidFill>
                <a:srgbClr val="000000"/>
              </a:solidFill>
              <a:effectLst/>
              <a:uFillTx/>
              <a:latin typeface="Arial"/>
            </a:endParaRPr>
          </a:p>
        </p:txBody>
      </p:sp>
      <p:sp>
        <p:nvSpPr>
          <p:cNvPr id="108" name="Shape 57"/>
          <p:cNvSpPr/>
          <p:nvPr/>
        </p:nvSpPr>
        <p:spPr>
          <a:xfrm>
            <a:off x="8247960" y="301752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09" name="Shape 58"/>
          <p:cNvSpPr/>
          <p:nvPr/>
        </p:nvSpPr>
        <p:spPr>
          <a:xfrm>
            <a:off x="8247960" y="3017520"/>
            <a:ext cx="63720" cy="121572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10" name="Text 62"/>
          <p:cNvSpPr/>
          <p:nvPr/>
        </p:nvSpPr>
        <p:spPr>
          <a:xfrm>
            <a:off x="8449200" y="318204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Sanción disciplinaria</a:t>
            </a:r>
            <a:endParaRPr lang="es-CO" sz="1050" b="0" u="none" strike="noStrike">
              <a:solidFill>
                <a:srgbClr val="000000"/>
              </a:solidFill>
              <a:effectLst/>
              <a:uFillTx/>
              <a:latin typeface="Arial"/>
            </a:endParaRPr>
          </a:p>
        </p:txBody>
      </p:sp>
      <p:sp>
        <p:nvSpPr>
          <p:cNvPr id="111" name="Text 63"/>
          <p:cNvSpPr/>
          <p:nvPr/>
        </p:nvSpPr>
        <p:spPr>
          <a:xfrm>
            <a:off x="8449200" y="354780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+30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Coincidencia en SIRI</a:t>
            </a:r>
            <a:endParaRPr lang="es-CO" sz="850" b="0" u="none" strike="noStrike">
              <a:solidFill>
                <a:srgbClr val="000000"/>
              </a:solidFill>
              <a:effectLst/>
              <a:uFillTx/>
              <a:latin typeface="Arial"/>
            </a:endParaRPr>
          </a:p>
        </p:txBody>
      </p:sp>
      <p:sp>
        <p:nvSpPr>
          <p:cNvPr id="112" name="Shape 59"/>
          <p:cNvSpPr/>
          <p:nvPr/>
        </p:nvSpPr>
        <p:spPr>
          <a:xfrm>
            <a:off x="567000" y="452628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13" name="Shape 60"/>
          <p:cNvSpPr/>
          <p:nvPr/>
        </p:nvSpPr>
        <p:spPr>
          <a:xfrm>
            <a:off x="567000" y="4526280"/>
            <a:ext cx="63720" cy="121572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14" name="Text 64"/>
          <p:cNvSpPr/>
          <p:nvPr/>
        </p:nvSpPr>
        <p:spPr>
          <a:xfrm>
            <a:off x="768240" y="469080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Responsabilidad fiscal</a:t>
            </a:r>
            <a:endParaRPr lang="es-CO" sz="1050" b="0" u="none" strike="noStrike">
              <a:solidFill>
                <a:srgbClr val="000000"/>
              </a:solidFill>
              <a:effectLst/>
              <a:uFillTx/>
              <a:latin typeface="Arial"/>
            </a:endParaRPr>
          </a:p>
        </p:txBody>
      </p:sp>
      <p:sp>
        <p:nvSpPr>
          <p:cNvPr id="115" name="Text 65"/>
          <p:cNvSpPr/>
          <p:nvPr/>
        </p:nvSpPr>
        <p:spPr>
          <a:xfrm>
            <a:off x="768240" y="505656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+25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Coincidencia en CGR</a:t>
            </a:r>
            <a:endParaRPr lang="es-CO" sz="850" b="0" u="none" strike="noStrike">
              <a:solidFill>
                <a:srgbClr val="000000"/>
              </a:solidFill>
              <a:effectLst/>
              <a:uFillTx/>
              <a:latin typeface="Arial"/>
            </a:endParaRPr>
          </a:p>
        </p:txBody>
      </p:sp>
      <p:sp>
        <p:nvSpPr>
          <p:cNvPr id="116" name="Shape 61"/>
          <p:cNvSpPr/>
          <p:nvPr/>
        </p:nvSpPr>
        <p:spPr>
          <a:xfrm>
            <a:off x="4407480" y="452628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17" name="Shape 62"/>
          <p:cNvSpPr/>
          <p:nvPr/>
        </p:nvSpPr>
        <p:spPr>
          <a:xfrm>
            <a:off x="4407480" y="4526280"/>
            <a:ext cx="63720" cy="121572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18" name="Text 66"/>
          <p:cNvSpPr/>
          <p:nvPr/>
        </p:nvSpPr>
        <p:spPr>
          <a:xfrm>
            <a:off x="4608720" y="469080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Multa SECOP</a:t>
            </a:r>
            <a:endParaRPr lang="es-CO" sz="1050" b="0" u="none" strike="noStrike">
              <a:solidFill>
                <a:srgbClr val="000000"/>
              </a:solidFill>
              <a:effectLst/>
              <a:uFillTx/>
              <a:latin typeface="Arial"/>
            </a:endParaRPr>
          </a:p>
        </p:txBody>
      </p:sp>
      <p:sp>
        <p:nvSpPr>
          <p:cNvPr id="119" name="Text 67"/>
          <p:cNvSpPr/>
          <p:nvPr/>
        </p:nvSpPr>
        <p:spPr>
          <a:xfrm>
            <a:off x="4608720" y="505656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Multa contractual registrada</a:t>
            </a:r>
            <a:endParaRPr lang="es-CO" sz="850" b="0" u="none" strike="noStrike">
              <a:solidFill>
                <a:srgbClr val="000000"/>
              </a:solidFill>
              <a:effectLst/>
              <a:uFillTx/>
              <a:latin typeface="Arial"/>
            </a:endParaRPr>
          </a:p>
        </p:txBody>
      </p:sp>
      <p:sp>
        <p:nvSpPr>
          <p:cNvPr id="120" name="Shape 63"/>
          <p:cNvSpPr/>
          <p:nvPr/>
        </p:nvSpPr>
        <p:spPr>
          <a:xfrm>
            <a:off x="8247960" y="452628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21" name="Shape 64"/>
          <p:cNvSpPr/>
          <p:nvPr/>
        </p:nvSpPr>
        <p:spPr>
          <a:xfrm>
            <a:off x="8247960" y="4526280"/>
            <a:ext cx="63720" cy="121572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22" name="Text 68"/>
          <p:cNvSpPr/>
          <p:nvPr/>
        </p:nvSpPr>
        <p:spPr>
          <a:xfrm>
            <a:off x="8449200" y="469080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Anomalía estadística</a:t>
            </a:r>
            <a:endParaRPr lang="es-CO" sz="1050" b="0" u="none" strike="noStrike">
              <a:solidFill>
                <a:srgbClr val="000000"/>
              </a:solidFill>
              <a:effectLst/>
              <a:uFillTx/>
              <a:latin typeface="Arial"/>
            </a:endParaRPr>
          </a:p>
        </p:txBody>
      </p:sp>
      <p:sp>
        <p:nvSpPr>
          <p:cNvPr id="123" name="Text 69"/>
          <p:cNvSpPr/>
          <p:nvPr/>
        </p:nvSpPr>
        <p:spPr>
          <a:xfrm>
            <a:off x="8449200" y="505656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0 a +30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Isolation Forest &lt; −0,05</a:t>
            </a:r>
            <a:endParaRPr lang="es-CO" sz="850" b="0" u="none" strike="noStrike">
              <a:solidFill>
                <a:srgbClr val="000000"/>
              </a:solidFill>
              <a:effectLst/>
              <a:uFillTx/>
              <a:latin typeface="Arial"/>
            </a:endParaRPr>
          </a:p>
        </p:txBody>
      </p:sp>
      <p:sp>
        <p:nvSpPr>
          <p:cNvPr id="124" name="Text 70"/>
          <p:cNvSpPr/>
          <p:nvPr/>
        </p:nvSpPr>
        <p:spPr>
          <a:xfrm>
            <a:off x="1828800" y="6144840"/>
            <a:ext cx="8503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02D58"/>
                </a:solidFill>
                <a:effectLst/>
                <a:uFillTx/>
                <a:latin typeface="Montserrat"/>
              </a:rPr>
              <a:t>Semáforo: ROJO &gt; 60 · AMARILLO 30–60 · VERDE &lt; 30</a:t>
            </a:r>
            <a:endParaRPr lang="es-CO" sz="950" b="0" u="none" strike="noStrike">
              <a:solidFill>
                <a:srgbClr val="000000"/>
              </a:solidFill>
              <a:effectLst/>
              <a:uFillTx/>
              <a:latin typeface="Arial"/>
            </a:endParaRPr>
          </a:p>
        </p:txBody>
      </p:sp>
      <p:sp>
        <p:nvSpPr>
          <p:cNvPr id="125" name="PlaceHolder 1"/>
          <p:cNvSpPr>
            <a:spLocks noGrp="1"/>
          </p:cNvSpPr>
          <p:nvPr>
            <p:ph type="sldNum" idx="8"/>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B03767DF-F466-4A01-B137-365A91DC3D26}" type="slidenum">
              <a:rPr lang="en-US" sz="600" b="0" u="none" strike="noStrike">
                <a:solidFill>
                  <a:srgbClr val="718096"/>
                </a:solidFill>
                <a:effectLst/>
                <a:uFillTx/>
                <a:latin typeface="Montserrat"/>
                <a:ea typeface="Montserrat"/>
              </a:rPr>
              <a:t>4</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RESUMEN EJECUTIVO</a:t>
            </a:r>
            <a:endParaRPr lang="es-CO" sz="750" b="0" u="none" strike="noStrike">
              <a:solidFill>
                <a:srgbClr val="000000"/>
              </a:solidFill>
              <a:effectLst/>
              <a:uFillTx/>
              <a:latin typeface="Arial"/>
            </a:endParaRPr>
          </a:p>
        </p:txBody>
      </p:sp>
      <p:sp>
        <p:nvSpPr>
          <p:cNvPr id="127"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Una consulta, tres capas de inteligencia, una respuesta verificable</a:t>
            </a:r>
            <a:endParaRPr lang="es-CO" sz="2500" b="0" u="none" strike="noStrike">
              <a:solidFill>
                <a:srgbClr val="000000"/>
              </a:solidFill>
              <a:effectLst/>
              <a:uFillTx/>
              <a:latin typeface="Arial"/>
            </a:endParaRPr>
          </a:p>
        </p:txBody>
      </p:sp>
      <p:sp>
        <p:nvSpPr>
          <p:cNvPr id="128"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El Observatorio combina analítica, detección de anomalías y conversación sobre datos abiertos.</a:t>
            </a:r>
            <a:endParaRPr lang="es-CO" sz="950" b="0" u="none" strike="noStrike">
              <a:solidFill>
                <a:srgbClr val="000000"/>
              </a:solidFill>
              <a:effectLst/>
              <a:uFillTx/>
              <a:latin typeface="Arial"/>
            </a:endParaRPr>
          </a:p>
        </p:txBody>
      </p:sp>
      <p:sp>
        <p:nvSpPr>
          <p:cNvPr id="129" name="Shape 3"/>
          <p:cNvSpPr/>
          <p:nvPr/>
        </p:nvSpPr>
        <p:spPr>
          <a:xfrm>
            <a:off x="612720" y="1664280"/>
            <a:ext cx="493560" cy="49356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30" name="Text 4"/>
          <p:cNvSpPr/>
          <p:nvPr/>
        </p:nvSpPr>
        <p:spPr>
          <a:xfrm>
            <a:off x="612720" y="1810440"/>
            <a:ext cx="49356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Montserrat"/>
              </a:rPr>
              <a:t>1</a:t>
            </a:r>
            <a:endParaRPr lang="es-CO" sz="800" b="0" u="none" strike="noStrike">
              <a:solidFill>
                <a:srgbClr val="000000"/>
              </a:solidFill>
              <a:effectLst/>
              <a:uFillTx/>
              <a:latin typeface="Arial"/>
            </a:endParaRPr>
          </a:p>
        </p:txBody>
      </p:sp>
      <p:sp>
        <p:nvSpPr>
          <p:cNvPr id="131" name="Text 5"/>
          <p:cNvSpPr/>
          <p:nvPr/>
        </p:nvSpPr>
        <p:spPr>
          <a:xfrm>
            <a:off x="1225440" y="1664280"/>
            <a:ext cx="17827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rPr>
              <a:t>Preguntar</a:t>
            </a:r>
            <a:endParaRPr lang="es-CO" sz="1400" b="0" u="none" strike="noStrike">
              <a:solidFill>
                <a:srgbClr val="000000"/>
              </a:solidFill>
              <a:effectLst/>
              <a:uFillTx/>
              <a:latin typeface="Arial"/>
            </a:endParaRPr>
          </a:p>
        </p:txBody>
      </p:sp>
      <p:sp>
        <p:nvSpPr>
          <p:cNvPr id="132" name="Text 6"/>
          <p:cNvSpPr/>
          <p:nvPr/>
        </p:nvSpPr>
        <p:spPr>
          <a:xfrm>
            <a:off x="612720" y="2359080"/>
            <a:ext cx="24868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72033"/>
                </a:solidFill>
                <a:effectLst/>
                <a:uFillTx/>
                <a:latin typeface="Montserrat"/>
              </a:rPr>
              <a:t>NIT, nombre, sector o pregunta en lenguaje natural</a:t>
            </a:r>
            <a:endParaRPr lang="es-CO" sz="900" b="0" u="none" strike="noStrike">
              <a:solidFill>
                <a:srgbClr val="000000"/>
              </a:solidFill>
              <a:effectLst/>
              <a:uFillTx/>
              <a:latin typeface="Arial"/>
            </a:endParaRPr>
          </a:p>
        </p:txBody>
      </p:sp>
      <p:sp>
        <p:nvSpPr>
          <p:cNvPr id="133" name="Shape 7"/>
          <p:cNvSpPr/>
          <p:nvPr/>
        </p:nvSpPr>
        <p:spPr>
          <a:xfrm>
            <a:off x="3081600" y="175572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34" name="Shape 8"/>
          <p:cNvSpPr/>
          <p:nvPr/>
        </p:nvSpPr>
        <p:spPr>
          <a:xfrm>
            <a:off x="3474720" y="1664280"/>
            <a:ext cx="493560" cy="49356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35" name="Text 9"/>
          <p:cNvSpPr/>
          <p:nvPr/>
        </p:nvSpPr>
        <p:spPr>
          <a:xfrm>
            <a:off x="3474720" y="1810440"/>
            <a:ext cx="49356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Montserrat"/>
              </a:rPr>
              <a:t>2</a:t>
            </a:r>
            <a:endParaRPr lang="es-CO" sz="800" b="0" u="none" strike="noStrike">
              <a:solidFill>
                <a:srgbClr val="000000"/>
              </a:solidFill>
              <a:effectLst/>
              <a:uFillTx/>
              <a:latin typeface="Arial"/>
            </a:endParaRPr>
          </a:p>
        </p:txBody>
      </p:sp>
      <p:sp>
        <p:nvSpPr>
          <p:cNvPr id="136" name="Text 10"/>
          <p:cNvSpPr/>
          <p:nvPr/>
        </p:nvSpPr>
        <p:spPr>
          <a:xfrm>
            <a:off x="4087440" y="1664280"/>
            <a:ext cx="17827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rPr>
              <a:t>Integrar</a:t>
            </a:r>
            <a:endParaRPr lang="es-CO" sz="1400" b="0" u="none" strike="noStrike">
              <a:solidFill>
                <a:srgbClr val="000000"/>
              </a:solidFill>
              <a:effectLst/>
              <a:uFillTx/>
              <a:latin typeface="Arial"/>
            </a:endParaRPr>
          </a:p>
        </p:txBody>
      </p:sp>
      <p:sp>
        <p:nvSpPr>
          <p:cNvPr id="137" name="Text 11"/>
          <p:cNvSpPr/>
          <p:nvPr/>
        </p:nvSpPr>
        <p:spPr>
          <a:xfrm>
            <a:off x="3474720" y="2359080"/>
            <a:ext cx="24868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72033"/>
                </a:solidFill>
                <a:effectLst/>
                <a:uFillTx/>
                <a:latin typeface="Montserrat"/>
              </a:rPr>
              <a:t>API propia: SECOP II + antecedentes + sanciones + obras</a:t>
            </a:r>
            <a:endParaRPr lang="es-CO" sz="900" b="0" u="none" strike="noStrike">
              <a:solidFill>
                <a:srgbClr val="000000"/>
              </a:solidFill>
              <a:effectLst/>
              <a:uFillTx/>
              <a:latin typeface="Arial"/>
            </a:endParaRPr>
          </a:p>
        </p:txBody>
      </p:sp>
      <p:sp>
        <p:nvSpPr>
          <p:cNvPr id="138" name="Shape 12"/>
          <p:cNvSpPr/>
          <p:nvPr/>
        </p:nvSpPr>
        <p:spPr>
          <a:xfrm>
            <a:off x="5943600" y="175572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39" name="Shape 13"/>
          <p:cNvSpPr/>
          <p:nvPr/>
        </p:nvSpPr>
        <p:spPr>
          <a:xfrm>
            <a:off x="6336720" y="1664280"/>
            <a:ext cx="493560" cy="493560"/>
          </a:xfrm>
          <a:prstGeom prst="ellipse">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40" name="Text 14"/>
          <p:cNvSpPr/>
          <p:nvPr/>
        </p:nvSpPr>
        <p:spPr>
          <a:xfrm>
            <a:off x="6336720" y="1810440"/>
            <a:ext cx="49356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02D58"/>
                </a:solidFill>
                <a:effectLst/>
                <a:uFillTx/>
                <a:latin typeface="Montserrat"/>
              </a:rPr>
              <a:t>3</a:t>
            </a:r>
            <a:endParaRPr lang="es-CO" sz="800" b="0" u="none" strike="noStrike">
              <a:solidFill>
                <a:srgbClr val="000000"/>
              </a:solidFill>
              <a:effectLst/>
              <a:uFillTx/>
              <a:latin typeface="Arial"/>
            </a:endParaRPr>
          </a:p>
        </p:txBody>
      </p:sp>
      <p:sp>
        <p:nvSpPr>
          <p:cNvPr id="141" name="Text 15"/>
          <p:cNvSpPr/>
          <p:nvPr/>
        </p:nvSpPr>
        <p:spPr>
          <a:xfrm>
            <a:off x="6949440" y="1664280"/>
            <a:ext cx="17827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rPr>
              <a:t>Analizar</a:t>
            </a:r>
            <a:endParaRPr lang="es-CO" sz="1400" b="0" u="none" strike="noStrike">
              <a:solidFill>
                <a:srgbClr val="000000"/>
              </a:solidFill>
              <a:effectLst/>
              <a:uFillTx/>
              <a:latin typeface="Arial"/>
            </a:endParaRPr>
          </a:p>
        </p:txBody>
      </p:sp>
      <p:sp>
        <p:nvSpPr>
          <p:cNvPr id="142" name="Text 16"/>
          <p:cNvSpPr/>
          <p:nvPr/>
        </p:nvSpPr>
        <p:spPr>
          <a:xfrm>
            <a:off x="6336720" y="2359080"/>
            <a:ext cx="24868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72033"/>
                </a:solidFill>
                <a:effectLst/>
                <a:uFillTx/>
                <a:latin typeface="Montserrat"/>
              </a:rPr>
              <a:t>9 banderas explicables + Isolation Forest</a:t>
            </a:r>
            <a:endParaRPr lang="es-CO" sz="900" b="0" u="none" strike="noStrike">
              <a:solidFill>
                <a:srgbClr val="000000"/>
              </a:solidFill>
              <a:effectLst/>
              <a:uFillTx/>
              <a:latin typeface="Arial"/>
            </a:endParaRPr>
          </a:p>
        </p:txBody>
      </p:sp>
      <p:sp>
        <p:nvSpPr>
          <p:cNvPr id="143" name="Shape 17"/>
          <p:cNvSpPr/>
          <p:nvPr/>
        </p:nvSpPr>
        <p:spPr>
          <a:xfrm>
            <a:off x="8805600" y="175572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44" name="Shape 18"/>
          <p:cNvSpPr/>
          <p:nvPr/>
        </p:nvSpPr>
        <p:spPr>
          <a:xfrm>
            <a:off x="9198720" y="1664280"/>
            <a:ext cx="493560" cy="49356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45" name="Text 19"/>
          <p:cNvSpPr/>
          <p:nvPr/>
        </p:nvSpPr>
        <p:spPr>
          <a:xfrm>
            <a:off x="9198720" y="1810440"/>
            <a:ext cx="49356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Montserrat"/>
              </a:rPr>
              <a:t>4</a:t>
            </a:r>
            <a:endParaRPr lang="es-CO" sz="800" b="0" u="none" strike="noStrike">
              <a:solidFill>
                <a:srgbClr val="000000"/>
              </a:solidFill>
              <a:effectLst/>
              <a:uFillTx/>
              <a:latin typeface="Arial"/>
            </a:endParaRPr>
          </a:p>
        </p:txBody>
      </p:sp>
      <p:sp>
        <p:nvSpPr>
          <p:cNvPr id="146" name="Text 20"/>
          <p:cNvSpPr/>
          <p:nvPr/>
        </p:nvSpPr>
        <p:spPr>
          <a:xfrm>
            <a:off x="9811440" y="1664280"/>
            <a:ext cx="17827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rPr>
              <a:t>Actuar</a:t>
            </a:r>
            <a:endParaRPr lang="es-CO" sz="1400" b="0" u="none" strike="noStrike">
              <a:solidFill>
                <a:srgbClr val="000000"/>
              </a:solidFill>
              <a:effectLst/>
              <a:uFillTx/>
              <a:latin typeface="Arial"/>
            </a:endParaRPr>
          </a:p>
        </p:txBody>
      </p:sp>
      <p:sp>
        <p:nvSpPr>
          <p:cNvPr id="147" name="Text 21"/>
          <p:cNvSpPr/>
          <p:nvPr/>
        </p:nvSpPr>
        <p:spPr>
          <a:xfrm>
            <a:off x="9198720" y="2359080"/>
            <a:ext cx="24868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72033"/>
                </a:solidFill>
                <a:effectLst/>
                <a:uFillTx/>
                <a:latin typeface="Montserrat"/>
              </a:rPr>
              <a:t>Semáforo, evidencia, exportación y conversación</a:t>
            </a:r>
            <a:endParaRPr lang="es-CO" sz="900" b="0" u="none" strike="noStrike">
              <a:solidFill>
                <a:srgbClr val="000000"/>
              </a:solidFill>
              <a:effectLst/>
              <a:uFillTx/>
              <a:latin typeface="Arial"/>
            </a:endParaRPr>
          </a:p>
        </p:txBody>
      </p:sp>
      <p:sp>
        <p:nvSpPr>
          <p:cNvPr id="148" name="Shape 22"/>
          <p:cNvSpPr/>
          <p:nvPr/>
        </p:nvSpPr>
        <p:spPr>
          <a:xfrm>
            <a:off x="658440" y="3337560"/>
            <a:ext cx="10881000" cy="2057040"/>
          </a:xfrm>
          <a:prstGeom prst="roundRect">
            <a:avLst>
              <a:gd name="adj" fmla="val 3556"/>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49" name="Text 23"/>
          <p:cNvSpPr/>
          <p:nvPr/>
        </p:nvSpPr>
        <p:spPr>
          <a:xfrm>
            <a:off x="987480" y="3675960"/>
            <a:ext cx="12798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50" strike="noStrike">
                <a:solidFill>
                  <a:srgbClr val="CE1126"/>
                </a:solidFill>
                <a:effectLst/>
                <a:uFillTx/>
                <a:latin typeface="Montserrat"/>
              </a:rPr>
              <a:t>OBJETIVO</a:t>
            </a:r>
            <a:endParaRPr lang="es-CO" sz="800" b="0" u="none" strike="noStrike">
              <a:solidFill>
                <a:srgbClr val="000000"/>
              </a:solidFill>
              <a:effectLst/>
              <a:uFillTx/>
              <a:latin typeface="Arial"/>
            </a:endParaRPr>
          </a:p>
        </p:txBody>
      </p:sp>
      <p:sp>
        <p:nvSpPr>
          <p:cNvPr id="150" name="Text 24"/>
          <p:cNvSpPr/>
          <p:nvPr/>
        </p:nvSpPr>
        <p:spPr>
          <a:xfrm>
            <a:off x="987480" y="4041720"/>
            <a:ext cx="10058040" cy="804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700" b="1" u="none" strike="noStrike">
                <a:solidFill>
                  <a:srgbClr val="002D58"/>
                </a:solidFill>
                <a:effectLst/>
                <a:uFillTx/>
                <a:latin typeface="Montserrat"/>
              </a:rPr>
              <a:t>Entregar una plataforma funcional que permita consultar y priorizar riesgos sobre datos abiertos de contratación pública mediante visualizaciones explicables y un asistente virtual, con cobertura nacional y actualización desde la fuente.</a:t>
            </a:r>
            <a:endParaRPr lang="es-CO" sz="1700" b="0" u="none" strike="noStrike">
              <a:solidFill>
                <a:srgbClr val="000000"/>
              </a:solidFill>
              <a:effectLst/>
              <a:uFillTx/>
              <a:latin typeface="Arial"/>
            </a:endParaRPr>
          </a:p>
        </p:txBody>
      </p:sp>
      <p:sp>
        <p:nvSpPr>
          <p:cNvPr id="151" name="Text 25"/>
          <p:cNvSpPr/>
          <p:nvPr/>
        </p:nvSpPr>
        <p:spPr>
          <a:xfrm>
            <a:off x="1920240" y="5010840"/>
            <a:ext cx="83206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16865A"/>
                </a:solidFill>
                <a:effectLst/>
                <a:uFillTx/>
                <a:latin typeface="Montserrat"/>
              </a:rPr>
              <a:t>Medible: aplicación desplegada · 9 banderas · consulta por sector/NIT · demo reproducible</a:t>
            </a:r>
            <a:endParaRPr lang="es-CO" sz="850" b="0" u="none" strike="noStrike">
              <a:solidFill>
                <a:srgbClr val="000000"/>
              </a:solidFill>
              <a:effectLst/>
              <a:uFillTx/>
              <a:latin typeface="Arial"/>
            </a:endParaRPr>
          </a:p>
        </p:txBody>
      </p:sp>
      <p:sp>
        <p:nvSpPr>
          <p:cNvPr id="152" name="PlaceHolder 1"/>
          <p:cNvSpPr>
            <a:spLocks noGrp="1"/>
          </p:cNvSpPr>
          <p:nvPr>
            <p:ph type="sldNum" idx="9"/>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00FB95BF-FD30-42AA-8A46-C43705AB4C5B}" type="slidenum">
              <a:rPr lang="en-US" sz="600" b="0" u="none" strike="noStrike">
                <a:solidFill>
                  <a:srgbClr val="718096"/>
                </a:solidFill>
                <a:effectLst/>
                <a:uFillTx/>
                <a:latin typeface="Montserrat"/>
                <a:ea typeface="Montserrat"/>
              </a:rPr>
              <a:t>5</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DATOS ABIERTOS</a:t>
            </a:r>
            <a:endParaRPr lang="es-CO" sz="750" b="0" u="none" strike="noStrike">
              <a:solidFill>
                <a:srgbClr val="000000"/>
              </a:solidFill>
              <a:effectLst/>
              <a:uFillTx/>
              <a:latin typeface="Arial"/>
            </a:endParaRPr>
          </a:p>
        </p:txBody>
      </p:sp>
      <p:sp>
        <p:nvSpPr>
          <p:cNvPr id="154"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La fuente principal es SECOP II; el valor aparece al cruzarla</a:t>
            </a:r>
            <a:endParaRPr lang="es-CO" sz="2500" b="0" u="none" strike="noStrike">
              <a:solidFill>
                <a:srgbClr val="000000"/>
              </a:solidFill>
              <a:effectLst/>
              <a:uFillTx/>
              <a:latin typeface="Arial"/>
            </a:endParaRPr>
          </a:p>
        </p:txBody>
      </p:sp>
      <p:sp>
        <p:nvSpPr>
          <p:cNvPr id="155"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Origen, calidad, transformación y trazabilidad están documentados en el flujo de datos.</a:t>
            </a:r>
            <a:endParaRPr lang="es-CO" sz="950" b="0" u="none" strike="noStrike">
              <a:solidFill>
                <a:srgbClr val="000000"/>
              </a:solidFill>
              <a:effectLst/>
              <a:uFillTx/>
              <a:latin typeface="Arial"/>
            </a:endParaRPr>
          </a:p>
        </p:txBody>
      </p:sp>
      <p:sp>
        <p:nvSpPr>
          <p:cNvPr id="156" name="Shape 3"/>
          <p:cNvSpPr/>
          <p:nvPr/>
        </p:nvSpPr>
        <p:spPr>
          <a:xfrm>
            <a:off x="567000" y="1536120"/>
            <a:ext cx="3794400" cy="4315680"/>
          </a:xfrm>
          <a:prstGeom prst="roundRect">
            <a:avLst>
              <a:gd name="adj" fmla="val 1928"/>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57" name="Text 4"/>
          <p:cNvSpPr/>
          <p:nvPr/>
        </p:nvSpPr>
        <p:spPr>
          <a:xfrm>
            <a:off x="896040" y="1828800"/>
            <a:ext cx="210276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30" strike="noStrike">
                <a:solidFill>
                  <a:srgbClr val="FEC82F"/>
                </a:solidFill>
                <a:effectLst/>
                <a:uFillTx/>
                <a:latin typeface="Montserrat"/>
              </a:rPr>
              <a:t>DATASET PRINCIPAL</a:t>
            </a:r>
            <a:endParaRPr lang="es-CO" sz="800" b="0" u="none" strike="noStrike">
              <a:solidFill>
                <a:srgbClr val="000000"/>
              </a:solidFill>
              <a:effectLst/>
              <a:uFillTx/>
              <a:latin typeface="Arial"/>
            </a:endParaRPr>
          </a:p>
        </p:txBody>
      </p:sp>
      <p:sp>
        <p:nvSpPr>
          <p:cNvPr id="158" name="Text 5"/>
          <p:cNvSpPr/>
          <p:nvPr/>
        </p:nvSpPr>
        <p:spPr>
          <a:xfrm>
            <a:off x="896040" y="2194560"/>
            <a:ext cx="306288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Montserrat"/>
              </a:rPr>
              <a:t>SECOP II —</a:t>
            </a:r>
            <a:endParaRPr lang="es-CO" sz="2300" b="0" u="none" strike="noStrike">
              <a:solidFill>
                <a:srgbClr val="000000"/>
              </a:solidFill>
              <a:effectLst/>
              <a:uFillTx/>
              <a:latin typeface="Arial"/>
            </a:endParaRPr>
          </a:p>
          <a:p>
            <a:pPr defTabSz="914400">
              <a:lnSpc>
                <a:spcPct val="100000"/>
              </a:lnSpc>
              <a:tabLst>
                <a:tab pos="0" algn="l"/>
              </a:tabLst>
            </a:pPr>
            <a:r>
              <a:rPr lang="en-US" sz="2300" b="1" u="none" strike="noStrike">
                <a:solidFill>
                  <a:srgbClr val="FFFFFF"/>
                </a:solidFill>
                <a:effectLst/>
                <a:uFillTx/>
                <a:latin typeface="Montserrat"/>
              </a:rPr>
              <a:t>Contratos Electrónicos</a:t>
            </a:r>
            <a:endParaRPr lang="es-CO" sz="2300" b="0" u="none" strike="noStrike">
              <a:solidFill>
                <a:srgbClr val="000000"/>
              </a:solidFill>
              <a:effectLst/>
              <a:uFillTx/>
              <a:latin typeface="Arial"/>
            </a:endParaRPr>
          </a:p>
        </p:txBody>
      </p:sp>
      <p:sp>
        <p:nvSpPr>
          <p:cNvPr id="159" name="Text 6"/>
          <p:cNvSpPr/>
          <p:nvPr/>
        </p:nvSpPr>
        <p:spPr>
          <a:xfrm>
            <a:off x="896040" y="3182040"/>
            <a:ext cx="2925720" cy="1298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CE7F3"/>
                </a:solidFill>
                <a:effectLst/>
                <a:uFillTx/>
                <a:latin typeface="Montserrat"/>
              </a:rPr>
              <a:t>ID: jbjy-vk9h</a:t>
            </a:r>
            <a:endParaRPr lang="es-CO"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CE7F3"/>
                </a:solidFill>
                <a:effectLst/>
                <a:uFillTx/>
                <a:latin typeface="Montserrat"/>
              </a:rPr>
              <a:t>Entidad: Colombia Compra Eficiente</a:t>
            </a:r>
            <a:endParaRPr lang="es-CO"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CE7F3"/>
                </a:solidFill>
                <a:effectLst/>
                <a:uFillTx/>
                <a:latin typeface="Montserrat"/>
              </a:rPr>
              <a:t>Cobertura: nacional</a:t>
            </a:r>
            <a:endParaRPr lang="es-CO"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CE7F3"/>
                </a:solidFill>
                <a:effectLst/>
                <a:uFillTx/>
                <a:latin typeface="Montserrat"/>
              </a:rPr>
              <a:t>Actualización: diaria</a:t>
            </a:r>
            <a:endParaRPr lang="es-CO"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CE7F3"/>
                </a:solidFill>
                <a:effectLst/>
                <a:uFillTx/>
                <a:latin typeface="Montserrat"/>
              </a:rPr>
              <a:t>Consulta: API Socrata</a:t>
            </a:r>
            <a:endParaRPr lang="es-CO" sz="1100" b="0" u="none" strike="noStrike">
              <a:solidFill>
                <a:srgbClr val="000000"/>
              </a:solidFill>
              <a:effectLst/>
              <a:uFillTx/>
              <a:latin typeface="Arial"/>
            </a:endParaRPr>
          </a:p>
        </p:txBody>
      </p:sp>
      <p:sp>
        <p:nvSpPr>
          <p:cNvPr id="160" name="Text 7"/>
          <p:cNvSpPr/>
          <p:nvPr/>
        </p:nvSpPr>
        <p:spPr>
          <a:xfrm>
            <a:off x="896040" y="4892040"/>
            <a:ext cx="29714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EC82F"/>
                </a:solidFill>
                <a:effectLst/>
                <a:uFillTx/>
                <a:latin typeface="Montserrat"/>
              </a:rPr>
              <a:t>5,70 M contratos visibles</a:t>
            </a:r>
            <a:endParaRPr lang="es-CO" sz="1300" b="0" u="none" strike="noStrike">
              <a:solidFill>
                <a:srgbClr val="000000"/>
              </a:solidFill>
              <a:effectLst/>
              <a:uFillTx/>
              <a:latin typeface="Arial"/>
            </a:endParaRPr>
          </a:p>
          <a:p>
            <a:pPr defTabSz="914400">
              <a:lnSpc>
                <a:spcPct val="100000"/>
              </a:lnSpc>
              <a:tabLst>
                <a:tab pos="0" algn="l"/>
              </a:tabLst>
            </a:pPr>
            <a:r>
              <a:rPr lang="en-US" sz="1300" b="1" u="none" strike="noStrike">
                <a:solidFill>
                  <a:srgbClr val="FEC82F"/>
                </a:solidFill>
                <a:effectLst/>
                <a:uFillTx/>
                <a:latin typeface="Montserrat"/>
              </a:rPr>
              <a:t>en la captura del 16/07/2026</a:t>
            </a:r>
            <a:endParaRPr lang="es-CO" sz="1300" b="0" u="none" strike="noStrike">
              <a:solidFill>
                <a:srgbClr val="000000"/>
              </a:solidFill>
              <a:effectLst/>
              <a:uFillTx/>
              <a:latin typeface="Arial"/>
            </a:endParaRPr>
          </a:p>
        </p:txBody>
      </p:sp>
      <p:sp>
        <p:nvSpPr>
          <p:cNvPr id="161" name="Shape 8"/>
          <p:cNvSpPr/>
          <p:nvPr/>
        </p:nvSpPr>
        <p:spPr>
          <a:xfrm>
            <a:off x="4617720" y="1536120"/>
            <a:ext cx="3154320" cy="1874160"/>
          </a:xfrm>
          <a:prstGeom prst="roundRect">
            <a:avLst>
              <a:gd name="adj" fmla="val 3902"/>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62" name="Shape 9"/>
          <p:cNvSpPr/>
          <p:nvPr/>
        </p:nvSpPr>
        <p:spPr>
          <a:xfrm>
            <a:off x="4617720" y="1536120"/>
            <a:ext cx="63720" cy="187416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63" name="Text 10"/>
          <p:cNvSpPr/>
          <p:nvPr/>
        </p:nvSpPr>
        <p:spPr>
          <a:xfrm>
            <a:off x="4818960" y="1700640"/>
            <a:ext cx="2788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20" b="1" u="none" strike="noStrike">
                <a:solidFill>
                  <a:srgbClr val="002D58"/>
                </a:solidFill>
                <a:effectLst/>
                <a:uFillTx/>
                <a:latin typeface="Montserrat"/>
                <a:ea typeface="Montserrat"/>
              </a:rPr>
              <a:t>Fuentes integradas por API propia</a:t>
            </a:r>
            <a:endParaRPr lang="es-CO" sz="1120" b="0" u="none" strike="noStrike">
              <a:solidFill>
                <a:srgbClr val="000000"/>
              </a:solidFill>
              <a:effectLst/>
              <a:uFillTx/>
              <a:latin typeface="Arial"/>
            </a:endParaRPr>
          </a:p>
        </p:txBody>
      </p:sp>
      <p:sp>
        <p:nvSpPr>
          <p:cNvPr id="164" name="Text 11"/>
          <p:cNvSpPr/>
          <p:nvPr/>
        </p:nvSpPr>
        <p:spPr>
          <a:xfrm>
            <a:off x="4818960" y="2066400"/>
            <a:ext cx="2788560" cy="1215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172033"/>
                </a:solidFill>
                <a:effectLst/>
                <a:uFillTx/>
                <a:latin typeface="Montserrat"/>
                <a:ea typeface="Montserrat"/>
              </a:rPr>
              <a:t>Procuraduría / SIRI</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Responsabilidades fiscales CGR</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Sanciones penales FGN</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Multas SECOP</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Obras inconclusas</a:t>
            </a:r>
            <a:endParaRPr lang="es-CO" sz="900" b="0" u="none" strike="noStrike">
              <a:solidFill>
                <a:srgbClr val="000000"/>
              </a:solidFill>
              <a:effectLst/>
              <a:uFillTx/>
              <a:latin typeface="Arial"/>
            </a:endParaRPr>
          </a:p>
        </p:txBody>
      </p:sp>
      <p:sp>
        <p:nvSpPr>
          <p:cNvPr id="165" name="Shape 12"/>
          <p:cNvSpPr/>
          <p:nvPr/>
        </p:nvSpPr>
        <p:spPr>
          <a:xfrm>
            <a:off x="8001000" y="1536120"/>
            <a:ext cx="3611520" cy="1874160"/>
          </a:xfrm>
          <a:prstGeom prst="roundRect">
            <a:avLst>
              <a:gd name="adj" fmla="val 3902"/>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66" name="Shape 13"/>
          <p:cNvSpPr/>
          <p:nvPr/>
        </p:nvSpPr>
        <p:spPr>
          <a:xfrm>
            <a:off x="8001000" y="1536120"/>
            <a:ext cx="63720" cy="187416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67" name="Text 14"/>
          <p:cNvSpPr/>
          <p:nvPr/>
        </p:nvSpPr>
        <p:spPr>
          <a:xfrm>
            <a:off x="8202240" y="1700640"/>
            <a:ext cx="32457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Problemas de calidad</a:t>
            </a:r>
            <a:endParaRPr lang="es-CO" sz="1200" b="0" u="none" strike="noStrike">
              <a:solidFill>
                <a:srgbClr val="000000"/>
              </a:solidFill>
              <a:effectLst/>
              <a:uFillTx/>
              <a:latin typeface="Arial"/>
            </a:endParaRPr>
          </a:p>
        </p:txBody>
      </p:sp>
      <p:sp>
        <p:nvSpPr>
          <p:cNvPr id="168" name="Text 15"/>
          <p:cNvSpPr/>
          <p:nvPr/>
        </p:nvSpPr>
        <p:spPr>
          <a:xfrm>
            <a:off x="8202240" y="2066400"/>
            <a:ext cx="3245760" cy="1215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172033"/>
                </a:solidFill>
                <a:effectLst/>
                <a:uFillTx/>
                <a:latin typeface="Montserrat"/>
                <a:ea typeface="Montserrat"/>
              </a:rPr>
              <a:t>Identificadores heterogéneos</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Fechas y valores inconsistentes</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Nulos y estados contractuales ambiguos</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Fuentes con ciclos distintos</a:t>
            </a:r>
            <a:endParaRPr lang="es-CO" sz="900" b="0" u="none" strike="noStrike">
              <a:solidFill>
                <a:srgbClr val="000000"/>
              </a:solidFill>
              <a:effectLst/>
              <a:uFillTx/>
              <a:latin typeface="Arial"/>
            </a:endParaRPr>
          </a:p>
        </p:txBody>
      </p:sp>
      <p:sp>
        <p:nvSpPr>
          <p:cNvPr id="169" name="Shape 16"/>
          <p:cNvSpPr/>
          <p:nvPr/>
        </p:nvSpPr>
        <p:spPr>
          <a:xfrm>
            <a:off x="4617720" y="3675960"/>
            <a:ext cx="6994800" cy="2175840"/>
          </a:xfrm>
          <a:prstGeom prst="roundRect">
            <a:avLst>
              <a:gd name="adj" fmla="val 336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70" name="Shape 17"/>
          <p:cNvSpPr/>
          <p:nvPr/>
        </p:nvSpPr>
        <p:spPr>
          <a:xfrm>
            <a:off x="4617720" y="3675960"/>
            <a:ext cx="63720" cy="217584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71" name="Text 18"/>
          <p:cNvSpPr/>
          <p:nvPr/>
        </p:nvSpPr>
        <p:spPr>
          <a:xfrm>
            <a:off x="4818960" y="3840480"/>
            <a:ext cx="6629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Transformación aplicada</a:t>
            </a:r>
            <a:endParaRPr lang="es-CO" sz="1200" b="0" u="none" strike="noStrike">
              <a:solidFill>
                <a:srgbClr val="000000"/>
              </a:solidFill>
              <a:effectLst/>
              <a:uFillTx/>
              <a:latin typeface="Arial"/>
            </a:endParaRPr>
          </a:p>
        </p:txBody>
      </p:sp>
      <p:sp>
        <p:nvSpPr>
          <p:cNvPr id="172" name="Text 19"/>
          <p:cNvSpPr/>
          <p:nvPr/>
        </p:nvSpPr>
        <p:spPr>
          <a:xfrm>
            <a:off x="4818960" y="4206240"/>
            <a:ext cx="6629040" cy="1517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100" b="0" u="none" strike="noStrike">
                <a:solidFill>
                  <a:srgbClr val="172033"/>
                </a:solidFill>
                <a:effectLst/>
                <a:uFillTx/>
                <a:latin typeface="Montserrat"/>
                <a:ea typeface="Montserrat"/>
              </a:rPr>
              <a:t>Normalizamos NIT, fechas, monedas y estados. Derivamos variables de vencimiento, ejecución, concentración y adiciones. Guardamos caché y evidencia original para reproducir cada score, responder si una fuente se degrada y evitar consultas innecesarias.</a:t>
            </a:r>
            <a:endParaRPr lang="es-CO" sz="1100" b="0" u="none" strike="noStrike">
              <a:solidFill>
                <a:srgbClr val="000000"/>
              </a:solidFill>
              <a:effectLst/>
              <a:uFillTx/>
              <a:latin typeface="Arial"/>
            </a:endParaRPr>
          </a:p>
        </p:txBody>
      </p:sp>
      <p:sp>
        <p:nvSpPr>
          <p:cNvPr id="173" name="Text 20">
            <a:hlinkClick r:id="rId1"/>
          </p:cNvPr>
          <p:cNvSpPr/>
          <p:nvPr/>
        </p:nvSpPr>
        <p:spPr>
          <a:xfrm>
            <a:off x="4663440" y="6016680"/>
            <a:ext cx="69033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80" b="0" u="sng" strike="noStrike">
                <a:solidFill>
                  <a:srgbClr val="5A677D"/>
                </a:solidFill>
                <a:effectLst/>
                <a:uFillTx/>
                <a:latin typeface="Montserrat"/>
                <a:hlinkClick r:id="rId2"/>
              </a:rPr>
              <a:t>Fuente: datos.gov.co/Gastos-Gubernamentales/SECOP-II-Contratos-Electr-nicos/jbjy-vk9h</a:t>
            </a:r>
            <a:endParaRPr lang="es-CO" sz="580" b="0" u="none" strike="noStrike">
              <a:solidFill>
                <a:srgbClr val="000000"/>
              </a:solidFill>
              <a:effectLst/>
              <a:uFillTx/>
              <a:latin typeface="Arial"/>
            </a:endParaRPr>
          </a:p>
        </p:txBody>
      </p:sp>
      <p:sp>
        <p:nvSpPr>
          <p:cNvPr id="174" name="PlaceHolder 1"/>
          <p:cNvSpPr>
            <a:spLocks noGrp="1"/>
          </p:cNvSpPr>
          <p:nvPr>
            <p:ph type="sldNum" idx="10"/>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022CBA7F-73EA-4B81-AF29-7D65B07E8713}" type="slidenum">
              <a:rPr lang="en-US" sz="600" b="0" u="none" strike="noStrike">
                <a:solidFill>
                  <a:srgbClr val="718096"/>
                </a:solidFill>
                <a:effectLst/>
                <a:uFillTx/>
                <a:latin typeface="Montserrat"/>
                <a:ea typeface="Montserrat"/>
              </a:rPr>
              <a:t>6</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PRODUCTO DE DATOS</a:t>
            </a:r>
            <a:endParaRPr lang="es-CO" sz="750" b="0" u="none" strike="noStrike">
              <a:solidFill>
                <a:srgbClr val="000000"/>
              </a:solidFill>
              <a:effectLst/>
              <a:uFillTx/>
              <a:latin typeface="Arial"/>
            </a:endParaRPr>
          </a:p>
        </p:txBody>
      </p:sp>
      <p:sp>
        <p:nvSpPr>
          <p:cNvPr id="176"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API Anticorrupción Colombia: un perfil, cinco dominios</a:t>
            </a:r>
            <a:endParaRPr lang="es-CO" sz="2500" b="0" u="none" strike="noStrike">
              <a:solidFill>
                <a:srgbClr val="000000"/>
              </a:solidFill>
              <a:effectLst/>
              <a:uFillTx/>
              <a:latin typeface="Arial"/>
            </a:endParaRPr>
          </a:p>
        </p:txBody>
      </p:sp>
      <p:sp>
        <p:nvSpPr>
          <p:cNvPr id="177"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Una capa propia normaliza y expone registros institucionales para la aplicación, el agente y otros consumidores.</a:t>
            </a:r>
            <a:endParaRPr lang="es-CO" sz="950" b="0" u="none" strike="noStrike">
              <a:solidFill>
                <a:srgbClr val="000000"/>
              </a:solidFill>
              <a:effectLst/>
              <a:uFillTx/>
              <a:latin typeface="Arial"/>
            </a:endParaRPr>
          </a:p>
        </p:txBody>
      </p:sp>
      <p:sp>
        <p:nvSpPr>
          <p:cNvPr id="178" name="Shape 3"/>
          <p:cNvSpPr/>
          <p:nvPr/>
        </p:nvSpPr>
        <p:spPr>
          <a:xfrm>
            <a:off x="567000" y="1481400"/>
            <a:ext cx="2742840" cy="566640"/>
          </a:xfrm>
          <a:prstGeom prst="roundRect">
            <a:avLst>
              <a:gd name="adj" fmla="val 6452"/>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79" name="Shape 4"/>
          <p:cNvSpPr/>
          <p:nvPr/>
        </p:nvSpPr>
        <p:spPr>
          <a:xfrm>
            <a:off x="567000" y="1481400"/>
            <a:ext cx="63720" cy="56664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80" name="Text 5"/>
          <p:cNvSpPr/>
          <p:nvPr/>
        </p:nvSpPr>
        <p:spPr>
          <a:xfrm>
            <a:off x="768240" y="160920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71" strike="noStrike">
                <a:solidFill>
                  <a:srgbClr val="CE1126"/>
                </a:solidFill>
                <a:effectLst/>
                <a:uFillTx/>
                <a:latin typeface="Montserrat"/>
              </a:rPr>
              <a:t>CGR</a:t>
            </a:r>
            <a:endParaRPr lang="es-CO" sz="800" b="0" u="none" strike="noStrike">
              <a:solidFill>
                <a:srgbClr val="000000"/>
              </a:solidFill>
              <a:effectLst/>
              <a:uFillTx/>
              <a:latin typeface="Arial"/>
            </a:endParaRPr>
          </a:p>
        </p:txBody>
      </p:sp>
      <p:sp>
        <p:nvSpPr>
          <p:cNvPr id="181" name="Text 6"/>
          <p:cNvSpPr/>
          <p:nvPr/>
        </p:nvSpPr>
        <p:spPr>
          <a:xfrm>
            <a:off x="1371600" y="1600200"/>
            <a:ext cx="173700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20" b="1" u="none" strike="noStrike">
                <a:solidFill>
                  <a:srgbClr val="172033"/>
                </a:solidFill>
                <a:effectLst/>
                <a:uFillTx/>
                <a:latin typeface="Montserrat"/>
              </a:rPr>
              <a:t>Responsabilidades fiscales</a:t>
            </a:r>
            <a:endParaRPr lang="es-CO" sz="820" b="0" u="none" strike="noStrike">
              <a:solidFill>
                <a:srgbClr val="000000"/>
              </a:solidFill>
              <a:effectLst/>
              <a:uFillTx/>
              <a:latin typeface="Arial"/>
            </a:endParaRPr>
          </a:p>
        </p:txBody>
      </p:sp>
      <p:sp>
        <p:nvSpPr>
          <p:cNvPr id="182" name="Shape 7"/>
          <p:cNvSpPr/>
          <p:nvPr/>
        </p:nvSpPr>
        <p:spPr>
          <a:xfrm>
            <a:off x="3456360" y="1591200"/>
            <a:ext cx="3470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83" name="Shape 8"/>
          <p:cNvSpPr/>
          <p:nvPr/>
        </p:nvSpPr>
        <p:spPr>
          <a:xfrm>
            <a:off x="567000" y="2304360"/>
            <a:ext cx="2742840" cy="566640"/>
          </a:xfrm>
          <a:prstGeom prst="roundRect">
            <a:avLst>
              <a:gd name="adj" fmla="val 6452"/>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84" name="Shape 9"/>
          <p:cNvSpPr/>
          <p:nvPr/>
        </p:nvSpPr>
        <p:spPr>
          <a:xfrm>
            <a:off x="567000" y="2304360"/>
            <a:ext cx="63720" cy="56664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85" name="Text 10"/>
          <p:cNvSpPr/>
          <p:nvPr/>
        </p:nvSpPr>
        <p:spPr>
          <a:xfrm>
            <a:off x="768240" y="243216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71" strike="noStrike">
                <a:solidFill>
                  <a:srgbClr val="004884"/>
                </a:solidFill>
                <a:effectLst/>
                <a:uFillTx/>
                <a:latin typeface="Montserrat"/>
              </a:rPr>
              <a:t>SIRI</a:t>
            </a:r>
            <a:endParaRPr lang="es-CO" sz="800" b="0" u="none" strike="noStrike">
              <a:solidFill>
                <a:srgbClr val="000000"/>
              </a:solidFill>
              <a:effectLst/>
              <a:uFillTx/>
              <a:latin typeface="Arial"/>
            </a:endParaRPr>
          </a:p>
        </p:txBody>
      </p:sp>
      <p:sp>
        <p:nvSpPr>
          <p:cNvPr id="186" name="Text 11"/>
          <p:cNvSpPr/>
          <p:nvPr/>
        </p:nvSpPr>
        <p:spPr>
          <a:xfrm>
            <a:off x="1371600" y="2423160"/>
            <a:ext cx="173700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20" b="1" u="none" strike="noStrike">
                <a:solidFill>
                  <a:srgbClr val="172033"/>
                </a:solidFill>
                <a:effectLst/>
                <a:uFillTx/>
                <a:latin typeface="Montserrat"/>
              </a:rPr>
              <a:t>Antecedentes disciplinarios</a:t>
            </a:r>
            <a:endParaRPr lang="es-CO" sz="820" b="0" u="none" strike="noStrike">
              <a:solidFill>
                <a:srgbClr val="000000"/>
              </a:solidFill>
              <a:effectLst/>
              <a:uFillTx/>
              <a:latin typeface="Arial"/>
            </a:endParaRPr>
          </a:p>
        </p:txBody>
      </p:sp>
      <p:sp>
        <p:nvSpPr>
          <p:cNvPr id="187" name="Shape 12"/>
          <p:cNvSpPr/>
          <p:nvPr/>
        </p:nvSpPr>
        <p:spPr>
          <a:xfrm>
            <a:off x="3456360" y="2414160"/>
            <a:ext cx="3470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88" name="Shape 13"/>
          <p:cNvSpPr/>
          <p:nvPr/>
        </p:nvSpPr>
        <p:spPr>
          <a:xfrm>
            <a:off x="567000" y="3127320"/>
            <a:ext cx="2742840" cy="566640"/>
          </a:xfrm>
          <a:prstGeom prst="roundRect">
            <a:avLst>
              <a:gd name="adj" fmla="val 6452"/>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89" name="Shape 14"/>
          <p:cNvSpPr/>
          <p:nvPr/>
        </p:nvSpPr>
        <p:spPr>
          <a:xfrm>
            <a:off x="567000" y="3127320"/>
            <a:ext cx="63720" cy="56664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90" name="Text 15"/>
          <p:cNvSpPr/>
          <p:nvPr/>
        </p:nvSpPr>
        <p:spPr>
          <a:xfrm>
            <a:off x="768240" y="325512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71" strike="noStrike">
                <a:solidFill>
                  <a:srgbClr val="FEC82F"/>
                </a:solidFill>
                <a:effectLst/>
                <a:uFillTx/>
                <a:latin typeface="Montserrat"/>
              </a:rPr>
              <a:t>FGN</a:t>
            </a:r>
            <a:endParaRPr lang="es-CO" sz="800" b="0" u="none" strike="noStrike">
              <a:solidFill>
                <a:srgbClr val="000000"/>
              </a:solidFill>
              <a:effectLst/>
              <a:uFillTx/>
              <a:latin typeface="Arial"/>
            </a:endParaRPr>
          </a:p>
        </p:txBody>
      </p:sp>
      <p:sp>
        <p:nvSpPr>
          <p:cNvPr id="191" name="Text 16"/>
          <p:cNvSpPr/>
          <p:nvPr/>
        </p:nvSpPr>
        <p:spPr>
          <a:xfrm>
            <a:off x="1371600" y="3246120"/>
            <a:ext cx="173700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20" b="1" u="none" strike="noStrike">
                <a:solidFill>
                  <a:srgbClr val="172033"/>
                </a:solidFill>
                <a:effectLst/>
                <a:uFillTx/>
                <a:latin typeface="Montserrat"/>
              </a:rPr>
              <a:t>Sanciones penales</a:t>
            </a:r>
            <a:endParaRPr lang="es-CO" sz="820" b="0" u="none" strike="noStrike">
              <a:solidFill>
                <a:srgbClr val="000000"/>
              </a:solidFill>
              <a:effectLst/>
              <a:uFillTx/>
              <a:latin typeface="Arial"/>
            </a:endParaRPr>
          </a:p>
        </p:txBody>
      </p:sp>
      <p:sp>
        <p:nvSpPr>
          <p:cNvPr id="192" name="Shape 17"/>
          <p:cNvSpPr/>
          <p:nvPr/>
        </p:nvSpPr>
        <p:spPr>
          <a:xfrm>
            <a:off x="3456360" y="3237120"/>
            <a:ext cx="3470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93" name="Shape 18"/>
          <p:cNvSpPr/>
          <p:nvPr/>
        </p:nvSpPr>
        <p:spPr>
          <a:xfrm>
            <a:off x="567000" y="3950280"/>
            <a:ext cx="2742840" cy="566640"/>
          </a:xfrm>
          <a:prstGeom prst="roundRect">
            <a:avLst>
              <a:gd name="adj" fmla="val 6452"/>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94" name="Shape 19"/>
          <p:cNvSpPr/>
          <p:nvPr/>
        </p:nvSpPr>
        <p:spPr>
          <a:xfrm>
            <a:off x="567000" y="3950280"/>
            <a:ext cx="63720" cy="56664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195" name="Text 20"/>
          <p:cNvSpPr/>
          <p:nvPr/>
        </p:nvSpPr>
        <p:spPr>
          <a:xfrm>
            <a:off x="768240" y="407808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71" strike="noStrike">
                <a:solidFill>
                  <a:srgbClr val="16865A"/>
                </a:solidFill>
                <a:effectLst/>
                <a:uFillTx/>
                <a:latin typeface="Montserrat"/>
              </a:rPr>
              <a:t>SECOP</a:t>
            </a:r>
            <a:endParaRPr lang="es-CO" sz="800" b="0" u="none" strike="noStrike">
              <a:solidFill>
                <a:srgbClr val="000000"/>
              </a:solidFill>
              <a:effectLst/>
              <a:uFillTx/>
              <a:latin typeface="Arial"/>
            </a:endParaRPr>
          </a:p>
        </p:txBody>
      </p:sp>
      <p:sp>
        <p:nvSpPr>
          <p:cNvPr id="196" name="Text 21"/>
          <p:cNvSpPr/>
          <p:nvPr/>
        </p:nvSpPr>
        <p:spPr>
          <a:xfrm>
            <a:off x="1371600" y="4069080"/>
            <a:ext cx="173700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20" b="1" u="none" strike="noStrike">
                <a:solidFill>
                  <a:srgbClr val="172033"/>
                </a:solidFill>
                <a:effectLst/>
                <a:uFillTx/>
                <a:latin typeface="Montserrat"/>
              </a:rPr>
              <a:t>Multas contractuales</a:t>
            </a:r>
            <a:endParaRPr lang="es-CO" sz="820" b="0" u="none" strike="noStrike">
              <a:solidFill>
                <a:srgbClr val="000000"/>
              </a:solidFill>
              <a:effectLst/>
              <a:uFillTx/>
              <a:latin typeface="Arial"/>
            </a:endParaRPr>
          </a:p>
        </p:txBody>
      </p:sp>
      <p:sp>
        <p:nvSpPr>
          <p:cNvPr id="197" name="Shape 22"/>
          <p:cNvSpPr/>
          <p:nvPr/>
        </p:nvSpPr>
        <p:spPr>
          <a:xfrm>
            <a:off x="3456360" y="4060080"/>
            <a:ext cx="3470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98" name="Shape 23"/>
          <p:cNvSpPr/>
          <p:nvPr/>
        </p:nvSpPr>
        <p:spPr>
          <a:xfrm>
            <a:off x="567000" y="4773240"/>
            <a:ext cx="2742840" cy="566640"/>
          </a:xfrm>
          <a:prstGeom prst="roundRect">
            <a:avLst>
              <a:gd name="adj" fmla="val 6452"/>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199" name="Shape 24"/>
          <p:cNvSpPr/>
          <p:nvPr/>
        </p:nvSpPr>
        <p:spPr>
          <a:xfrm>
            <a:off x="567000" y="4773240"/>
            <a:ext cx="63720" cy="566640"/>
          </a:xfrm>
          <a:prstGeom prst="rect">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00" name="Text 25"/>
          <p:cNvSpPr/>
          <p:nvPr/>
        </p:nvSpPr>
        <p:spPr>
          <a:xfrm>
            <a:off x="768240" y="490104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71" strike="noStrike">
                <a:solidFill>
                  <a:srgbClr val="002D58"/>
                </a:solidFill>
                <a:effectLst/>
                <a:uFillTx/>
                <a:latin typeface="Montserrat"/>
              </a:rPr>
              <a:t>OBRAS</a:t>
            </a:r>
            <a:endParaRPr lang="es-CO" sz="800" b="0" u="none" strike="noStrike">
              <a:solidFill>
                <a:srgbClr val="000000"/>
              </a:solidFill>
              <a:effectLst/>
              <a:uFillTx/>
              <a:latin typeface="Arial"/>
            </a:endParaRPr>
          </a:p>
        </p:txBody>
      </p:sp>
      <p:sp>
        <p:nvSpPr>
          <p:cNvPr id="201" name="Text 26"/>
          <p:cNvSpPr/>
          <p:nvPr/>
        </p:nvSpPr>
        <p:spPr>
          <a:xfrm>
            <a:off x="1371600" y="4892040"/>
            <a:ext cx="173700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20" b="1" u="none" strike="noStrike">
                <a:solidFill>
                  <a:srgbClr val="172033"/>
                </a:solidFill>
                <a:effectLst/>
                <a:uFillTx/>
                <a:latin typeface="Montserrat"/>
              </a:rPr>
              <a:t>Inconclusas o mal ejecutadas</a:t>
            </a:r>
            <a:endParaRPr lang="es-CO" sz="820" b="0" u="none" strike="noStrike">
              <a:solidFill>
                <a:srgbClr val="000000"/>
              </a:solidFill>
              <a:effectLst/>
              <a:uFillTx/>
              <a:latin typeface="Arial"/>
            </a:endParaRPr>
          </a:p>
        </p:txBody>
      </p:sp>
      <p:sp>
        <p:nvSpPr>
          <p:cNvPr id="202" name="Shape 27"/>
          <p:cNvSpPr/>
          <p:nvPr/>
        </p:nvSpPr>
        <p:spPr>
          <a:xfrm>
            <a:off x="3456360" y="4883040"/>
            <a:ext cx="3470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03" name="Shape 28"/>
          <p:cNvSpPr/>
          <p:nvPr/>
        </p:nvSpPr>
        <p:spPr>
          <a:xfrm>
            <a:off x="4005000" y="1481400"/>
            <a:ext cx="3702960" cy="3876840"/>
          </a:xfrm>
          <a:prstGeom prst="roundRect">
            <a:avLst>
              <a:gd name="adj" fmla="val 1975"/>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04" name="Text 29"/>
          <p:cNvSpPr/>
          <p:nvPr/>
        </p:nvSpPr>
        <p:spPr>
          <a:xfrm>
            <a:off x="4370760" y="1810440"/>
            <a:ext cx="73116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139" strike="noStrike">
                <a:solidFill>
                  <a:srgbClr val="FEC82F"/>
                </a:solidFill>
                <a:effectLst/>
                <a:uFillTx/>
                <a:latin typeface="Montserrat"/>
              </a:rPr>
              <a:t>API</a:t>
            </a:r>
            <a:endParaRPr lang="es-CO" sz="1200" b="0" u="none" strike="noStrike">
              <a:solidFill>
                <a:srgbClr val="000000"/>
              </a:solidFill>
              <a:effectLst/>
              <a:uFillTx/>
              <a:latin typeface="Arial"/>
            </a:endParaRPr>
          </a:p>
        </p:txBody>
      </p:sp>
      <p:sp>
        <p:nvSpPr>
          <p:cNvPr id="205" name="Text 30"/>
          <p:cNvSpPr/>
          <p:nvPr/>
        </p:nvSpPr>
        <p:spPr>
          <a:xfrm>
            <a:off x="4370760" y="2212920"/>
            <a:ext cx="288000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Montserrat"/>
              </a:rPr>
              <a:t>Anticorrupción</a:t>
            </a:r>
            <a:endParaRPr lang="es-CO" sz="2400" b="0" u="none" strike="noStrike">
              <a:solidFill>
                <a:srgbClr val="000000"/>
              </a:solidFill>
              <a:effectLst/>
              <a:uFillTx/>
              <a:latin typeface="Arial"/>
            </a:endParaRPr>
          </a:p>
          <a:p>
            <a:pPr defTabSz="914400">
              <a:lnSpc>
                <a:spcPct val="100000"/>
              </a:lnSpc>
              <a:tabLst>
                <a:tab pos="0" algn="l"/>
              </a:tabLst>
            </a:pPr>
            <a:r>
              <a:rPr lang="en-US" sz="2400" b="1" u="none" strike="noStrike">
                <a:solidFill>
                  <a:srgbClr val="FFFFFF"/>
                </a:solidFill>
                <a:effectLst/>
                <a:uFillTx/>
                <a:latin typeface="Montserrat"/>
              </a:rPr>
              <a:t>Colombia</a:t>
            </a:r>
            <a:endParaRPr lang="es-CO" sz="2400" b="0" u="none" strike="noStrike">
              <a:solidFill>
                <a:srgbClr val="000000"/>
              </a:solidFill>
              <a:effectLst/>
              <a:uFillTx/>
              <a:latin typeface="Arial"/>
            </a:endParaRPr>
          </a:p>
        </p:txBody>
      </p:sp>
      <p:sp>
        <p:nvSpPr>
          <p:cNvPr id="206" name="Text 31"/>
          <p:cNvSpPr/>
          <p:nvPr/>
        </p:nvSpPr>
        <p:spPr>
          <a:xfrm>
            <a:off x="4370760" y="3246120"/>
            <a:ext cx="2907360" cy="840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DCE7F3"/>
                </a:solidFill>
                <a:effectLst/>
                <a:uFillTx/>
                <a:latin typeface="Montserrat"/>
              </a:rPr>
              <a:t>Bun + Elysia · SQLite</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DCE7F3"/>
                </a:solidFill>
                <a:effectLst/>
                <a:uFillTx/>
                <a:latin typeface="Montserrat"/>
              </a:rPr>
              <a:t>Normalización · índices · búsqueda unificada</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DCE7F3"/>
                </a:solidFill>
                <a:effectLst/>
                <a:uFillTx/>
                <a:latin typeface="Montserrat"/>
              </a:rPr>
              <a:t>Documentación Swagger</a:t>
            </a:r>
            <a:endParaRPr lang="es-CO" sz="1000" b="0" u="none" strike="noStrike">
              <a:solidFill>
                <a:srgbClr val="000000"/>
              </a:solidFill>
              <a:effectLst/>
              <a:uFillTx/>
              <a:latin typeface="Arial"/>
            </a:endParaRPr>
          </a:p>
        </p:txBody>
      </p:sp>
      <p:sp>
        <p:nvSpPr>
          <p:cNvPr id="207" name="Shape 32"/>
          <p:cNvSpPr/>
          <p:nvPr/>
        </p:nvSpPr>
        <p:spPr>
          <a:xfrm>
            <a:off x="4572000" y="4462200"/>
            <a:ext cx="1325520" cy="310680"/>
          </a:xfrm>
          <a:prstGeom prst="roundRect">
            <a:avLst>
              <a:gd name="adj" fmla="val 23529"/>
            </a:avLst>
          </a:prstGeom>
          <a:solidFill>
            <a:srgbClr val="FFF9DF"/>
          </a:solidFill>
          <a:ln w="1016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08" name="Text 33"/>
          <p:cNvSpPr/>
          <p:nvPr/>
        </p:nvSpPr>
        <p:spPr>
          <a:xfrm>
            <a:off x="4645080" y="4526280"/>
            <a:ext cx="117936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80" b="1" u="none" strike="noStrike">
                <a:solidFill>
                  <a:srgbClr val="FEC82F"/>
                </a:solidFill>
                <a:effectLst/>
                <a:uFillTx/>
                <a:latin typeface="Montserrat"/>
                <a:ea typeface="Montserrat"/>
              </a:rPr>
              <a:t>REUTILIZABLE</a:t>
            </a:r>
            <a:endParaRPr lang="es-CO" sz="680" b="0" u="none" strike="noStrike">
              <a:solidFill>
                <a:srgbClr val="000000"/>
              </a:solidFill>
              <a:effectLst/>
              <a:uFillTx/>
              <a:latin typeface="Arial"/>
            </a:endParaRPr>
          </a:p>
        </p:txBody>
      </p:sp>
      <p:sp>
        <p:nvSpPr>
          <p:cNvPr id="209" name="Shape 34"/>
          <p:cNvSpPr/>
          <p:nvPr/>
        </p:nvSpPr>
        <p:spPr>
          <a:xfrm>
            <a:off x="6053400" y="4462200"/>
            <a:ext cx="1261440" cy="310680"/>
          </a:xfrm>
          <a:prstGeom prst="roundRect">
            <a:avLst>
              <a:gd name="adj" fmla="val 23529"/>
            </a:avLst>
          </a:prstGeom>
          <a:solidFill>
            <a:srgbClr val="EAF7F1"/>
          </a:solidFill>
          <a:ln w="1016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10" name="Text 35"/>
          <p:cNvSpPr/>
          <p:nvPr/>
        </p:nvSpPr>
        <p:spPr>
          <a:xfrm>
            <a:off x="6126480" y="4526280"/>
            <a:ext cx="111528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80" b="1" u="none" strike="noStrike">
                <a:solidFill>
                  <a:srgbClr val="16865A"/>
                </a:solidFill>
                <a:effectLst/>
                <a:uFillTx/>
                <a:latin typeface="Montserrat"/>
                <a:ea typeface="Montserrat"/>
              </a:rPr>
              <a:t>DESACOPLADA</a:t>
            </a:r>
            <a:endParaRPr lang="es-CO" sz="680" b="0" u="none" strike="noStrike">
              <a:solidFill>
                <a:srgbClr val="000000"/>
              </a:solidFill>
              <a:effectLst/>
              <a:uFillTx/>
              <a:latin typeface="Arial"/>
            </a:endParaRPr>
          </a:p>
        </p:txBody>
      </p:sp>
      <p:sp>
        <p:nvSpPr>
          <p:cNvPr id="211" name="Text 36"/>
          <p:cNvSpPr/>
          <p:nvPr/>
        </p:nvSpPr>
        <p:spPr>
          <a:xfrm>
            <a:off x="4407480" y="5010840"/>
            <a:ext cx="288000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80" b="1" u="none" strike="noStrike">
                <a:solidFill>
                  <a:srgbClr val="FFFFFF"/>
                </a:solidFill>
                <a:effectLst/>
                <a:uFillTx/>
                <a:latin typeface="Montserrat"/>
              </a:rPr>
              <a:t>Un servicio independiente de la interfaz web</a:t>
            </a:r>
            <a:endParaRPr lang="es-CO" sz="780" b="0" u="none" strike="noStrike">
              <a:solidFill>
                <a:srgbClr val="000000"/>
              </a:solidFill>
              <a:effectLst/>
              <a:uFillTx/>
              <a:latin typeface="Arial"/>
            </a:endParaRPr>
          </a:p>
        </p:txBody>
      </p:sp>
      <p:sp>
        <p:nvSpPr>
          <p:cNvPr id="212" name="Shape 37"/>
          <p:cNvSpPr/>
          <p:nvPr/>
        </p:nvSpPr>
        <p:spPr>
          <a:xfrm>
            <a:off x="7891200" y="3200400"/>
            <a:ext cx="3654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13" name="Shape 38"/>
          <p:cNvSpPr/>
          <p:nvPr/>
        </p:nvSpPr>
        <p:spPr>
          <a:xfrm>
            <a:off x="8430840" y="1481400"/>
            <a:ext cx="3154320" cy="1874160"/>
          </a:xfrm>
          <a:prstGeom prst="roundRect">
            <a:avLst>
              <a:gd name="adj" fmla="val 3902"/>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14" name="Shape 39"/>
          <p:cNvSpPr/>
          <p:nvPr/>
        </p:nvSpPr>
        <p:spPr>
          <a:xfrm>
            <a:off x="8430840" y="1481400"/>
            <a:ext cx="63720" cy="187416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15" name="Text 40"/>
          <p:cNvSpPr/>
          <p:nvPr/>
        </p:nvSpPr>
        <p:spPr>
          <a:xfrm>
            <a:off x="8632080" y="1645920"/>
            <a:ext cx="2788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002D58"/>
                </a:solidFill>
                <a:effectLst/>
                <a:uFillTx/>
                <a:latin typeface="Montserrat"/>
                <a:ea typeface="Montserrat"/>
              </a:rPr>
              <a:t>Endpoints principales</a:t>
            </a:r>
            <a:endParaRPr lang="es-CO" sz="1150" b="0" u="none" strike="noStrike">
              <a:solidFill>
                <a:srgbClr val="000000"/>
              </a:solidFill>
              <a:effectLst/>
              <a:uFillTx/>
              <a:latin typeface="Arial"/>
            </a:endParaRPr>
          </a:p>
        </p:txBody>
      </p:sp>
      <p:sp>
        <p:nvSpPr>
          <p:cNvPr id="216" name="Text 41"/>
          <p:cNvSpPr/>
          <p:nvPr/>
        </p:nvSpPr>
        <p:spPr>
          <a:xfrm>
            <a:off x="8632080" y="2011680"/>
            <a:ext cx="2788560" cy="1215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033"/>
                </a:solidFill>
                <a:effectLst/>
                <a:uFillTx/>
                <a:latin typeface="Montserrat"/>
                <a:ea typeface="Montserrat"/>
              </a:rPr>
              <a:t>/search — búsqueda en todas las bases</a:t>
            </a:r>
            <a:endParaRPr lang="es-CO"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033"/>
                </a:solidFill>
                <a:effectLst/>
                <a:uFillTx/>
                <a:latin typeface="Montserrat"/>
                <a:ea typeface="Montserrat"/>
              </a:rPr>
              <a:t>/persona/:documento — perfil integral</a:t>
            </a:r>
            <a:endParaRPr lang="es-CO"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033"/>
                </a:solidFill>
                <a:effectLst/>
                <a:uFillTx/>
                <a:latin typeface="Montserrat"/>
                <a:ea typeface="Montserrat"/>
              </a:rPr>
              <a:t>/stats — indicadores consolidados</a:t>
            </a:r>
            <a:endParaRPr lang="es-CO"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033"/>
                </a:solidFill>
                <a:effectLst/>
                <a:uFillTx/>
                <a:latin typeface="Montserrat"/>
                <a:ea typeface="Montserrat"/>
              </a:rPr>
              <a:t>/rutas especializadas — fiscal, disciplinario, penal, multas y obras</a:t>
            </a:r>
            <a:endParaRPr lang="es-CO" sz="820" b="0" u="none" strike="noStrike">
              <a:solidFill>
                <a:srgbClr val="000000"/>
              </a:solidFill>
              <a:effectLst/>
              <a:uFillTx/>
              <a:latin typeface="Arial"/>
            </a:endParaRPr>
          </a:p>
        </p:txBody>
      </p:sp>
      <p:sp>
        <p:nvSpPr>
          <p:cNvPr id="217" name="Shape 42"/>
          <p:cNvSpPr/>
          <p:nvPr/>
        </p:nvSpPr>
        <p:spPr>
          <a:xfrm>
            <a:off x="8430840" y="3639240"/>
            <a:ext cx="3154320" cy="1718640"/>
          </a:xfrm>
          <a:prstGeom prst="roundRect">
            <a:avLst>
              <a:gd name="adj" fmla="val 425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18" name="Shape 43"/>
          <p:cNvSpPr/>
          <p:nvPr/>
        </p:nvSpPr>
        <p:spPr>
          <a:xfrm>
            <a:off x="8430840" y="3639240"/>
            <a:ext cx="63720" cy="171864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19" name="Text 44"/>
          <p:cNvSpPr/>
          <p:nvPr/>
        </p:nvSpPr>
        <p:spPr>
          <a:xfrm>
            <a:off x="8632080" y="3803760"/>
            <a:ext cx="2788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002D58"/>
                </a:solidFill>
                <a:effectLst/>
                <a:uFillTx/>
                <a:latin typeface="Montserrat"/>
                <a:ea typeface="Montserrat"/>
              </a:rPr>
              <a:t>Consumidores</a:t>
            </a:r>
            <a:endParaRPr lang="es-CO" sz="1150" b="0" u="none" strike="noStrike">
              <a:solidFill>
                <a:srgbClr val="000000"/>
              </a:solidFill>
              <a:effectLst/>
              <a:uFillTx/>
              <a:latin typeface="Arial"/>
            </a:endParaRPr>
          </a:p>
        </p:txBody>
      </p:sp>
      <p:sp>
        <p:nvSpPr>
          <p:cNvPr id="220" name="Text 45"/>
          <p:cNvSpPr/>
          <p:nvPr/>
        </p:nvSpPr>
        <p:spPr>
          <a:xfrm>
            <a:off x="8632080" y="4169520"/>
            <a:ext cx="2788560" cy="10602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172033"/>
                </a:solidFill>
                <a:effectLst/>
                <a:uFillTx/>
                <a:latin typeface="Montserrat"/>
                <a:ea typeface="Montserrat"/>
              </a:rPr>
              <a:t>Dashboard ciudadano</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Score de riesgo</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Asistente Hive Agents</a:t>
            </a:r>
            <a:endParaRPr lang="es-CO"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172033"/>
                </a:solidFill>
                <a:effectLst/>
                <a:uFillTx/>
                <a:latin typeface="Montserrat"/>
                <a:ea typeface="Montserrat"/>
              </a:rPr>
              <a:t>Entidades y aplicaciones externas</a:t>
            </a:r>
            <a:endParaRPr lang="es-CO" sz="900" b="0" u="none" strike="noStrike">
              <a:solidFill>
                <a:srgbClr val="000000"/>
              </a:solidFill>
              <a:effectLst/>
              <a:uFillTx/>
              <a:latin typeface="Arial"/>
            </a:endParaRPr>
          </a:p>
        </p:txBody>
      </p:sp>
      <p:sp>
        <p:nvSpPr>
          <p:cNvPr id="221" name="Shape 46"/>
          <p:cNvSpPr/>
          <p:nvPr/>
        </p:nvSpPr>
        <p:spPr>
          <a:xfrm>
            <a:off x="1024200" y="5687640"/>
            <a:ext cx="10195200" cy="493560"/>
          </a:xfrm>
          <a:prstGeom prst="roundRect">
            <a:avLst>
              <a:gd name="adj" fmla="val 7407"/>
            </a:avLst>
          </a:prstGeom>
          <a:solidFill>
            <a:srgbClr val="EDF3F8"/>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22" name="Text 47"/>
          <p:cNvSpPr/>
          <p:nvPr/>
        </p:nvSpPr>
        <p:spPr>
          <a:xfrm>
            <a:off x="1298520" y="5852160"/>
            <a:ext cx="96465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20" b="1" u="none" strike="noStrike">
                <a:solidFill>
                  <a:srgbClr val="002D58"/>
                </a:solidFill>
                <a:effectLst/>
                <a:uFillTx/>
                <a:latin typeface="Montserrat"/>
              </a:rPr>
              <a:t>VALOR AGREGADO · Una sola consulta devuelve antecedentes cruzados y evidencia estructurada, sin obligar al consumidor a integrar cinco fuentes.</a:t>
            </a:r>
            <a:endParaRPr lang="es-CO" sz="820" b="0" u="none" strike="noStrike">
              <a:solidFill>
                <a:srgbClr val="000000"/>
              </a:solidFill>
              <a:effectLst/>
              <a:uFillTx/>
              <a:latin typeface="Arial"/>
            </a:endParaRPr>
          </a:p>
        </p:txBody>
      </p:sp>
      <p:sp>
        <p:nvSpPr>
          <p:cNvPr id="223" name="PlaceHolder 1"/>
          <p:cNvSpPr>
            <a:spLocks noGrp="1"/>
          </p:cNvSpPr>
          <p:nvPr>
            <p:ph type="sldNum" idx="11"/>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8775546F-6A4C-4026-960A-DB5EFFFEE55F}" type="slidenum">
              <a:rPr lang="en-US" sz="600" b="0" u="none" strike="noStrike">
                <a:solidFill>
                  <a:srgbClr val="718096"/>
                </a:solidFill>
                <a:effectLst/>
                <a:uFillTx/>
                <a:latin typeface="Montserrat"/>
                <a:ea typeface="Montserrat"/>
              </a:rPr>
              <a:t>7</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PROPUESTA DE VALOR</a:t>
            </a:r>
            <a:endParaRPr lang="es-CO" sz="750" b="0" u="none" strike="noStrike">
              <a:solidFill>
                <a:srgbClr val="000000"/>
              </a:solidFill>
              <a:effectLst/>
              <a:uFillTx/>
              <a:latin typeface="Arial"/>
            </a:endParaRPr>
          </a:p>
        </p:txBody>
      </p:sp>
      <p:sp>
        <p:nvSpPr>
          <p:cNvPr id="225"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No entregamos otra tabla: entregamos contexto para actuar</a:t>
            </a:r>
            <a:endParaRPr lang="es-CO" sz="2500" b="0" u="none" strike="noStrike">
              <a:solidFill>
                <a:srgbClr val="000000"/>
              </a:solidFill>
              <a:effectLst/>
              <a:uFillTx/>
              <a:latin typeface="Arial"/>
            </a:endParaRPr>
          </a:p>
        </p:txBody>
      </p:sp>
      <p:sp>
        <p:nvSpPr>
          <p:cNvPr id="226"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La ventaja está en combinar integración, explicación, anomalías y conversación en una sola experiencia.</a:t>
            </a:r>
            <a:endParaRPr lang="es-CO" sz="950" b="0" u="none" strike="noStrike">
              <a:solidFill>
                <a:srgbClr val="000000"/>
              </a:solidFill>
              <a:effectLst/>
              <a:uFillTx/>
              <a:latin typeface="Arial"/>
            </a:endParaRPr>
          </a:p>
        </p:txBody>
      </p:sp>
      <p:sp>
        <p:nvSpPr>
          <p:cNvPr id="227" name="Text 3"/>
          <p:cNvSpPr/>
          <p:nvPr/>
        </p:nvSpPr>
        <p:spPr>
          <a:xfrm>
            <a:off x="658440" y="1554480"/>
            <a:ext cx="19198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30" strike="noStrike">
                <a:solidFill>
                  <a:srgbClr val="CE1126"/>
                </a:solidFill>
                <a:effectLst/>
                <a:uFillTx/>
                <a:latin typeface="Montserrat"/>
              </a:rPr>
              <a:t>ANTES</a:t>
            </a:r>
            <a:endParaRPr lang="es-CO" sz="1100" b="0" u="none" strike="noStrike">
              <a:solidFill>
                <a:srgbClr val="000000"/>
              </a:solidFill>
              <a:effectLst/>
              <a:uFillTx/>
              <a:latin typeface="Arial"/>
            </a:endParaRPr>
          </a:p>
        </p:txBody>
      </p:sp>
      <p:sp>
        <p:nvSpPr>
          <p:cNvPr id="228" name="Text 4"/>
          <p:cNvSpPr/>
          <p:nvPr/>
        </p:nvSpPr>
        <p:spPr>
          <a:xfrm>
            <a:off x="6355080" y="1554480"/>
            <a:ext cx="29257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30" strike="noStrike">
                <a:solidFill>
                  <a:srgbClr val="16865A"/>
                </a:solidFill>
                <a:effectLst/>
                <a:uFillTx/>
                <a:latin typeface="Montserrat"/>
              </a:rPr>
              <a:t>CON EL OBSERVATORIO</a:t>
            </a:r>
            <a:endParaRPr lang="es-CO" sz="1100" b="0" u="none" strike="noStrike">
              <a:solidFill>
                <a:srgbClr val="000000"/>
              </a:solidFill>
              <a:effectLst/>
              <a:uFillTx/>
              <a:latin typeface="Arial"/>
            </a:endParaRPr>
          </a:p>
        </p:txBody>
      </p:sp>
      <p:sp>
        <p:nvSpPr>
          <p:cNvPr id="229" name="Shape 5"/>
          <p:cNvSpPr/>
          <p:nvPr/>
        </p:nvSpPr>
        <p:spPr>
          <a:xfrm>
            <a:off x="658440" y="2030040"/>
            <a:ext cx="4525920" cy="529920"/>
          </a:xfrm>
          <a:prstGeom prst="roundRect">
            <a:avLst>
              <a:gd name="adj" fmla="val 6897"/>
            </a:avLst>
          </a:prstGeom>
          <a:solidFill>
            <a:srgbClr val="FDEBEC"/>
          </a:solidFill>
          <a:ln w="12700">
            <a:solidFill>
              <a:srgbClr val="F5C4C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30" name="Text 6"/>
          <p:cNvSpPr/>
          <p:nvPr/>
        </p:nvSpPr>
        <p:spPr>
          <a:xfrm>
            <a:off x="896040" y="2194560"/>
            <a:ext cx="402300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72033"/>
                </a:solidFill>
                <a:effectLst/>
                <a:uFillTx/>
                <a:latin typeface="Montserrat"/>
              </a:rPr>
              <a:t>Buscar fuente por fuente</a:t>
            </a:r>
            <a:endParaRPr lang="es-CO" sz="1000" b="0" u="none" strike="noStrike">
              <a:solidFill>
                <a:srgbClr val="000000"/>
              </a:solidFill>
              <a:effectLst/>
              <a:uFillTx/>
              <a:latin typeface="Arial"/>
            </a:endParaRPr>
          </a:p>
        </p:txBody>
      </p:sp>
      <p:sp>
        <p:nvSpPr>
          <p:cNvPr id="231" name="Shape 7"/>
          <p:cNvSpPr/>
          <p:nvPr/>
        </p:nvSpPr>
        <p:spPr>
          <a:xfrm>
            <a:off x="5376600" y="2121480"/>
            <a:ext cx="5666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32" name="Shape 8"/>
          <p:cNvSpPr/>
          <p:nvPr/>
        </p:nvSpPr>
        <p:spPr>
          <a:xfrm>
            <a:off x="6144840" y="2030040"/>
            <a:ext cx="5348880" cy="529920"/>
          </a:xfrm>
          <a:prstGeom prst="roundRect">
            <a:avLst>
              <a:gd name="adj" fmla="val 6897"/>
            </a:avLst>
          </a:prstGeom>
          <a:solidFill>
            <a:srgbClr val="EAF7F1"/>
          </a:solidFill>
          <a:ln w="12700">
            <a:solidFill>
              <a:srgbClr val="B8DEC9"/>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33" name="Text 9"/>
          <p:cNvSpPr/>
          <p:nvPr/>
        </p:nvSpPr>
        <p:spPr>
          <a:xfrm>
            <a:off x="6382440" y="2194560"/>
            <a:ext cx="48459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2D58"/>
                </a:solidFill>
                <a:effectLst/>
                <a:uFillTx/>
                <a:latin typeface="Montserrat"/>
              </a:rPr>
              <a:t>Consulta integrada por NIT, nombre o sector</a:t>
            </a:r>
            <a:endParaRPr lang="es-CO" sz="1000" b="0" u="none" strike="noStrike">
              <a:solidFill>
                <a:srgbClr val="000000"/>
              </a:solidFill>
              <a:effectLst/>
              <a:uFillTx/>
              <a:latin typeface="Arial"/>
            </a:endParaRPr>
          </a:p>
        </p:txBody>
      </p:sp>
      <p:sp>
        <p:nvSpPr>
          <p:cNvPr id="234" name="Shape 10"/>
          <p:cNvSpPr/>
          <p:nvPr/>
        </p:nvSpPr>
        <p:spPr>
          <a:xfrm>
            <a:off x="658440" y="2779920"/>
            <a:ext cx="4525920" cy="529920"/>
          </a:xfrm>
          <a:prstGeom prst="roundRect">
            <a:avLst>
              <a:gd name="adj" fmla="val 6897"/>
            </a:avLst>
          </a:prstGeom>
          <a:solidFill>
            <a:srgbClr val="FDEBEC"/>
          </a:solidFill>
          <a:ln w="12700">
            <a:solidFill>
              <a:srgbClr val="F5C4C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35" name="Text 11"/>
          <p:cNvSpPr/>
          <p:nvPr/>
        </p:nvSpPr>
        <p:spPr>
          <a:xfrm>
            <a:off x="896040" y="2944440"/>
            <a:ext cx="402300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72033"/>
                </a:solidFill>
                <a:effectLst/>
                <a:uFillTx/>
                <a:latin typeface="Montserrat"/>
              </a:rPr>
              <a:t>Interpretar códigos y columnas</a:t>
            </a:r>
            <a:endParaRPr lang="es-CO" sz="1000" b="0" u="none" strike="noStrike">
              <a:solidFill>
                <a:srgbClr val="000000"/>
              </a:solidFill>
              <a:effectLst/>
              <a:uFillTx/>
              <a:latin typeface="Arial"/>
            </a:endParaRPr>
          </a:p>
        </p:txBody>
      </p:sp>
      <p:sp>
        <p:nvSpPr>
          <p:cNvPr id="236" name="Shape 12"/>
          <p:cNvSpPr/>
          <p:nvPr/>
        </p:nvSpPr>
        <p:spPr>
          <a:xfrm>
            <a:off x="5376600" y="2871360"/>
            <a:ext cx="5666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37" name="Shape 13"/>
          <p:cNvSpPr/>
          <p:nvPr/>
        </p:nvSpPr>
        <p:spPr>
          <a:xfrm>
            <a:off x="6144840" y="2779920"/>
            <a:ext cx="5348880" cy="529920"/>
          </a:xfrm>
          <a:prstGeom prst="roundRect">
            <a:avLst>
              <a:gd name="adj" fmla="val 6897"/>
            </a:avLst>
          </a:prstGeom>
          <a:solidFill>
            <a:srgbClr val="EAF7F1"/>
          </a:solidFill>
          <a:ln w="12700">
            <a:solidFill>
              <a:srgbClr val="B8DEC9"/>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38" name="Text 14"/>
          <p:cNvSpPr/>
          <p:nvPr/>
        </p:nvSpPr>
        <p:spPr>
          <a:xfrm>
            <a:off x="6382440" y="2944440"/>
            <a:ext cx="48459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2D58"/>
                </a:solidFill>
                <a:effectLst/>
                <a:uFillTx/>
                <a:latin typeface="Montserrat"/>
              </a:rPr>
              <a:t>Banderas legibles con puntos y evidencia</a:t>
            </a:r>
            <a:endParaRPr lang="es-CO" sz="1000" b="0" u="none" strike="noStrike">
              <a:solidFill>
                <a:srgbClr val="000000"/>
              </a:solidFill>
              <a:effectLst/>
              <a:uFillTx/>
              <a:latin typeface="Arial"/>
            </a:endParaRPr>
          </a:p>
        </p:txBody>
      </p:sp>
      <p:sp>
        <p:nvSpPr>
          <p:cNvPr id="239" name="Shape 15"/>
          <p:cNvSpPr/>
          <p:nvPr/>
        </p:nvSpPr>
        <p:spPr>
          <a:xfrm>
            <a:off x="658440" y="3529440"/>
            <a:ext cx="4525920" cy="529920"/>
          </a:xfrm>
          <a:prstGeom prst="roundRect">
            <a:avLst>
              <a:gd name="adj" fmla="val 6897"/>
            </a:avLst>
          </a:prstGeom>
          <a:solidFill>
            <a:srgbClr val="FDEBEC"/>
          </a:solidFill>
          <a:ln w="12700">
            <a:solidFill>
              <a:srgbClr val="F5C4C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40" name="Text 16"/>
          <p:cNvSpPr/>
          <p:nvPr/>
        </p:nvSpPr>
        <p:spPr>
          <a:xfrm>
            <a:off x="896040" y="3694320"/>
            <a:ext cx="402300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72033"/>
                </a:solidFill>
                <a:effectLst/>
                <a:uFillTx/>
                <a:latin typeface="Montserrat"/>
              </a:rPr>
              <a:t>Revisar sin prioridad</a:t>
            </a:r>
            <a:endParaRPr lang="es-CO" sz="1000" b="0" u="none" strike="noStrike">
              <a:solidFill>
                <a:srgbClr val="000000"/>
              </a:solidFill>
              <a:effectLst/>
              <a:uFillTx/>
              <a:latin typeface="Arial"/>
            </a:endParaRPr>
          </a:p>
        </p:txBody>
      </p:sp>
      <p:sp>
        <p:nvSpPr>
          <p:cNvPr id="241" name="Shape 17"/>
          <p:cNvSpPr/>
          <p:nvPr/>
        </p:nvSpPr>
        <p:spPr>
          <a:xfrm>
            <a:off x="5376600" y="3620880"/>
            <a:ext cx="5666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42" name="Shape 18"/>
          <p:cNvSpPr/>
          <p:nvPr/>
        </p:nvSpPr>
        <p:spPr>
          <a:xfrm>
            <a:off x="6144840" y="3529440"/>
            <a:ext cx="5348880" cy="529920"/>
          </a:xfrm>
          <a:prstGeom prst="roundRect">
            <a:avLst>
              <a:gd name="adj" fmla="val 6897"/>
            </a:avLst>
          </a:prstGeom>
          <a:solidFill>
            <a:srgbClr val="EAF7F1"/>
          </a:solidFill>
          <a:ln w="12700">
            <a:solidFill>
              <a:srgbClr val="B8DEC9"/>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43" name="Text 19"/>
          <p:cNvSpPr/>
          <p:nvPr/>
        </p:nvSpPr>
        <p:spPr>
          <a:xfrm>
            <a:off x="6382440" y="3694320"/>
            <a:ext cx="48459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2D58"/>
                </a:solidFill>
                <a:effectLst/>
                <a:uFillTx/>
                <a:latin typeface="Montserrat"/>
              </a:rPr>
              <a:t>Semáforo para focalizar la revisión</a:t>
            </a:r>
            <a:endParaRPr lang="es-CO" sz="1000" b="0" u="none" strike="noStrike">
              <a:solidFill>
                <a:srgbClr val="000000"/>
              </a:solidFill>
              <a:effectLst/>
              <a:uFillTx/>
              <a:latin typeface="Arial"/>
            </a:endParaRPr>
          </a:p>
        </p:txBody>
      </p:sp>
      <p:sp>
        <p:nvSpPr>
          <p:cNvPr id="244" name="Shape 20"/>
          <p:cNvSpPr/>
          <p:nvPr/>
        </p:nvSpPr>
        <p:spPr>
          <a:xfrm>
            <a:off x="658440" y="4279320"/>
            <a:ext cx="4525920" cy="529920"/>
          </a:xfrm>
          <a:prstGeom prst="roundRect">
            <a:avLst>
              <a:gd name="adj" fmla="val 6897"/>
            </a:avLst>
          </a:prstGeom>
          <a:solidFill>
            <a:srgbClr val="FDEBEC"/>
          </a:solidFill>
          <a:ln w="12700">
            <a:solidFill>
              <a:srgbClr val="F5C4C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45" name="Text 21"/>
          <p:cNvSpPr/>
          <p:nvPr/>
        </p:nvSpPr>
        <p:spPr>
          <a:xfrm>
            <a:off x="896040" y="4443840"/>
            <a:ext cx="402300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72033"/>
                </a:solidFill>
                <a:effectLst/>
                <a:uFillTx/>
                <a:latin typeface="Montserrat"/>
              </a:rPr>
              <a:t>Necesitar lenguaje técnico</a:t>
            </a:r>
            <a:endParaRPr lang="es-CO" sz="1000" b="0" u="none" strike="noStrike">
              <a:solidFill>
                <a:srgbClr val="000000"/>
              </a:solidFill>
              <a:effectLst/>
              <a:uFillTx/>
              <a:latin typeface="Arial"/>
            </a:endParaRPr>
          </a:p>
        </p:txBody>
      </p:sp>
      <p:sp>
        <p:nvSpPr>
          <p:cNvPr id="246" name="Shape 22"/>
          <p:cNvSpPr/>
          <p:nvPr/>
        </p:nvSpPr>
        <p:spPr>
          <a:xfrm>
            <a:off x="5376600" y="4370760"/>
            <a:ext cx="56664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47" name="Shape 23"/>
          <p:cNvSpPr/>
          <p:nvPr/>
        </p:nvSpPr>
        <p:spPr>
          <a:xfrm>
            <a:off x="6144840" y="4279320"/>
            <a:ext cx="5348880" cy="529920"/>
          </a:xfrm>
          <a:prstGeom prst="roundRect">
            <a:avLst>
              <a:gd name="adj" fmla="val 6897"/>
            </a:avLst>
          </a:prstGeom>
          <a:solidFill>
            <a:srgbClr val="EAF7F1"/>
          </a:solidFill>
          <a:ln w="12700">
            <a:solidFill>
              <a:srgbClr val="B8DEC9"/>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48" name="Text 24"/>
          <p:cNvSpPr/>
          <p:nvPr/>
        </p:nvSpPr>
        <p:spPr>
          <a:xfrm>
            <a:off x="6382440" y="4443840"/>
            <a:ext cx="48459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2D58"/>
                </a:solidFill>
                <a:effectLst/>
                <a:uFillTx/>
                <a:latin typeface="Montserrat"/>
              </a:rPr>
              <a:t>Preguntar en lenguaje natural</a:t>
            </a:r>
            <a:endParaRPr lang="es-CO" sz="1000" b="0" u="none" strike="noStrike">
              <a:solidFill>
                <a:srgbClr val="000000"/>
              </a:solidFill>
              <a:effectLst/>
              <a:uFillTx/>
              <a:latin typeface="Arial"/>
            </a:endParaRPr>
          </a:p>
        </p:txBody>
      </p:sp>
      <p:sp>
        <p:nvSpPr>
          <p:cNvPr id="249" name="Shape 25"/>
          <p:cNvSpPr/>
          <p:nvPr/>
        </p:nvSpPr>
        <p:spPr>
          <a:xfrm>
            <a:off x="658440" y="5285160"/>
            <a:ext cx="10835280" cy="658080"/>
          </a:xfrm>
          <a:prstGeom prst="roundRect">
            <a:avLst>
              <a:gd name="adj" fmla="val 6944"/>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50" name="Text 26"/>
          <p:cNvSpPr/>
          <p:nvPr/>
        </p:nvSpPr>
        <p:spPr>
          <a:xfrm>
            <a:off x="960120" y="5504760"/>
            <a:ext cx="10240920" cy="219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20" b="1" u="none" strike="noStrike">
                <a:solidFill>
                  <a:srgbClr val="FFFFFF"/>
                </a:solidFill>
                <a:effectLst/>
                <a:uFillTx/>
                <a:latin typeface="Montserrat"/>
              </a:rPr>
              <a:t>DIFERENCIAL: API reutilizable + reglas explicables + anomalías por sector + asistente con herramientas + trazabilidad</a:t>
            </a:r>
            <a:endParaRPr lang="es-CO" sz="1120" b="0" u="none" strike="noStrike">
              <a:solidFill>
                <a:srgbClr val="000000"/>
              </a:solidFill>
              <a:effectLst/>
              <a:uFillTx/>
              <a:latin typeface="Arial"/>
            </a:endParaRPr>
          </a:p>
        </p:txBody>
      </p:sp>
      <p:sp>
        <p:nvSpPr>
          <p:cNvPr id="251" name="PlaceHolder 1"/>
          <p:cNvSpPr>
            <a:spLocks noGrp="1"/>
          </p:cNvSpPr>
          <p:nvPr>
            <p:ph type="sldNum" idx="12"/>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33C689AD-D643-4D49-97FA-3BDF57AB3582}" type="slidenum">
              <a:rPr lang="en-US" sz="600" b="0" u="none" strike="noStrike">
                <a:solidFill>
                  <a:srgbClr val="718096"/>
                </a:solidFill>
                <a:effectLst/>
                <a:uFillTx/>
                <a:latin typeface="Montserrat"/>
                <a:ea typeface="Montserrat"/>
              </a:rPr>
              <a:t>7</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METODOLOGÍA</a:t>
            </a:r>
            <a:endParaRPr lang="es-CO" sz="750" b="0" u="none" strike="noStrike">
              <a:solidFill>
                <a:srgbClr val="000000"/>
              </a:solidFill>
              <a:effectLst/>
              <a:uFillTx/>
              <a:latin typeface="Arial"/>
            </a:endParaRPr>
          </a:p>
        </p:txBody>
      </p:sp>
      <p:sp>
        <p:nvSpPr>
          <p:cNvPr id="253"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CRISP-ML convirtió el prototipo en un proceso verificable</a:t>
            </a:r>
            <a:endParaRPr lang="es-CO" sz="2500" b="0" u="none" strike="noStrike">
              <a:solidFill>
                <a:srgbClr val="000000"/>
              </a:solidFill>
              <a:effectLst/>
              <a:uFillTx/>
              <a:latin typeface="Arial"/>
            </a:endParaRPr>
          </a:p>
        </p:txBody>
      </p:sp>
      <p:sp>
        <p:nvSpPr>
          <p:cNvPr id="254"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El ciclo conecta la necesidad pública con datos, variables, evaluación y operación continua.</a:t>
            </a:r>
            <a:endParaRPr lang="es-CO" sz="950" b="0" u="none" strike="noStrike">
              <a:solidFill>
                <a:srgbClr val="000000"/>
              </a:solidFill>
              <a:effectLst/>
              <a:uFillTx/>
              <a:latin typeface="Arial"/>
            </a:endParaRPr>
          </a:p>
        </p:txBody>
      </p:sp>
      <p:sp>
        <p:nvSpPr>
          <p:cNvPr id="255" name="Shape 3"/>
          <p:cNvSpPr/>
          <p:nvPr/>
        </p:nvSpPr>
        <p:spPr>
          <a:xfrm>
            <a:off x="658440" y="1627560"/>
            <a:ext cx="3309840" cy="1416960"/>
          </a:xfrm>
          <a:prstGeom prst="roundRect">
            <a:avLst>
              <a:gd name="adj" fmla="val 3871"/>
            </a:avLst>
          </a:prstGeom>
          <a:solidFill>
            <a:srgbClr val="FFFFFF"/>
          </a:solidFill>
          <a:ln w="1397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56" name="Shape 4"/>
          <p:cNvSpPr/>
          <p:nvPr/>
        </p:nvSpPr>
        <p:spPr>
          <a:xfrm>
            <a:off x="859680" y="1856160"/>
            <a:ext cx="475200" cy="47520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57" name="Text 5"/>
          <p:cNvSpPr/>
          <p:nvPr/>
        </p:nvSpPr>
        <p:spPr>
          <a:xfrm>
            <a:off x="859680" y="2011680"/>
            <a:ext cx="47520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Montserrat"/>
              </a:rPr>
              <a:t>1</a:t>
            </a:r>
            <a:endParaRPr lang="es-CO" sz="750" b="0" u="none" strike="noStrike">
              <a:solidFill>
                <a:srgbClr val="000000"/>
              </a:solidFill>
              <a:effectLst/>
              <a:uFillTx/>
              <a:latin typeface="Arial"/>
            </a:endParaRPr>
          </a:p>
        </p:txBody>
      </p:sp>
      <p:sp>
        <p:nvSpPr>
          <p:cNvPr id="258" name="Text 6"/>
          <p:cNvSpPr/>
          <p:nvPr/>
        </p:nvSpPr>
        <p:spPr>
          <a:xfrm>
            <a:off x="1481400" y="184716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Comprender</a:t>
            </a:r>
            <a:endParaRPr lang="es-CO" sz="1300" b="0" u="none" strike="noStrike">
              <a:solidFill>
                <a:srgbClr val="000000"/>
              </a:solidFill>
              <a:effectLst/>
              <a:uFillTx/>
              <a:latin typeface="Arial"/>
            </a:endParaRPr>
          </a:p>
        </p:txBody>
      </p:sp>
      <p:sp>
        <p:nvSpPr>
          <p:cNvPr id="259" name="Text 7"/>
          <p:cNvSpPr/>
          <p:nvPr/>
        </p:nvSpPr>
        <p:spPr>
          <a:xfrm>
            <a:off x="859680" y="2468880"/>
            <a:ext cx="29073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5A677D"/>
                </a:solidFill>
                <a:effectLst/>
                <a:uFillTx/>
                <a:latin typeface="Montserrat"/>
              </a:rPr>
              <a:t>Reto, cliente y decisión</a:t>
            </a:r>
            <a:endParaRPr lang="es-CO" sz="850" b="0" u="none" strike="noStrike">
              <a:solidFill>
                <a:srgbClr val="000000"/>
              </a:solidFill>
              <a:effectLst/>
              <a:uFillTx/>
              <a:latin typeface="Arial"/>
            </a:endParaRPr>
          </a:p>
        </p:txBody>
      </p:sp>
      <p:sp>
        <p:nvSpPr>
          <p:cNvPr id="260" name="Shape 8"/>
          <p:cNvSpPr/>
          <p:nvPr/>
        </p:nvSpPr>
        <p:spPr>
          <a:xfrm>
            <a:off x="4041720" y="215784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61" name="Shape 9"/>
          <p:cNvSpPr/>
          <p:nvPr/>
        </p:nvSpPr>
        <p:spPr>
          <a:xfrm>
            <a:off x="4453200" y="1627560"/>
            <a:ext cx="3309840" cy="1416960"/>
          </a:xfrm>
          <a:prstGeom prst="roundRect">
            <a:avLst>
              <a:gd name="adj" fmla="val 3871"/>
            </a:avLst>
          </a:prstGeom>
          <a:solidFill>
            <a:srgbClr val="FFFFFF"/>
          </a:solidFill>
          <a:ln w="1397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62" name="Shape 10"/>
          <p:cNvSpPr/>
          <p:nvPr/>
        </p:nvSpPr>
        <p:spPr>
          <a:xfrm>
            <a:off x="4654440" y="1856160"/>
            <a:ext cx="475200" cy="47520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63" name="Text 11"/>
          <p:cNvSpPr/>
          <p:nvPr/>
        </p:nvSpPr>
        <p:spPr>
          <a:xfrm>
            <a:off x="4654440" y="2011680"/>
            <a:ext cx="47520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Montserrat"/>
              </a:rPr>
              <a:t>2</a:t>
            </a:r>
            <a:endParaRPr lang="es-CO" sz="750" b="0" u="none" strike="noStrike">
              <a:solidFill>
                <a:srgbClr val="000000"/>
              </a:solidFill>
              <a:effectLst/>
              <a:uFillTx/>
              <a:latin typeface="Arial"/>
            </a:endParaRPr>
          </a:p>
        </p:txBody>
      </p:sp>
      <p:sp>
        <p:nvSpPr>
          <p:cNvPr id="264" name="Text 12"/>
          <p:cNvSpPr/>
          <p:nvPr/>
        </p:nvSpPr>
        <p:spPr>
          <a:xfrm>
            <a:off x="5276160" y="184716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Adquirir</a:t>
            </a:r>
            <a:endParaRPr lang="es-CO" sz="1300" b="0" u="none" strike="noStrike">
              <a:solidFill>
                <a:srgbClr val="000000"/>
              </a:solidFill>
              <a:effectLst/>
              <a:uFillTx/>
              <a:latin typeface="Arial"/>
            </a:endParaRPr>
          </a:p>
        </p:txBody>
      </p:sp>
      <p:sp>
        <p:nvSpPr>
          <p:cNvPr id="265" name="Text 13"/>
          <p:cNvSpPr/>
          <p:nvPr/>
        </p:nvSpPr>
        <p:spPr>
          <a:xfrm>
            <a:off x="4654440" y="2468880"/>
            <a:ext cx="29073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5A677D"/>
                </a:solidFill>
                <a:effectLst/>
                <a:uFillTx/>
                <a:latin typeface="Montserrat"/>
              </a:rPr>
              <a:t>Socrata + registros públicos</a:t>
            </a:r>
            <a:endParaRPr lang="es-CO" sz="850" b="0" u="none" strike="noStrike">
              <a:solidFill>
                <a:srgbClr val="000000"/>
              </a:solidFill>
              <a:effectLst/>
              <a:uFillTx/>
              <a:latin typeface="Arial"/>
            </a:endParaRPr>
          </a:p>
        </p:txBody>
      </p:sp>
      <p:sp>
        <p:nvSpPr>
          <p:cNvPr id="266" name="Shape 14"/>
          <p:cNvSpPr/>
          <p:nvPr/>
        </p:nvSpPr>
        <p:spPr>
          <a:xfrm>
            <a:off x="7836480" y="215784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67" name="Shape 15"/>
          <p:cNvSpPr/>
          <p:nvPr/>
        </p:nvSpPr>
        <p:spPr>
          <a:xfrm>
            <a:off x="8247960" y="1627560"/>
            <a:ext cx="3309840" cy="1416960"/>
          </a:xfrm>
          <a:prstGeom prst="roundRect">
            <a:avLst>
              <a:gd name="adj" fmla="val 3871"/>
            </a:avLst>
          </a:prstGeom>
          <a:solidFill>
            <a:srgbClr val="FFFFFF"/>
          </a:solidFill>
          <a:ln w="1397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68" name="Shape 16"/>
          <p:cNvSpPr/>
          <p:nvPr/>
        </p:nvSpPr>
        <p:spPr>
          <a:xfrm>
            <a:off x="8449200" y="1856160"/>
            <a:ext cx="475200" cy="47520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69" name="Text 17"/>
          <p:cNvSpPr/>
          <p:nvPr/>
        </p:nvSpPr>
        <p:spPr>
          <a:xfrm>
            <a:off x="8449200" y="2011680"/>
            <a:ext cx="47520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Montserrat"/>
              </a:rPr>
              <a:t>3</a:t>
            </a:r>
            <a:endParaRPr lang="es-CO" sz="750" b="0" u="none" strike="noStrike">
              <a:solidFill>
                <a:srgbClr val="000000"/>
              </a:solidFill>
              <a:effectLst/>
              <a:uFillTx/>
              <a:latin typeface="Arial"/>
            </a:endParaRPr>
          </a:p>
        </p:txBody>
      </p:sp>
      <p:sp>
        <p:nvSpPr>
          <p:cNvPr id="270" name="Text 18"/>
          <p:cNvSpPr/>
          <p:nvPr/>
        </p:nvSpPr>
        <p:spPr>
          <a:xfrm>
            <a:off x="9070920" y="184716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Preparar</a:t>
            </a:r>
            <a:endParaRPr lang="es-CO" sz="1300" b="0" u="none" strike="noStrike">
              <a:solidFill>
                <a:srgbClr val="000000"/>
              </a:solidFill>
              <a:effectLst/>
              <a:uFillTx/>
              <a:latin typeface="Arial"/>
            </a:endParaRPr>
          </a:p>
        </p:txBody>
      </p:sp>
      <p:sp>
        <p:nvSpPr>
          <p:cNvPr id="271" name="Text 19"/>
          <p:cNvSpPr/>
          <p:nvPr/>
        </p:nvSpPr>
        <p:spPr>
          <a:xfrm>
            <a:off x="8449200" y="2468880"/>
            <a:ext cx="29073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5A677D"/>
                </a:solidFill>
                <a:effectLst/>
                <a:uFillTx/>
                <a:latin typeface="Montserrat"/>
              </a:rPr>
              <a:t>Limpiar, normalizar, estructurar</a:t>
            </a:r>
            <a:endParaRPr lang="es-CO" sz="850" b="0" u="none" strike="noStrike">
              <a:solidFill>
                <a:srgbClr val="000000"/>
              </a:solidFill>
              <a:effectLst/>
              <a:uFillTx/>
              <a:latin typeface="Arial"/>
            </a:endParaRPr>
          </a:p>
        </p:txBody>
      </p:sp>
      <p:sp>
        <p:nvSpPr>
          <p:cNvPr id="272" name="Shape 20"/>
          <p:cNvSpPr/>
          <p:nvPr/>
        </p:nvSpPr>
        <p:spPr>
          <a:xfrm>
            <a:off x="658440" y="3593520"/>
            <a:ext cx="3309840" cy="1416960"/>
          </a:xfrm>
          <a:prstGeom prst="roundRect">
            <a:avLst>
              <a:gd name="adj" fmla="val 3871"/>
            </a:avLst>
          </a:prstGeom>
          <a:solidFill>
            <a:srgbClr val="FFF9DF"/>
          </a:solidFill>
          <a:ln w="1397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73" name="Shape 21"/>
          <p:cNvSpPr/>
          <p:nvPr/>
        </p:nvSpPr>
        <p:spPr>
          <a:xfrm>
            <a:off x="859680" y="3822120"/>
            <a:ext cx="475200" cy="475200"/>
          </a:xfrm>
          <a:prstGeom prst="ellipse">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74" name="Text 22"/>
          <p:cNvSpPr/>
          <p:nvPr/>
        </p:nvSpPr>
        <p:spPr>
          <a:xfrm>
            <a:off x="859680" y="3977640"/>
            <a:ext cx="47520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002D58"/>
                </a:solidFill>
                <a:effectLst/>
                <a:uFillTx/>
                <a:latin typeface="Montserrat"/>
              </a:rPr>
              <a:t>4</a:t>
            </a:r>
            <a:endParaRPr lang="es-CO" sz="750" b="0" u="none" strike="noStrike">
              <a:solidFill>
                <a:srgbClr val="000000"/>
              </a:solidFill>
              <a:effectLst/>
              <a:uFillTx/>
              <a:latin typeface="Arial"/>
            </a:endParaRPr>
          </a:p>
        </p:txBody>
      </p:sp>
      <p:sp>
        <p:nvSpPr>
          <p:cNvPr id="275" name="Text 23"/>
          <p:cNvSpPr/>
          <p:nvPr/>
        </p:nvSpPr>
        <p:spPr>
          <a:xfrm>
            <a:off x="1481400" y="381312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Modelar</a:t>
            </a:r>
            <a:endParaRPr lang="es-CO" sz="1300" b="0" u="none" strike="noStrike">
              <a:solidFill>
                <a:srgbClr val="000000"/>
              </a:solidFill>
              <a:effectLst/>
              <a:uFillTx/>
              <a:latin typeface="Arial"/>
            </a:endParaRPr>
          </a:p>
        </p:txBody>
      </p:sp>
      <p:sp>
        <p:nvSpPr>
          <p:cNvPr id="276" name="Text 24"/>
          <p:cNvSpPr/>
          <p:nvPr/>
        </p:nvSpPr>
        <p:spPr>
          <a:xfrm>
            <a:off x="859680" y="4434840"/>
            <a:ext cx="29073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5A677D"/>
                </a:solidFill>
                <a:effectLst/>
                <a:uFillTx/>
                <a:latin typeface="Montserrat"/>
              </a:rPr>
              <a:t>Reglas + Isolation Forest</a:t>
            </a:r>
            <a:endParaRPr lang="es-CO" sz="850" b="0" u="none" strike="noStrike">
              <a:solidFill>
                <a:srgbClr val="000000"/>
              </a:solidFill>
              <a:effectLst/>
              <a:uFillTx/>
              <a:latin typeface="Arial"/>
            </a:endParaRPr>
          </a:p>
        </p:txBody>
      </p:sp>
      <p:sp>
        <p:nvSpPr>
          <p:cNvPr id="277" name="Shape 25"/>
          <p:cNvSpPr/>
          <p:nvPr/>
        </p:nvSpPr>
        <p:spPr>
          <a:xfrm>
            <a:off x="4041720" y="412380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78" name="Shape 26"/>
          <p:cNvSpPr/>
          <p:nvPr/>
        </p:nvSpPr>
        <p:spPr>
          <a:xfrm>
            <a:off x="4453200" y="3593520"/>
            <a:ext cx="3309840" cy="1416960"/>
          </a:xfrm>
          <a:prstGeom prst="roundRect">
            <a:avLst>
              <a:gd name="adj" fmla="val 3871"/>
            </a:avLst>
          </a:prstGeom>
          <a:solidFill>
            <a:srgbClr val="FFFFFF"/>
          </a:solidFill>
          <a:ln w="1397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79" name="Shape 27"/>
          <p:cNvSpPr/>
          <p:nvPr/>
        </p:nvSpPr>
        <p:spPr>
          <a:xfrm>
            <a:off x="4654440" y="3822120"/>
            <a:ext cx="475200" cy="47520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80" name="Text 28"/>
          <p:cNvSpPr/>
          <p:nvPr/>
        </p:nvSpPr>
        <p:spPr>
          <a:xfrm>
            <a:off x="4654440" y="3977640"/>
            <a:ext cx="47520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Montserrat"/>
              </a:rPr>
              <a:t>5</a:t>
            </a:r>
            <a:endParaRPr lang="es-CO" sz="750" b="0" u="none" strike="noStrike">
              <a:solidFill>
                <a:srgbClr val="000000"/>
              </a:solidFill>
              <a:effectLst/>
              <a:uFillTx/>
              <a:latin typeface="Arial"/>
            </a:endParaRPr>
          </a:p>
        </p:txBody>
      </p:sp>
      <p:sp>
        <p:nvSpPr>
          <p:cNvPr id="281" name="Text 29"/>
          <p:cNvSpPr/>
          <p:nvPr/>
        </p:nvSpPr>
        <p:spPr>
          <a:xfrm>
            <a:off x="5276160" y="381312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Evaluar</a:t>
            </a:r>
            <a:endParaRPr lang="es-CO" sz="1300" b="0" u="none" strike="noStrike">
              <a:solidFill>
                <a:srgbClr val="000000"/>
              </a:solidFill>
              <a:effectLst/>
              <a:uFillTx/>
              <a:latin typeface="Arial"/>
            </a:endParaRPr>
          </a:p>
        </p:txBody>
      </p:sp>
      <p:sp>
        <p:nvSpPr>
          <p:cNvPr id="282" name="Text 30"/>
          <p:cNvSpPr/>
          <p:nvPr/>
        </p:nvSpPr>
        <p:spPr>
          <a:xfrm>
            <a:off x="4654440" y="4434840"/>
            <a:ext cx="29073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5A677D"/>
                </a:solidFill>
                <a:effectLst/>
                <a:uFillTx/>
                <a:latin typeface="Montserrat"/>
              </a:rPr>
              <a:t>Tests, coherencia, estabilidad</a:t>
            </a:r>
            <a:endParaRPr lang="es-CO" sz="850" b="0" u="none" strike="noStrike">
              <a:solidFill>
                <a:srgbClr val="000000"/>
              </a:solidFill>
              <a:effectLst/>
              <a:uFillTx/>
              <a:latin typeface="Arial"/>
            </a:endParaRPr>
          </a:p>
        </p:txBody>
      </p:sp>
      <p:sp>
        <p:nvSpPr>
          <p:cNvPr id="283" name="Shape 31"/>
          <p:cNvSpPr/>
          <p:nvPr/>
        </p:nvSpPr>
        <p:spPr>
          <a:xfrm>
            <a:off x="7836480" y="4123800"/>
            <a:ext cx="25560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84" name="Shape 32"/>
          <p:cNvSpPr/>
          <p:nvPr/>
        </p:nvSpPr>
        <p:spPr>
          <a:xfrm>
            <a:off x="8247960" y="3593520"/>
            <a:ext cx="3309840" cy="1416960"/>
          </a:xfrm>
          <a:prstGeom prst="roundRect">
            <a:avLst>
              <a:gd name="adj" fmla="val 3871"/>
            </a:avLst>
          </a:prstGeom>
          <a:solidFill>
            <a:srgbClr val="FFFFFF"/>
          </a:solidFill>
          <a:ln w="1397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85" name="Shape 33"/>
          <p:cNvSpPr/>
          <p:nvPr/>
        </p:nvSpPr>
        <p:spPr>
          <a:xfrm>
            <a:off x="8449200" y="3822120"/>
            <a:ext cx="475200" cy="475200"/>
          </a:xfrm>
          <a:prstGeom prst="ellipse">
            <a:avLst/>
          </a:prstGeom>
          <a:solidFill>
            <a:srgbClr val="002D58"/>
          </a:solidFill>
          <a:ln w="12700">
            <a:solidFill>
              <a:srgbClr val="002D58"/>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86" name="Text 34"/>
          <p:cNvSpPr/>
          <p:nvPr/>
        </p:nvSpPr>
        <p:spPr>
          <a:xfrm>
            <a:off x="8449200" y="3977640"/>
            <a:ext cx="47520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Montserrat"/>
              </a:rPr>
              <a:t>6</a:t>
            </a:r>
            <a:endParaRPr lang="es-CO" sz="750" b="0" u="none" strike="noStrike">
              <a:solidFill>
                <a:srgbClr val="000000"/>
              </a:solidFill>
              <a:effectLst/>
              <a:uFillTx/>
              <a:latin typeface="Arial"/>
            </a:endParaRPr>
          </a:p>
        </p:txBody>
      </p:sp>
      <p:sp>
        <p:nvSpPr>
          <p:cNvPr id="287" name="Text 35"/>
          <p:cNvSpPr/>
          <p:nvPr/>
        </p:nvSpPr>
        <p:spPr>
          <a:xfrm>
            <a:off x="9070920" y="381312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rPr>
              <a:t>Desplegar</a:t>
            </a:r>
            <a:endParaRPr lang="es-CO" sz="1300" b="0" u="none" strike="noStrike">
              <a:solidFill>
                <a:srgbClr val="000000"/>
              </a:solidFill>
              <a:effectLst/>
              <a:uFillTx/>
              <a:latin typeface="Arial"/>
            </a:endParaRPr>
          </a:p>
        </p:txBody>
      </p:sp>
      <p:sp>
        <p:nvSpPr>
          <p:cNvPr id="288" name="Text 36"/>
          <p:cNvSpPr/>
          <p:nvPr/>
        </p:nvSpPr>
        <p:spPr>
          <a:xfrm>
            <a:off x="8449200" y="4434840"/>
            <a:ext cx="29073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5A677D"/>
                </a:solidFill>
                <a:effectLst/>
                <a:uFillTx/>
                <a:latin typeface="Montserrat"/>
              </a:rPr>
              <a:t>Docker, caché, monitoreo</a:t>
            </a:r>
            <a:endParaRPr lang="es-CO" sz="850" b="0" u="none" strike="noStrike">
              <a:solidFill>
                <a:srgbClr val="000000"/>
              </a:solidFill>
              <a:effectLst/>
              <a:uFillTx/>
              <a:latin typeface="Arial"/>
            </a:endParaRPr>
          </a:p>
        </p:txBody>
      </p:sp>
      <p:sp>
        <p:nvSpPr>
          <p:cNvPr id="289" name="Shape 37"/>
          <p:cNvSpPr/>
          <p:nvPr/>
        </p:nvSpPr>
        <p:spPr>
          <a:xfrm rot="5400000">
            <a:off x="10589040" y="2788920"/>
            <a:ext cx="566640" cy="1535760"/>
          </a:xfrm>
          <a:prstGeom prst="arc">
            <a:avLst>
              <a:gd name="adj1" fmla="val 16200000"/>
              <a:gd name="adj2" fmla="val 0"/>
            </a:avLst>
          </a:prstGeom>
          <a:noFill/>
          <a:ln w="27940">
            <a:solidFill>
              <a:srgbClr val="004884"/>
            </a:solidFill>
            <a:round/>
            <a:tailEnd len="med" type="triangle" w="me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90" name="Text 38"/>
          <p:cNvSpPr/>
          <p:nvPr/>
        </p:nvSpPr>
        <p:spPr>
          <a:xfrm>
            <a:off x="8549640" y="5468040"/>
            <a:ext cx="23770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1" u="none" strike="noStrike">
                <a:solidFill>
                  <a:srgbClr val="16865A"/>
                </a:solidFill>
                <a:effectLst/>
                <a:uFillTx/>
                <a:latin typeface="Montserrat"/>
              </a:rPr>
              <a:t>Validación continua</a:t>
            </a:r>
            <a:endParaRPr lang="es-CO" sz="800" b="0" u="none" strike="noStrike">
              <a:solidFill>
                <a:srgbClr val="000000"/>
              </a:solidFill>
              <a:effectLst/>
              <a:uFillTx/>
              <a:latin typeface="Arial"/>
            </a:endParaRPr>
          </a:p>
        </p:txBody>
      </p:sp>
      <p:sp>
        <p:nvSpPr>
          <p:cNvPr id="291" name="Text 39"/>
          <p:cNvSpPr/>
          <p:nvPr/>
        </p:nvSpPr>
        <p:spPr>
          <a:xfrm>
            <a:off x="914400" y="5779080"/>
            <a:ext cx="1033236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02D58"/>
                </a:solidFill>
                <a:effectLst/>
                <a:uFillTx/>
                <a:latin typeface="Montserrat"/>
              </a:rPr>
              <a:t>Aritmética de scores · contrato API/UI · persistencia · caché · pipeline ML · pruebas E2E con datos reales</a:t>
            </a:r>
            <a:endParaRPr lang="es-CO" sz="950" b="0" u="none" strike="noStrike">
              <a:solidFill>
                <a:srgbClr val="000000"/>
              </a:solidFill>
              <a:effectLst/>
              <a:uFillTx/>
              <a:latin typeface="Arial"/>
            </a:endParaRPr>
          </a:p>
        </p:txBody>
      </p:sp>
      <p:sp>
        <p:nvSpPr>
          <p:cNvPr id="292" name="PlaceHolder 1"/>
          <p:cNvSpPr>
            <a:spLocks noGrp="1"/>
          </p:cNvSpPr>
          <p:nvPr>
            <p:ph type="sldNum" idx="13"/>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5FBFF588-AE15-4CCA-A0B2-2ED044640907}"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ARQUITECTURA Y TECNOLOGÍA</a:t>
            </a:r>
            <a:endParaRPr lang="es-CO" sz="750" b="0" u="none" strike="noStrike">
              <a:solidFill>
                <a:srgbClr val="000000"/>
              </a:solidFill>
              <a:effectLst/>
              <a:uFillTx/>
              <a:latin typeface="Arial"/>
            </a:endParaRPr>
          </a:p>
        </p:txBody>
      </p:sp>
      <p:sp>
        <p:nvSpPr>
          <p:cNvPr id="294"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Cuatro capas separan fuente, inteligencia, servicios y experiencia</a:t>
            </a:r>
            <a:endParaRPr lang="es-CO" sz="2500" b="0" u="none" strike="noStrike">
              <a:solidFill>
                <a:srgbClr val="000000"/>
              </a:solidFill>
              <a:effectLst/>
              <a:uFillTx/>
              <a:latin typeface="Arial"/>
            </a:endParaRPr>
          </a:p>
        </p:txBody>
      </p:sp>
      <p:sp>
        <p:nvSpPr>
          <p:cNvPr id="295"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El desacoplamiento permite sustituir fuentes, escalar consultas y conservar trazabilidad.</a:t>
            </a:r>
            <a:endParaRPr lang="es-CO" sz="950" b="0" u="none" strike="noStrike">
              <a:solidFill>
                <a:srgbClr val="000000"/>
              </a:solidFill>
              <a:effectLst/>
              <a:uFillTx/>
              <a:latin typeface="Arial"/>
            </a:endParaRPr>
          </a:p>
        </p:txBody>
      </p:sp>
      <p:sp>
        <p:nvSpPr>
          <p:cNvPr id="296" name="Shape 3"/>
          <p:cNvSpPr/>
          <p:nvPr/>
        </p:nvSpPr>
        <p:spPr>
          <a:xfrm>
            <a:off x="567000" y="1600200"/>
            <a:ext cx="2331360" cy="4187520"/>
          </a:xfrm>
          <a:prstGeom prst="roundRect">
            <a:avLst>
              <a:gd name="adj" fmla="val 2745"/>
            </a:avLst>
          </a:prstGeom>
          <a:solidFill>
            <a:srgbClr val="FFFFFF"/>
          </a:solidFill>
          <a:ln w="1524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297" name="Shape 4"/>
          <p:cNvSpPr/>
          <p:nvPr/>
        </p:nvSpPr>
        <p:spPr>
          <a:xfrm>
            <a:off x="567000" y="1600200"/>
            <a:ext cx="2331360" cy="50256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298" name="Text 5"/>
          <p:cNvSpPr/>
          <p:nvPr/>
        </p:nvSpPr>
        <p:spPr>
          <a:xfrm>
            <a:off x="676800" y="1774080"/>
            <a:ext cx="211176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pc="99" strike="noStrike">
                <a:solidFill>
                  <a:srgbClr val="FFFFFF"/>
                </a:solidFill>
                <a:effectLst/>
                <a:uFillTx/>
                <a:latin typeface="Montserrat"/>
              </a:rPr>
              <a:t>1 · FUENTES</a:t>
            </a:r>
            <a:endParaRPr lang="es-CO" sz="750" b="0" u="none" strike="noStrike">
              <a:solidFill>
                <a:srgbClr val="000000"/>
              </a:solidFill>
              <a:effectLst/>
              <a:uFillTx/>
              <a:latin typeface="Arial"/>
            </a:endParaRPr>
          </a:p>
        </p:txBody>
      </p:sp>
      <p:sp>
        <p:nvSpPr>
          <p:cNvPr id="299" name="Shape 6"/>
          <p:cNvSpPr/>
          <p:nvPr/>
        </p:nvSpPr>
        <p:spPr>
          <a:xfrm>
            <a:off x="795600" y="2496240"/>
            <a:ext cx="145800" cy="145800"/>
          </a:xfrm>
          <a:prstGeom prst="ellipse">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00" name="Text 7"/>
          <p:cNvSpPr/>
          <p:nvPr/>
        </p:nvSpPr>
        <p:spPr>
          <a:xfrm>
            <a:off x="1042560" y="245052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1" u="none" strike="noStrike">
                <a:solidFill>
                  <a:srgbClr val="172033"/>
                </a:solidFill>
                <a:effectLst/>
                <a:uFillTx/>
                <a:latin typeface="Montserrat"/>
              </a:rPr>
              <a:t>SECOP II · Socrata</a:t>
            </a:r>
            <a:endParaRPr lang="es-CO" sz="920" b="0" u="none" strike="noStrike">
              <a:solidFill>
                <a:srgbClr val="000000"/>
              </a:solidFill>
              <a:effectLst/>
              <a:uFillTx/>
              <a:latin typeface="Arial"/>
            </a:endParaRPr>
          </a:p>
        </p:txBody>
      </p:sp>
      <p:sp>
        <p:nvSpPr>
          <p:cNvPr id="301" name="Shape 8"/>
          <p:cNvSpPr/>
          <p:nvPr/>
        </p:nvSpPr>
        <p:spPr>
          <a:xfrm>
            <a:off x="795600" y="3154680"/>
            <a:ext cx="145800" cy="145800"/>
          </a:xfrm>
          <a:prstGeom prst="ellipse">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02" name="Text 9"/>
          <p:cNvSpPr/>
          <p:nvPr/>
        </p:nvSpPr>
        <p:spPr>
          <a:xfrm>
            <a:off x="1042560" y="310896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SIRI · CGR · FGN</a:t>
            </a:r>
            <a:endParaRPr lang="es-CO" sz="920" b="0" u="none" strike="noStrike">
              <a:solidFill>
                <a:srgbClr val="000000"/>
              </a:solidFill>
              <a:effectLst/>
              <a:uFillTx/>
              <a:latin typeface="Arial"/>
            </a:endParaRPr>
          </a:p>
        </p:txBody>
      </p:sp>
      <p:sp>
        <p:nvSpPr>
          <p:cNvPr id="303" name="Shape 10"/>
          <p:cNvSpPr/>
          <p:nvPr/>
        </p:nvSpPr>
        <p:spPr>
          <a:xfrm>
            <a:off x="795600" y="3813120"/>
            <a:ext cx="145800" cy="145800"/>
          </a:xfrm>
          <a:prstGeom prst="ellipse">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04" name="Text 11"/>
          <p:cNvSpPr/>
          <p:nvPr/>
        </p:nvSpPr>
        <p:spPr>
          <a:xfrm>
            <a:off x="1042560" y="376740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Multas SECOP</a:t>
            </a:r>
            <a:endParaRPr lang="es-CO" sz="920" b="0" u="none" strike="noStrike">
              <a:solidFill>
                <a:srgbClr val="000000"/>
              </a:solidFill>
              <a:effectLst/>
              <a:uFillTx/>
              <a:latin typeface="Arial"/>
            </a:endParaRPr>
          </a:p>
        </p:txBody>
      </p:sp>
      <p:sp>
        <p:nvSpPr>
          <p:cNvPr id="305" name="Shape 12"/>
          <p:cNvSpPr/>
          <p:nvPr/>
        </p:nvSpPr>
        <p:spPr>
          <a:xfrm>
            <a:off x="795600" y="4471560"/>
            <a:ext cx="145800" cy="145800"/>
          </a:xfrm>
          <a:prstGeom prst="ellipse">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06" name="Text 13"/>
          <p:cNvSpPr/>
          <p:nvPr/>
        </p:nvSpPr>
        <p:spPr>
          <a:xfrm>
            <a:off x="1042560" y="442584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Obras inconclusas</a:t>
            </a:r>
            <a:endParaRPr lang="es-CO" sz="920" b="0" u="none" strike="noStrike">
              <a:solidFill>
                <a:srgbClr val="000000"/>
              </a:solidFill>
              <a:effectLst/>
              <a:uFillTx/>
              <a:latin typeface="Arial"/>
            </a:endParaRPr>
          </a:p>
        </p:txBody>
      </p:sp>
      <p:sp>
        <p:nvSpPr>
          <p:cNvPr id="307" name="Shape 14"/>
          <p:cNvSpPr/>
          <p:nvPr/>
        </p:nvSpPr>
        <p:spPr>
          <a:xfrm>
            <a:off x="2990160" y="3337560"/>
            <a:ext cx="18252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08" name="Shape 15"/>
          <p:cNvSpPr/>
          <p:nvPr/>
        </p:nvSpPr>
        <p:spPr>
          <a:xfrm>
            <a:off x="3154680" y="1600200"/>
            <a:ext cx="2331360" cy="4187520"/>
          </a:xfrm>
          <a:prstGeom prst="roundRect">
            <a:avLst>
              <a:gd name="adj" fmla="val 2745"/>
            </a:avLst>
          </a:prstGeom>
          <a:solidFill>
            <a:srgbClr val="FFFCED"/>
          </a:solidFill>
          <a:ln w="1524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09" name="Shape 16"/>
          <p:cNvSpPr/>
          <p:nvPr/>
        </p:nvSpPr>
        <p:spPr>
          <a:xfrm>
            <a:off x="3154680" y="1600200"/>
            <a:ext cx="2331360" cy="50256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10" name="Text 17"/>
          <p:cNvSpPr/>
          <p:nvPr/>
        </p:nvSpPr>
        <p:spPr>
          <a:xfrm>
            <a:off x="3264480" y="1774080"/>
            <a:ext cx="211176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pc="99" strike="noStrike">
                <a:solidFill>
                  <a:srgbClr val="002D58"/>
                </a:solidFill>
                <a:effectLst/>
                <a:uFillTx/>
                <a:latin typeface="Montserrat"/>
              </a:rPr>
              <a:t>2 · API UNIFICADA</a:t>
            </a:r>
            <a:endParaRPr lang="es-CO" sz="750" b="0" u="none" strike="noStrike">
              <a:solidFill>
                <a:srgbClr val="000000"/>
              </a:solidFill>
              <a:effectLst/>
              <a:uFillTx/>
              <a:latin typeface="Arial"/>
            </a:endParaRPr>
          </a:p>
        </p:txBody>
      </p:sp>
      <p:sp>
        <p:nvSpPr>
          <p:cNvPr id="311" name="Shape 18"/>
          <p:cNvSpPr/>
          <p:nvPr/>
        </p:nvSpPr>
        <p:spPr>
          <a:xfrm>
            <a:off x="3383280" y="2496240"/>
            <a:ext cx="145800" cy="145800"/>
          </a:xfrm>
          <a:prstGeom prst="ellipse">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12" name="Text 19"/>
          <p:cNvSpPr/>
          <p:nvPr/>
        </p:nvSpPr>
        <p:spPr>
          <a:xfrm>
            <a:off x="3630240" y="245052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1" u="none" strike="noStrike">
                <a:solidFill>
                  <a:srgbClr val="172033"/>
                </a:solidFill>
                <a:effectLst/>
                <a:uFillTx/>
                <a:latin typeface="Montserrat"/>
              </a:rPr>
              <a:t>Bun + Elysia</a:t>
            </a:r>
            <a:endParaRPr lang="es-CO" sz="920" b="0" u="none" strike="noStrike">
              <a:solidFill>
                <a:srgbClr val="000000"/>
              </a:solidFill>
              <a:effectLst/>
              <a:uFillTx/>
              <a:latin typeface="Arial"/>
            </a:endParaRPr>
          </a:p>
        </p:txBody>
      </p:sp>
      <p:sp>
        <p:nvSpPr>
          <p:cNvPr id="313" name="Shape 20"/>
          <p:cNvSpPr/>
          <p:nvPr/>
        </p:nvSpPr>
        <p:spPr>
          <a:xfrm>
            <a:off x="3383280" y="3154680"/>
            <a:ext cx="145800" cy="145800"/>
          </a:xfrm>
          <a:prstGeom prst="ellipse">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14" name="Text 21"/>
          <p:cNvSpPr/>
          <p:nvPr/>
        </p:nvSpPr>
        <p:spPr>
          <a:xfrm>
            <a:off x="3630240" y="310896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SQLite e índices</a:t>
            </a:r>
            <a:endParaRPr lang="es-CO" sz="920" b="0" u="none" strike="noStrike">
              <a:solidFill>
                <a:srgbClr val="000000"/>
              </a:solidFill>
              <a:effectLst/>
              <a:uFillTx/>
              <a:latin typeface="Arial"/>
            </a:endParaRPr>
          </a:p>
        </p:txBody>
      </p:sp>
      <p:sp>
        <p:nvSpPr>
          <p:cNvPr id="315" name="Shape 22"/>
          <p:cNvSpPr/>
          <p:nvPr/>
        </p:nvSpPr>
        <p:spPr>
          <a:xfrm>
            <a:off x="3383280" y="3813120"/>
            <a:ext cx="145800" cy="145800"/>
          </a:xfrm>
          <a:prstGeom prst="ellipse">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16" name="Text 23"/>
          <p:cNvSpPr/>
          <p:nvPr/>
        </p:nvSpPr>
        <p:spPr>
          <a:xfrm>
            <a:off x="3630240" y="376740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/search</a:t>
            </a:r>
            <a:endParaRPr lang="es-CO" sz="920" b="0" u="none" strike="noStrike">
              <a:solidFill>
                <a:srgbClr val="000000"/>
              </a:solidFill>
              <a:effectLst/>
              <a:uFillTx/>
              <a:latin typeface="Arial"/>
            </a:endParaRPr>
          </a:p>
        </p:txBody>
      </p:sp>
      <p:sp>
        <p:nvSpPr>
          <p:cNvPr id="317" name="Shape 24"/>
          <p:cNvSpPr/>
          <p:nvPr/>
        </p:nvSpPr>
        <p:spPr>
          <a:xfrm>
            <a:off x="3383280" y="4471560"/>
            <a:ext cx="145800" cy="145800"/>
          </a:xfrm>
          <a:prstGeom prst="ellipse">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18" name="Text 25"/>
          <p:cNvSpPr/>
          <p:nvPr/>
        </p:nvSpPr>
        <p:spPr>
          <a:xfrm>
            <a:off x="3630240" y="442584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/persona/:documento</a:t>
            </a:r>
            <a:endParaRPr lang="es-CO" sz="920" b="0" u="none" strike="noStrike">
              <a:solidFill>
                <a:srgbClr val="000000"/>
              </a:solidFill>
              <a:effectLst/>
              <a:uFillTx/>
              <a:latin typeface="Arial"/>
            </a:endParaRPr>
          </a:p>
        </p:txBody>
      </p:sp>
      <p:sp>
        <p:nvSpPr>
          <p:cNvPr id="319" name="Shape 26"/>
          <p:cNvSpPr/>
          <p:nvPr/>
        </p:nvSpPr>
        <p:spPr>
          <a:xfrm>
            <a:off x="5577840" y="3337560"/>
            <a:ext cx="18252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20" name="Shape 27"/>
          <p:cNvSpPr/>
          <p:nvPr/>
        </p:nvSpPr>
        <p:spPr>
          <a:xfrm>
            <a:off x="5742360" y="1600200"/>
            <a:ext cx="2331360" cy="4187520"/>
          </a:xfrm>
          <a:prstGeom prst="roundRect">
            <a:avLst>
              <a:gd name="adj" fmla="val 2745"/>
            </a:avLst>
          </a:prstGeom>
          <a:solidFill>
            <a:srgbClr val="FFFFFF"/>
          </a:solidFill>
          <a:ln w="1524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21" name="Shape 28"/>
          <p:cNvSpPr/>
          <p:nvPr/>
        </p:nvSpPr>
        <p:spPr>
          <a:xfrm>
            <a:off x="5742360" y="1600200"/>
            <a:ext cx="2331360" cy="50256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22" name="Text 29"/>
          <p:cNvSpPr/>
          <p:nvPr/>
        </p:nvSpPr>
        <p:spPr>
          <a:xfrm>
            <a:off x="5852160" y="1774080"/>
            <a:ext cx="211176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pc="99" strike="noStrike">
                <a:solidFill>
                  <a:srgbClr val="FFFFFF"/>
                </a:solidFill>
                <a:effectLst/>
                <a:uFillTx/>
                <a:latin typeface="Montserrat"/>
              </a:rPr>
              <a:t>3 · INTELIGENCIA</a:t>
            </a:r>
            <a:endParaRPr lang="es-CO" sz="750" b="0" u="none" strike="noStrike">
              <a:solidFill>
                <a:srgbClr val="000000"/>
              </a:solidFill>
              <a:effectLst/>
              <a:uFillTx/>
              <a:latin typeface="Arial"/>
            </a:endParaRPr>
          </a:p>
        </p:txBody>
      </p:sp>
      <p:sp>
        <p:nvSpPr>
          <p:cNvPr id="323" name="Shape 30"/>
          <p:cNvSpPr/>
          <p:nvPr/>
        </p:nvSpPr>
        <p:spPr>
          <a:xfrm>
            <a:off x="5970960" y="2496240"/>
            <a:ext cx="145800" cy="145800"/>
          </a:xfrm>
          <a:prstGeom prst="ellipse">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24" name="Text 31"/>
          <p:cNvSpPr/>
          <p:nvPr/>
        </p:nvSpPr>
        <p:spPr>
          <a:xfrm>
            <a:off x="6217920" y="245052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1" u="none" strike="noStrike">
                <a:solidFill>
                  <a:srgbClr val="172033"/>
                </a:solidFill>
                <a:effectLst/>
                <a:uFillTx/>
                <a:latin typeface="Montserrat"/>
              </a:rPr>
              <a:t>9 reglas de riesgo</a:t>
            </a:r>
            <a:endParaRPr lang="es-CO" sz="920" b="0" u="none" strike="noStrike">
              <a:solidFill>
                <a:srgbClr val="000000"/>
              </a:solidFill>
              <a:effectLst/>
              <a:uFillTx/>
              <a:latin typeface="Arial"/>
            </a:endParaRPr>
          </a:p>
        </p:txBody>
      </p:sp>
      <p:sp>
        <p:nvSpPr>
          <p:cNvPr id="325" name="Shape 32"/>
          <p:cNvSpPr/>
          <p:nvPr/>
        </p:nvSpPr>
        <p:spPr>
          <a:xfrm>
            <a:off x="5970960" y="3154680"/>
            <a:ext cx="145800" cy="145800"/>
          </a:xfrm>
          <a:prstGeom prst="ellipse">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26" name="Text 33"/>
          <p:cNvSpPr/>
          <p:nvPr/>
        </p:nvSpPr>
        <p:spPr>
          <a:xfrm>
            <a:off x="6217920" y="310896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Isolation Forest</a:t>
            </a:r>
            <a:endParaRPr lang="es-CO" sz="920" b="0" u="none" strike="noStrike">
              <a:solidFill>
                <a:srgbClr val="000000"/>
              </a:solidFill>
              <a:effectLst/>
              <a:uFillTx/>
              <a:latin typeface="Arial"/>
            </a:endParaRPr>
          </a:p>
        </p:txBody>
      </p:sp>
      <p:sp>
        <p:nvSpPr>
          <p:cNvPr id="327" name="Shape 34"/>
          <p:cNvSpPr/>
          <p:nvPr/>
        </p:nvSpPr>
        <p:spPr>
          <a:xfrm>
            <a:off x="5970960" y="3813120"/>
            <a:ext cx="145800" cy="145800"/>
          </a:xfrm>
          <a:prstGeom prst="ellipse">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28" name="Text 35"/>
          <p:cNvSpPr/>
          <p:nvPr/>
        </p:nvSpPr>
        <p:spPr>
          <a:xfrm>
            <a:off x="6217920" y="376740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Herramientas Hive</a:t>
            </a:r>
            <a:endParaRPr lang="es-CO" sz="920" b="0" u="none" strike="noStrike">
              <a:solidFill>
                <a:srgbClr val="000000"/>
              </a:solidFill>
              <a:effectLst/>
              <a:uFillTx/>
              <a:latin typeface="Arial"/>
            </a:endParaRPr>
          </a:p>
        </p:txBody>
      </p:sp>
      <p:sp>
        <p:nvSpPr>
          <p:cNvPr id="329" name="Shape 36"/>
          <p:cNvSpPr/>
          <p:nvPr/>
        </p:nvSpPr>
        <p:spPr>
          <a:xfrm>
            <a:off x="5970960" y="4471560"/>
            <a:ext cx="145800" cy="145800"/>
          </a:xfrm>
          <a:prstGeom prst="ellipse">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30" name="Text 37"/>
          <p:cNvSpPr/>
          <p:nvPr/>
        </p:nvSpPr>
        <p:spPr>
          <a:xfrm>
            <a:off x="6217920" y="4425840"/>
            <a:ext cx="16365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Caché y evidencia</a:t>
            </a:r>
            <a:endParaRPr lang="es-CO" sz="920" b="0" u="none" strike="noStrike">
              <a:solidFill>
                <a:srgbClr val="000000"/>
              </a:solidFill>
              <a:effectLst/>
              <a:uFillTx/>
              <a:latin typeface="Arial"/>
            </a:endParaRPr>
          </a:p>
        </p:txBody>
      </p:sp>
      <p:sp>
        <p:nvSpPr>
          <p:cNvPr id="331" name="Shape 38"/>
          <p:cNvSpPr/>
          <p:nvPr/>
        </p:nvSpPr>
        <p:spPr>
          <a:xfrm>
            <a:off x="8165520" y="3337560"/>
            <a:ext cx="182520" cy="328680"/>
          </a:xfrm>
          <a:prstGeom prst="chevron">
            <a:avLst>
              <a:gd name="adj" fmla="val 50000"/>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32" name="Shape 39"/>
          <p:cNvSpPr/>
          <p:nvPr/>
        </p:nvSpPr>
        <p:spPr>
          <a:xfrm>
            <a:off x="8330040" y="1600200"/>
            <a:ext cx="3245760" cy="4187520"/>
          </a:xfrm>
          <a:prstGeom prst="roundRect">
            <a:avLst>
              <a:gd name="adj" fmla="val 1972"/>
            </a:avLst>
          </a:prstGeom>
          <a:solidFill>
            <a:srgbClr val="FFFFFF"/>
          </a:solidFill>
          <a:ln w="1524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33" name="Shape 40"/>
          <p:cNvSpPr/>
          <p:nvPr/>
        </p:nvSpPr>
        <p:spPr>
          <a:xfrm>
            <a:off x="8330040" y="1600200"/>
            <a:ext cx="3245760" cy="50256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34" name="Text 41"/>
          <p:cNvSpPr/>
          <p:nvPr/>
        </p:nvSpPr>
        <p:spPr>
          <a:xfrm>
            <a:off x="8439840" y="1774080"/>
            <a:ext cx="302616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pc="99" strike="noStrike">
                <a:solidFill>
                  <a:srgbClr val="FFFFFF"/>
                </a:solidFill>
                <a:effectLst/>
                <a:uFillTx/>
                <a:latin typeface="Montserrat"/>
              </a:rPr>
              <a:t>4 · EXPERIENCIA</a:t>
            </a:r>
            <a:endParaRPr lang="es-CO" sz="750" b="0" u="none" strike="noStrike">
              <a:solidFill>
                <a:srgbClr val="000000"/>
              </a:solidFill>
              <a:effectLst/>
              <a:uFillTx/>
              <a:latin typeface="Arial"/>
            </a:endParaRPr>
          </a:p>
        </p:txBody>
      </p:sp>
      <p:sp>
        <p:nvSpPr>
          <p:cNvPr id="335" name="Shape 42"/>
          <p:cNvSpPr/>
          <p:nvPr/>
        </p:nvSpPr>
        <p:spPr>
          <a:xfrm>
            <a:off x="8558640" y="2496240"/>
            <a:ext cx="145800" cy="145800"/>
          </a:xfrm>
          <a:prstGeom prst="ellipse">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36" name="Text 43"/>
          <p:cNvSpPr/>
          <p:nvPr/>
        </p:nvSpPr>
        <p:spPr>
          <a:xfrm>
            <a:off x="8805600" y="2450520"/>
            <a:ext cx="25509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1" u="none" strike="noStrike">
                <a:solidFill>
                  <a:srgbClr val="172033"/>
                </a:solidFill>
                <a:effectLst/>
                <a:uFillTx/>
                <a:latin typeface="Montserrat"/>
              </a:rPr>
              <a:t>React + Vite</a:t>
            </a:r>
            <a:endParaRPr lang="es-CO" sz="920" b="0" u="none" strike="noStrike">
              <a:solidFill>
                <a:srgbClr val="000000"/>
              </a:solidFill>
              <a:effectLst/>
              <a:uFillTx/>
              <a:latin typeface="Arial"/>
            </a:endParaRPr>
          </a:p>
        </p:txBody>
      </p:sp>
      <p:sp>
        <p:nvSpPr>
          <p:cNvPr id="337" name="Shape 44"/>
          <p:cNvSpPr/>
          <p:nvPr/>
        </p:nvSpPr>
        <p:spPr>
          <a:xfrm>
            <a:off x="8558640" y="3154680"/>
            <a:ext cx="145800" cy="145800"/>
          </a:xfrm>
          <a:prstGeom prst="ellipse">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38" name="Text 45"/>
          <p:cNvSpPr/>
          <p:nvPr/>
        </p:nvSpPr>
        <p:spPr>
          <a:xfrm>
            <a:off x="8805600" y="3108960"/>
            <a:ext cx="25509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Dashboard</a:t>
            </a:r>
            <a:endParaRPr lang="es-CO" sz="920" b="0" u="none" strike="noStrike">
              <a:solidFill>
                <a:srgbClr val="000000"/>
              </a:solidFill>
              <a:effectLst/>
              <a:uFillTx/>
              <a:latin typeface="Arial"/>
            </a:endParaRPr>
          </a:p>
        </p:txBody>
      </p:sp>
      <p:sp>
        <p:nvSpPr>
          <p:cNvPr id="339" name="Shape 46"/>
          <p:cNvSpPr/>
          <p:nvPr/>
        </p:nvSpPr>
        <p:spPr>
          <a:xfrm>
            <a:off x="8558640" y="3813120"/>
            <a:ext cx="145800" cy="145800"/>
          </a:xfrm>
          <a:prstGeom prst="ellipse">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40" name="Text 47"/>
          <p:cNvSpPr/>
          <p:nvPr/>
        </p:nvSpPr>
        <p:spPr>
          <a:xfrm>
            <a:off x="8805600" y="3767400"/>
            <a:ext cx="25509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Alertas y perfiles</a:t>
            </a:r>
            <a:endParaRPr lang="es-CO" sz="920" b="0" u="none" strike="noStrike">
              <a:solidFill>
                <a:srgbClr val="000000"/>
              </a:solidFill>
              <a:effectLst/>
              <a:uFillTx/>
              <a:latin typeface="Arial"/>
            </a:endParaRPr>
          </a:p>
        </p:txBody>
      </p:sp>
      <p:sp>
        <p:nvSpPr>
          <p:cNvPr id="341" name="Shape 48"/>
          <p:cNvSpPr/>
          <p:nvPr/>
        </p:nvSpPr>
        <p:spPr>
          <a:xfrm>
            <a:off x="8558640" y="4471560"/>
            <a:ext cx="145800" cy="145800"/>
          </a:xfrm>
          <a:prstGeom prst="ellipse">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42" name="Text 49"/>
          <p:cNvSpPr/>
          <p:nvPr/>
        </p:nvSpPr>
        <p:spPr>
          <a:xfrm>
            <a:off x="8805600" y="4425840"/>
            <a:ext cx="255096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20" b="0" u="none" strike="noStrike">
                <a:solidFill>
                  <a:srgbClr val="172033"/>
                </a:solidFill>
                <a:effectLst/>
                <a:uFillTx/>
                <a:latin typeface="Montserrat"/>
              </a:rPr>
              <a:t>Asistente virtual</a:t>
            </a:r>
            <a:endParaRPr lang="es-CO" sz="920" b="0" u="none" strike="noStrike">
              <a:solidFill>
                <a:srgbClr val="000000"/>
              </a:solidFill>
              <a:effectLst/>
              <a:uFillTx/>
              <a:latin typeface="Arial"/>
            </a:endParaRPr>
          </a:p>
        </p:txBody>
      </p:sp>
      <p:sp>
        <p:nvSpPr>
          <p:cNvPr id="343" name="Shape 50"/>
          <p:cNvSpPr/>
          <p:nvPr/>
        </p:nvSpPr>
        <p:spPr>
          <a:xfrm>
            <a:off x="1737360" y="6053040"/>
            <a:ext cx="8458200" cy="360"/>
          </a:xfrm>
          <a:prstGeom prst="line">
            <a:avLst/>
          </a:prstGeom>
          <a:ln w="21590">
            <a:solidFill>
              <a:srgbClr val="002D58"/>
            </a:solidFill>
            <a:round/>
            <a:headEnd len="med" type="triangle" w="med"/>
          </a:ln>
        </p:spPr>
        <p:style>
          <a:lnRef idx="0"/>
          <a:fillRef idx="0"/>
          <a:effectRef idx="0"/>
          <a:fontRef idx="minor"/>
        </p:style>
        <p:txBody>
          <a:bodyPr lIns="90000" tIns="-44640" rIns="90000" bIns="-44640" anchor="t" anchorCtr="1">
            <a:noAutofit/>
          </a:bodyPr>
          <a:p>
            <a:endParaRPr lang="es-CO" sz="1800" b="0" u="none" strike="noStrike">
              <a:solidFill>
                <a:srgbClr val="000000"/>
              </a:solidFill>
              <a:effectLst/>
              <a:uFillTx/>
              <a:latin typeface="Arial"/>
            </a:endParaRPr>
          </a:p>
        </p:txBody>
      </p:sp>
      <p:sp>
        <p:nvSpPr>
          <p:cNvPr id="344" name="Text 51"/>
          <p:cNvSpPr/>
          <p:nvPr/>
        </p:nvSpPr>
        <p:spPr>
          <a:xfrm>
            <a:off x="4526280" y="6144840"/>
            <a:ext cx="21027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002D58"/>
                </a:solidFill>
                <a:effectLst/>
                <a:uFillTx/>
                <a:latin typeface="Montserrat"/>
              </a:rPr>
              <a:t>Respuesta y evidencia</a:t>
            </a:r>
            <a:endParaRPr lang="es-CO" sz="700" b="0" u="none" strike="noStrike">
              <a:solidFill>
                <a:srgbClr val="000000"/>
              </a:solidFill>
              <a:effectLst/>
              <a:uFillTx/>
              <a:latin typeface="Arial"/>
            </a:endParaRPr>
          </a:p>
        </p:txBody>
      </p:sp>
      <p:sp>
        <p:nvSpPr>
          <p:cNvPr id="345" name="PlaceHolder 1"/>
          <p:cNvSpPr>
            <a:spLocks noGrp="1"/>
          </p:cNvSpPr>
          <p:nvPr>
            <p:ph type="sldNum" idx="14"/>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41D9812C-6598-470B-8570-23F539175B33}"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IA EXPLICABLE</a:t>
            </a:r>
            <a:endParaRPr lang="es-CO" sz="750" b="0" u="none" strike="noStrike">
              <a:solidFill>
                <a:srgbClr val="000000"/>
              </a:solidFill>
              <a:effectLst/>
              <a:uFillTx/>
              <a:latin typeface="Arial"/>
            </a:endParaRPr>
          </a:p>
        </p:txBody>
      </p:sp>
      <p:sp>
        <p:nvSpPr>
          <p:cNvPr id="347"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Tres capas complementarias; ninguna decide culpabilidad</a:t>
            </a:r>
            <a:endParaRPr lang="es-CO" sz="2500" b="0" u="none" strike="noStrike">
              <a:solidFill>
                <a:srgbClr val="000000"/>
              </a:solidFill>
              <a:effectLst/>
              <a:uFillTx/>
              <a:latin typeface="Arial"/>
            </a:endParaRPr>
          </a:p>
        </p:txBody>
      </p:sp>
      <p:sp>
        <p:nvSpPr>
          <p:cNvPr id="348"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La IA ayuda a encontrar y explicar señales. La revisión humana conserva la decisión final.</a:t>
            </a:r>
            <a:endParaRPr lang="es-CO" sz="950" b="0" u="none" strike="noStrike">
              <a:solidFill>
                <a:srgbClr val="000000"/>
              </a:solidFill>
              <a:effectLst/>
              <a:uFillTx/>
              <a:latin typeface="Arial"/>
            </a:endParaRPr>
          </a:p>
        </p:txBody>
      </p:sp>
      <p:sp>
        <p:nvSpPr>
          <p:cNvPr id="349" name="Shape 3"/>
          <p:cNvSpPr/>
          <p:nvPr/>
        </p:nvSpPr>
        <p:spPr>
          <a:xfrm>
            <a:off x="567000" y="1554480"/>
            <a:ext cx="3401280" cy="3401280"/>
          </a:xfrm>
          <a:prstGeom prst="roundRect">
            <a:avLst>
              <a:gd name="adj" fmla="val 2151"/>
            </a:avLst>
          </a:prstGeom>
          <a:solidFill>
            <a:srgbClr val="EDF3F8"/>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50" name="Shape 4"/>
          <p:cNvSpPr/>
          <p:nvPr/>
        </p:nvSpPr>
        <p:spPr>
          <a:xfrm>
            <a:off x="567000" y="1554480"/>
            <a:ext cx="63720" cy="340128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51" name="Text 5"/>
          <p:cNvSpPr/>
          <p:nvPr/>
        </p:nvSpPr>
        <p:spPr>
          <a:xfrm>
            <a:off x="768240" y="1719000"/>
            <a:ext cx="3035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ea typeface="Montserrat"/>
              </a:rPr>
              <a:t>Reglas transparentes</a:t>
            </a:r>
            <a:endParaRPr lang="es-CO" sz="1400" b="0" u="none" strike="noStrike">
              <a:solidFill>
                <a:srgbClr val="000000"/>
              </a:solidFill>
              <a:effectLst/>
              <a:uFillTx/>
              <a:latin typeface="Arial"/>
            </a:endParaRPr>
          </a:p>
        </p:txBody>
      </p:sp>
      <p:sp>
        <p:nvSpPr>
          <p:cNvPr id="352" name="Text 6"/>
          <p:cNvSpPr/>
          <p:nvPr/>
        </p:nvSpPr>
        <p:spPr>
          <a:xfrm>
            <a:off x="768240" y="2084760"/>
            <a:ext cx="3035520" cy="27428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9 banderas con puntos visibles:</a:t>
            </a:r>
            <a:endParaRPr lang="es-CO" sz="1000" b="0" u="none" strike="noStrike">
              <a:solidFill>
                <a:srgbClr val="000000"/>
              </a:solidFill>
              <a:effectLst/>
              <a:uFillTx/>
              <a:latin typeface="Arial"/>
            </a:endParaRPr>
          </a:p>
          <a:p>
            <a:pPr defTabSz="914400">
              <a:lnSpc>
                <a:spcPct val="100000"/>
              </a:lnSpc>
              <a:tabLst>
                <a:tab pos="0" algn="l"/>
              </a:tabLst>
            </a:pP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vencimientos y extensiones</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baja ejecución</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concentración de entidades</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antecedentes y multas</a:t>
            </a:r>
            <a:endParaRPr lang="es-CO" sz="1000" b="0" u="none" strike="noStrike">
              <a:solidFill>
                <a:srgbClr val="000000"/>
              </a:solidFill>
              <a:effectLst/>
              <a:uFillTx/>
              <a:latin typeface="Arial"/>
            </a:endParaRPr>
          </a:p>
          <a:p>
            <a:pPr defTabSz="914400">
              <a:lnSpc>
                <a:spcPct val="100000"/>
              </a:lnSpc>
              <a:tabLst>
                <a:tab pos="0" algn="l"/>
              </a:tabLst>
            </a:pP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El usuario ve la causa y el aporte al score.</a:t>
            </a:r>
            <a:endParaRPr lang="es-CO" sz="1000" b="0" u="none" strike="noStrike">
              <a:solidFill>
                <a:srgbClr val="000000"/>
              </a:solidFill>
              <a:effectLst/>
              <a:uFillTx/>
              <a:latin typeface="Arial"/>
            </a:endParaRPr>
          </a:p>
        </p:txBody>
      </p:sp>
      <p:sp>
        <p:nvSpPr>
          <p:cNvPr id="353" name="Shape 7"/>
          <p:cNvSpPr/>
          <p:nvPr/>
        </p:nvSpPr>
        <p:spPr>
          <a:xfrm>
            <a:off x="4389120" y="1554480"/>
            <a:ext cx="3401280" cy="3401280"/>
          </a:xfrm>
          <a:prstGeom prst="roundRect">
            <a:avLst>
              <a:gd name="adj" fmla="val 2151"/>
            </a:avLst>
          </a:prstGeom>
          <a:solidFill>
            <a:srgbClr val="FFFCED"/>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54" name="Shape 8"/>
          <p:cNvSpPr/>
          <p:nvPr/>
        </p:nvSpPr>
        <p:spPr>
          <a:xfrm>
            <a:off x="4389120" y="1554480"/>
            <a:ext cx="63720" cy="340128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55" name="Text 9"/>
          <p:cNvSpPr/>
          <p:nvPr/>
        </p:nvSpPr>
        <p:spPr>
          <a:xfrm>
            <a:off x="4590360" y="1719000"/>
            <a:ext cx="3035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ea typeface="Montserrat"/>
              </a:rPr>
              <a:t>Detección de anomalías</a:t>
            </a:r>
            <a:endParaRPr lang="es-CO" sz="1400" b="0" u="none" strike="noStrike">
              <a:solidFill>
                <a:srgbClr val="000000"/>
              </a:solidFill>
              <a:effectLst/>
              <a:uFillTx/>
              <a:latin typeface="Arial"/>
            </a:endParaRPr>
          </a:p>
        </p:txBody>
      </p:sp>
      <p:sp>
        <p:nvSpPr>
          <p:cNvPr id="356" name="Text 10"/>
          <p:cNvSpPr/>
          <p:nvPr/>
        </p:nvSpPr>
        <p:spPr>
          <a:xfrm>
            <a:off x="4590360" y="2084760"/>
            <a:ext cx="3035520" cy="27428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Isolation Forest por sector:</a:t>
            </a:r>
            <a:endParaRPr lang="es-CO" sz="1000" b="0" u="none" strike="noStrike">
              <a:solidFill>
                <a:srgbClr val="000000"/>
              </a:solidFill>
              <a:effectLst/>
              <a:uFillTx/>
              <a:latin typeface="Arial"/>
            </a:endParaRPr>
          </a:p>
          <a:p>
            <a:pPr defTabSz="914400">
              <a:lnSpc>
                <a:spcPct val="100000"/>
              </a:lnSpc>
              <a:tabLst>
                <a:tab pos="0" algn="l"/>
              </a:tabLst>
            </a:pP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9 variables normalizadas</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100 árboles</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contaminación esperada: 15 %</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bandera si score &lt; −0,05</a:t>
            </a:r>
            <a:endParaRPr lang="es-CO" sz="1000" b="0" u="none" strike="noStrike">
              <a:solidFill>
                <a:srgbClr val="000000"/>
              </a:solidFill>
              <a:effectLst/>
              <a:uFillTx/>
              <a:latin typeface="Arial"/>
            </a:endParaRPr>
          </a:p>
          <a:p>
            <a:pPr defTabSz="914400">
              <a:lnSpc>
                <a:spcPct val="100000"/>
              </a:lnSpc>
              <a:tabLst>
                <a:tab pos="0" algn="l"/>
              </a:tabLst>
            </a:pP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Compara cada NIT con sus pares.</a:t>
            </a:r>
            <a:endParaRPr lang="es-CO" sz="1000" b="0" u="none" strike="noStrike">
              <a:solidFill>
                <a:srgbClr val="000000"/>
              </a:solidFill>
              <a:effectLst/>
              <a:uFillTx/>
              <a:latin typeface="Arial"/>
            </a:endParaRPr>
          </a:p>
        </p:txBody>
      </p:sp>
      <p:sp>
        <p:nvSpPr>
          <p:cNvPr id="357" name="Shape 11"/>
          <p:cNvSpPr/>
          <p:nvPr/>
        </p:nvSpPr>
        <p:spPr>
          <a:xfrm>
            <a:off x="8211240" y="1554480"/>
            <a:ext cx="3401280" cy="3401280"/>
          </a:xfrm>
          <a:prstGeom prst="roundRect">
            <a:avLst>
              <a:gd name="adj" fmla="val 2151"/>
            </a:avLst>
          </a:prstGeom>
          <a:solidFill>
            <a:srgbClr val="EAF7F1"/>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58" name="Shape 12"/>
          <p:cNvSpPr/>
          <p:nvPr/>
        </p:nvSpPr>
        <p:spPr>
          <a:xfrm>
            <a:off x="8211240" y="1554480"/>
            <a:ext cx="63720" cy="340128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359" name="Text 13"/>
          <p:cNvSpPr/>
          <p:nvPr/>
        </p:nvSpPr>
        <p:spPr>
          <a:xfrm>
            <a:off x="8412480" y="1719000"/>
            <a:ext cx="3035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2D58"/>
                </a:solidFill>
                <a:effectLst/>
                <a:uFillTx/>
                <a:latin typeface="Montserrat"/>
                <a:ea typeface="Montserrat"/>
              </a:rPr>
              <a:t>Agente conversacional</a:t>
            </a:r>
            <a:endParaRPr lang="es-CO" sz="1400" b="0" u="none" strike="noStrike">
              <a:solidFill>
                <a:srgbClr val="000000"/>
              </a:solidFill>
              <a:effectLst/>
              <a:uFillTx/>
              <a:latin typeface="Arial"/>
            </a:endParaRPr>
          </a:p>
        </p:txBody>
      </p:sp>
      <p:sp>
        <p:nvSpPr>
          <p:cNvPr id="360" name="Text 14"/>
          <p:cNvSpPr/>
          <p:nvPr/>
        </p:nvSpPr>
        <p:spPr>
          <a:xfrm>
            <a:off x="8412480" y="2084760"/>
            <a:ext cx="3035520" cy="27428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Hive Agents coordina herramientas para:</a:t>
            </a:r>
            <a:endParaRPr lang="es-CO" sz="1000" b="0" u="none" strike="noStrike">
              <a:solidFill>
                <a:srgbClr val="000000"/>
              </a:solidFill>
              <a:effectLst/>
              <a:uFillTx/>
              <a:latin typeface="Arial"/>
            </a:endParaRPr>
          </a:p>
          <a:p>
            <a:pPr defTabSz="914400">
              <a:lnSpc>
                <a:spcPct val="100000"/>
              </a:lnSpc>
              <a:tabLst>
                <a:tab pos="0" algn="l"/>
              </a:tabLst>
            </a:pP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buscar contratistas</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consultar scores y sanciones</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listar riesgos por sector</a:t>
            </a: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 responder con contexto y fuente</a:t>
            </a:r>
            <a:endParaRPr lang="es-CO" sz="1000" b="0" u="none" strike="noStrike">
              <a:solidFill>
                <a:srgbClr val="000000"/>
              </a:solidFill>
              <a:effectLst/>
              <a:uFillTx/>
              <a:latin typeface="Arial"/>
            </a:endParaRPr>
          </a:p>
          <a:p>
            <a:pPr defTabSz="914400">
              <a:lnSpc>
                <a:spcPct val="100000"/>
              </a:lnSpc>
              <a:tabLst>
                <a:tab pos="0" algn="l"/>
              </a:tabLst>
            </a:pPr>
            <a:endParaRPr lang="es-CO"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172033"/>
                </a:solidFill>
                <a:effectLst/>
                <a:uFillTx/>
                <a:latin typeface="Montserrat"/>
                <a:ea typeface="Montserrat"/>
              </a:rPr>
              <a:t>No responde solo desde memoria.</a:t>
            </a:r>
            <a:endParaRPr lang="es-CO" sz="1000" b="0" u="none" strike="noStrike">
              <a:solidFill>
                <a:srgbClr val="000000"/>
              </a:solidFill>
              <a:effectLst/>
              <a:uFillTx/>
              <a:latin typeface="Arial"/>
            </a:endParaRPr>
          </a:p>
        </p:txBody>
      </p:sp>
      <p:sp>
        <p:nvSpPr>
          <p:cNvPr id="361" name="Shape 15"/>
          <p:cNvSpPr/>
          <p:nvPr/>
        </p:nvSpPr>
        <p:spPr>
          <a:xfrm>
            <a:off x="567000" y="5266800"/>
            <a:ext cx="11045520" cy="658080"/>
          </a:xfrm>
          <a:prstGeom prst="roundRect">
            <a:avLst>
              <a:gd name="adj" fmla="val 5556"/>
            </a:avLst>
          </a:prstGeom>
          <a:solidFill>
            <a:srgbClr val="FDEBEC"/>
          </a:solidFill>
          <a:ln w="12700">
            <a:solidFill>
              <a:srgbClr val="F5C4C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62" name="Text 16"/>
          <p:cNvSpPr/>
          <p:nvPr/>
        </p:nvSpPr>
        <p:spPr>
          <a:xfrm>
            <a:off x="822960" y="5486400"/>
            <a:ext cx="15724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11" strike="noStrike">
                <a:solidFill>
                  <a:srgbClr val="CE1126"/>
                </a:solidFill>
                <a:effectLst/>
                <a:uFillTx/>
                <a:latin typeface="Montserrat"/>
              </a:rPr>
              <a:t>LÍMITES Y SESGOS</a:t>
            </a:r>
            <a:endParaRPr lang="es-CO" sz="750" b="0" u="none" strike="noStrike">
              <a:solidFill>
                <a:srgbClr val="000000"/>
              </a:solidFill>
              <a:effectLst/>
              <a:uFillTx/>
              <a:latin typeface="Arial"/>
            </a:endParaRPr>
          </a:p>
        </p:txBody>
      </p:sp>
      <p:sp>
        <p:nvSpPr>
          <p:cNvPr id="363" name="Text 17"/>
          <p:cNvSpPr/>
          <p:nvPr/>
        </p:nvSpPr>
        <p:spPr>
          <a:xfrm>
            <a:off x="2286000" y="5468040"/>
            <a:ext cx="9006480" cy="219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80" b="1" u="none" strike="noStrike">
                <a:solidFill>
                  <a:srgbClr val="172033"/>
                </a:solidFill>
                <a:effectLst/>
                <a:uFillTx/>
                <a:latin typeface="Montserrat"/>
              </a:rPr>
              <a:t>Calidad y rezago de la fuente · ausencia de etiquetas de corrupción · outlier ≠ irregularidad · diferencias entre sectores · revisión humana obligatoria</a:t>
            </a:r>
            <a:endParaRPr lang="es-CO" sz="880" b="0" u="none" strike="noStrike">
              <a:solidFill>
                <a:srgbClr val="000000"/>
              </a:solidFill>
              <a:effectLst/>
              <a:uFillTx/>
              <a:latin typeface="Arial"/>
            </a:endParaRPr>
          </a:p>
        </p:txBody>
      </p:sp>
      <p:sp>
        <p:nvSpPr>
          <p:cNvPr id="364" name="Text 18"/>
          <p:cNvSpPr/>
          <p:nvPr/>
        </p:nvSpPr>
        <p:spPr>
          <a:xfrm>
            <a:off x="914400" y="6071760"/>
            <a:ext cx="10332360" cy="191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0" u="none" strike="noStrike">
                <a:solidFill>
                  <a:srgbClr val="5A677D"/>
                </a:solidFill>
                <a:effectLst/>
                <a:uFillTx/>
                <a:latin typeface="Montserrat"/>
              </a:rPr>
              <a:t>Validamos coherencia del score, estabilidad del pipeline y trazabilidad; no publicamos una “precisión” ficticia sin etiquetas confiables.</a:t>
            </a:r>
            <a:endParaRPr lang="es-CO" sz="750" b="0" u="none" strike="noStrike">
              <a:solidFill>
                <a:srgbClr val="000000"/>
              </a:solidFill>
              <a:effectLst/>
              <a:uFillTx/>
              <a:latin typeface="Arial"/>
            </a:endParaRPr>
          </a:p>
        </p:txBody>
      </p:sp>
      <p:sp>
        <p:nvSpPr>
          <p:cNvPr id="365" name="PlaceHolder 1"/>
          <p:cNvSpPr>
            <a:spLocks noGrp="1"/>
          </p:cNvSpPr>
          <p:nvPr>
            <p:ph type="sldNum" idx="15"/>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9C6CE262-BD5B-4C55-BBF6-A0D24AD4B048}"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RESULTADOS E IMPACTO</a:t>
            </a:r>
            <a:endParaRPr lang="es-CO" sz="750" b="0" u="none" strike="noStrike">
              <a:solidFill>
                <a:srgbClr val="000000"/>
              </a:solidFill>
              <a:effectLst/>
              <a:uFillTx/>
              <a:latin typeface="Arial"/>
            </a:endParaRPr>
          </a:p>
        </p:txBody>
      </p:sp>
      <p:sp>
        <p:nvSpPr>
          <p:cNvPr id="367"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La solución está desplegada, funciona con datos reales y puede replicarse</a:t>
            </a:r>
            <a:endParaRPr lang="es-CO" sz="2500" b="0" u="none" strike="noStrike">
              <a:solidFill>
                <a:srgbClr val="000000"/>
              </a:solidFill>
              <a:effectLst/>
              <a:uFillTx/>
              <a:latin typeface="Arial"/>
            </a:endParaRPr>
          </a:p>
        </p:txBody>
      </p:sp>
      <p:sp>
        <p:nvSpPr>
          <p:cNvPr id="368"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Captura del módulo de alertas en producción · 16 de julio de 2026.</a:t>
            </a:r>
            <a:endParaRPr lang="es-CO" sz="950" b="0" u="none" strike="noStrike">
              <a:solidFill>
                <a:srgbClr val="000000"/>
              </a:solidFill>
              <a:effectLst/>
              <a:uFillTx/>
              <a:latin typeface="Arial"/>
            </a:endParaRPr>
          </a:p>
        </p:txBody>
      </p:sp>
      <p:sp>
        <p:nvSpPr>
          <p:cNvPr id="369" name="Shape 3"/>
          <p:cNvSpPr/>
          <p:nvPr/>
        </p:nvSpPr>
        <p:spPr>
          <a:xfrm>
            <a:off x="530280" y="1499760"/>
            <a:ext cx="6720480" cy="4224240"/>
          </a:xfrm>
          <a:prstGeom prst="roundRect">
            <a:avLst>
              <a:gd name="adj" fmla="val 1082"/>
            </a:avLst>
          </a:prstGeom>
          <a:solidFill>
            <a:srgbClr val="FFFFFF"/>
          </a:solidFill>
          <a:ln w="12700">
            <a:solidFill>
              <a:srgbClr val="D8E1EC"/>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pic>
        <p:nvPicPr>
          <p:cNvPr id="370" name="Image 0" descr="/home/johnpaez/Documentos/Apps/observatorio/scripts/presentation_assets/alertas.png"/>
          <p:cNvPicPr/>
          <p:nvPr/>
        </p:nvPicPr>
        <p:blipFill>
          <a:blip r:embed="rId1"/>
          <a:stretch/>
        </p:blipFill>
        <p:spPr>
          <a:xfrm>
            <a:off x="676800" y="1645920"/>
            <a:ext cx="6427800" cy="4014000"/>
          </a:xfrm>
          <a:prstGeom prst="rect">
            <a:avLst/>
          </a:prstGeom>
          <a:noFill/>
          <a:ln w="0">
            <a:noFill/>
          </a:ln>
        </p:spPr>
      </p:pic>
      <p:sp>
        <p:nvSpPr>
          <p:cNvPr id="371" name="Text 4"/>
          <p:cNvSpPr/>
          <p:nvPr/>
        </p:nvSpPr>
        <p:spPr>
          <a:xfrm>
            <a:off x="7452360" y="1572840"/>
            <a:ext cx="1828440" cy="529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002D58"/>
                </a:solidFill>
                <a:effectLst/>
                <a:uFillTx/>
                <a:latin typeface="Montserrat"/>
                <a:ea typeface="Montserrat"/>
              </a:rPr>
              <a:t>5,70 M</a:t>
            </a:r>
            <a:endParaRPr lang="es-CO" sz="2500" b="0" u="none" strike="noStrike">
              <a:solidFill>
                <a:srgbClr val="000000"/>
              </a:solidFill>
              <a:effectLst/>
              <a:uFillTx/>
              <a:latin typeface="Arial"/>
            </a:endParaRPr>
          </a:p>
        </p:txBody>
      </p:sp>
      <p:sp>
        <p:nvSpPr>
          <p:cNvPr id="372" name="Text 5"/>
          <p:cNvSpPr/>
          <p:nvPr/>
        </p:nvSpPr>
        <p:spPr>
          <a:xfrm>
            <a:off x="7452360" y="2103120"/>
            <a:ext cx="18284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 b="1" u="none" spc="99" strike="noStrike">
                <a:solidFill>
                  <a:srgbClr val="5A677D"/>
                </a:solidFill>
                <a:effectLst/>
                <a:uFillTx/>
                <a:latin typeface="Montserrat"/>
                <a:ea typeface="Montserrat"/>
              </a:rPr>
              <a:t>CONTRATOS CONSULTABLES</a:t>
            </a:r>
            <a:endParaRPr lang="es-CO" sz="720" b="0" u="none" strike="noStrike">
              <a:solidFill>
                <a:srgbClr val="000000"/>
              </a:solidFill>
              <a:effectLst/>
              <a:uFillTx/>
              <a:latin typeface="Arial"/>
            </a:endParaRPr>
          </a:p>
        </p:txBody>
      </p:sp>
      <p:sp>
        <p:nvSpPr>
          <p:cNvPr id="373" name="Text 6"/>
          <p:cNvSpPr/>
          <p:nvPr/>
        </p:nvSpPr>
        <p:spPr>
          <a:xfrm>
            <a:off x="9555480" y="1572840"/>
            <a:ext cx="1828440" cy="529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CE1126"/>
                </a:solidFill>
                <a:effectLst/>
                <a:uFillTx/>
                <a:latin typeface="Montserrat"/>
                <a:ea typeface="Montserrat"/>
              </a:rPr>
              <a:t>460</a:t>
            </a:r>
            <a:endParaRPr lang="es-CO" sz="2500" b="0" u="none" strike="noStrike">
              <a:solidFill>
                <a:srgbClr val="000000"/>
              </a:solidFill>
              <a:effectLst/>
              <a:uFillTx/>
              <a:latin typeface="Arial"/>
            </a:endParaRPr>
          </a:p>
        </p:txBody>
      </p:sp>
      <p:sp>
        <p:nvSpPr>
          <p:cNvPr id="374" name="Text 7"/>
          <p:cNvSpPr/>
          <p:nvPr/>
        </p:nvSpPr>
        <p:spPr>
          <a:xfrm>
            <a:off x="9555480" y="2103120"/>
            <a:ext cx="18284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 b="1" u="none" spc="99" strike="noStrike">
                <a:solidFill>
                  <a:srgbClr val="5A677D"/>
                </a:solidFill>
                <a:effectLst/>
                <a:uFillTx/>
                <a:latin typeface="Montserrat"/>
                <a:ea typeface="Montserrat"/>
              </a:rPr>
              <a:t>ALERTAS ROJAS VISIBLES</a:t>
            </a:r>
            <a:endParaRPr lang="es-CO" sz="720" b="0" u="none" strike="noStrike">
              <a:solidFill>
                <a:srgbClr val="000000"/>
              </a:solidFill>
              <a:effectLst/>
              <a:uFillTx/>
              <a:latin typeface="Arial"/>
            </a:endParaRPr>
          </a:p>
        </p:txBody>
      </p:sp>
      <p:sp>
        <p:nvSpPr>
          <p:cNvPr id="375" name="Text 8"/>
          <p:cNvSpPr/>
          <p:nvPr/>
        </p:nvSpPr>
        <p:spPr>
          <a:xfrm>
            <a:off x="7452360" y="2670120"/>
            <a:ext cx="1828440" cy="529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004884"/>
                </a:solidFill>
                <a:effectLst/>
                <a:uFillTx/>
                <a:latin typeface="Montserrat"/>
                <a:ea typeface="Montserrat"/>
              </a:rPr>
              <a:t>9</a:t>
            </a:r>
            <a:endParaRPr lang="es-CO" sz="2500" b="0" u="none" strike="noStrike">
              <a:solidFill>
                <a:srgbClr val="000000"/>
              </a:solidFill>
              <a:effectLst/>
              <a:uFillTx/>
              <a:latin typeface="Arial"/>
            </a:endParaRPr>
          </a:p>
        </p:txBody>
      </p:sp>
      <p:sp>
        <p:nvSpPr>
          <p:cNvPr id="376" name="Text 9"/>
          <p:cNvSpPr/>
          <p:nvPr/>
        </p:nvSpPr>
        <p:spPr>
          <a:xfrm>
            <a:off x="7452360" y="3200400"/>
            <a:ext cx="18284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 b="1" u="none" spc="99" strike="noStrike">
                <a:solidFill>
                  <a:srgbClr val="5A677D"/>
                </a:solidFill>
                <a:effectLst/>
                <a:uFillTx/>
                <a:latin typeface="Montserrat"/>
                <a:ea typeface="Montserrat"/>
              </a:rPr>
              <a:t>BANDERAS EXPLICABLES</a:t>
            </a:r>
            <a:endParaRPr lang="es-CO" sz="720" b="0" u="none" strike="noStrike">
              <a:solidFill>
                <a:srgbClr val="000000"/>
              </a:solidFill>
              <a:effectLst/>
              <a:uFillTx/>
              <a:latin typeface="Arial"/>
            </a:endParaRPr>
          </a:p>
        </p:txBody>
      </p:sp>
      <p:sp>
        <p:nvSpPr>
          <p:cNvPr id="377" name="Text 10"/>
          <p:cNvSpPr/>
          <p:nvPr/>
        </p:nvSpPr>
        <p:spPr>
          <a:xfrm>
            <a:off x="9555480" y="2670120"/>
            <a:ext cx="1828440" cy="529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16865A"/>
                </a:solidFill>
                <a:effectLst/>
                <a:uFillTx/>
                <a:latin typeface="Montserrat"/>
                <a:ea typeface="Montserrat"/>
              </a:rPr>
              <a:t>5</a:t>
            </a:r>
            <a:endParaRPr lang="es-CO" sz="2500" b="0" u="none" strike="noStrike">
              <a:solidFill>
                <a:srgbClr val="000000"/>
              </a:solidFill>
              <a:effectLst/>
              <a:uFillTx/>
              <a:latin typeface="Arial"/>
            </a:endParaRPr>
          </a:p>
        </p:txBody>
      </p:sp>
      <p:sp>
        <p:nvSpPr>
          <p:cNvPr id="378" name="Text 11"/>
          <p:cNvSpPr/>
          <p:nvPr/>
        </p:nvSpPr>
        <p:spPr>
          <a:xfrm>
            <a:off x="9555480" y="3200400"/>
            <a:ext cx="18284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 b="1" u="none" spc="99" strike="noStrike">
                <a:solidFill>
                  <a:srgbClr val="5A677D"/>
                </a:solidFill>
                <a:effectLst/>
                <a:uFillTx/>
                <a:latin typeface="Montserrat"/>
                <a:ea typeface="Montserrat"/>
              </a:rPr>
              <a:t>DOMINIOS EN LA API</a:t>
            </a:r>
            <a:endParaRPr lang="es-CO" sz="720" b="0" u="none" strike="noStrike">
              <a:solidFill>
                <a:srgbClr val="000000"/>
              </a:solidFill>
              <a:effectLst/>
              <a:uFillTx/>
              <a:latin typeface="Arial"/>
            </a:endParaRPr>
          </a:p>
        </p:txBody>
      </p:sp>
      <p:sp>
        <p:nvSpPr>
          <p:cNvPr id="379" name="Shape 12"/>
          <p:cNvSpPr/>
          <p:nvPr/>
        </p:nvSpPr>
        <p:spPr>
          <a:xfrm>
            <a:off x="7406640" y="3767400"/>
            <a:ext cx="4068720" cy="1956600"/>
          </a:xfrm>
          <a:prstGeom prst="roundRect">
            <a:avLst>
              <a:gd name="adj" fmla="val 3738"/>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80" name="Shape 13"/>
          <p:cNvSpPr/>
          <p:nvPr/>
        </p:nvSpPr>
        <p:spPr>
          <a:xfrm>
            <a:off x="7406640" y="3767400"/>
            <a:ext cx="63720" cy="195660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381" name="Text 14"/>
          <p:cNvSpPr/>
          <p:nvPr/>
        </p:nvSpPr>
        <p:spPr>
          <a:xfrm>
            <a:off x="7607880" y="3931920"/>
            <a:ext cx="3702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Impacto y escalabilidad</a:t>
            </a:r>
            <a:endParaRPr lang="es-CO" sz="1200" b="0" u="none" strike="noStrike">
              <a:solidFill>
                <a:srgbClr val="000000"/>
              </a:solidFill>
              <a:effectLst/>
              <a:uFillTx/>
              <a:latin typeface="Arial"/>
            </a:endParaRPr>
          </a:p>
        </p:txBody>
      </p:sp>
      <p:sp>
        <p:nvSpPr>
          <p:cNvPr id="382" name="Text 15"/>
          <p:cNvSpPr/>
          <p:nvPr/>
        </p:nvSpPr>
        <p:spPr>
          <a:xfrm>
            <a:off x="7607880" y="4297680"/>
            <a:ext cx="3702960" cy="129816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Social: democratiza la consulta.</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Operativo: focaliza revisiones.</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Producto: API reusable + aplicación pública.</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Escala: nuevos datasets, sectores y canales.</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Evidencia: Docker, tests, caché y exportación CSV.</a:t>
            </a:r>
            <a:endParaRPr lang="es-CO" sz="850" b="0" u="none" strike="noStrike">
              <a:solidFill>
                <a:srgbClr val="000000"/>
              </a:solidFill>
              <a:effectLst/>
              <a:uFillTx/>
              <a:latin typeface="Arial"/>
            </a:endParaRPr>
          </a:p>
        </p:txBody>
      </p:sp>
      <p:sp>
        <p:nvSpPr>
          <p:cNvPr id="383" name="Text 16"/>
          <p:cNvSpPr/>
          <p:nvPr/>
        </p:nvSpPr>
        <p:spPr>
          <a:xfrm>
            <a:off x="713160" y="5961960"/>
            <a:ext cx="1083528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CE1126"/>
                </a:solidFill>
                <a:effectLst/>
                <a:uFillTx/>
                <a:latin typeface="Montserrat"/>
              </a:rPr>
              <a:t>Limitación actual: el valor depende de la calidad, actualización y cobertura de cada fuente pública.</a:t>
            </a:r>
            <a:endParaRPr lang="es-CO" sz="750" b="0" u="none" strike="noStrike">
              <a:solidFill>
                <a:srgbClr val="000000"/>
              </a:solidFill>
              <a:effectLst/>
              <a:uFillTx/>
              <a:latin typeface="Arial"/>
            </a:endParaRPr>
          </a:p>
        </p:txBody>
      </p:sp>
      <p:sp>
        <p:nvSpPr>
          <p:cNvPr id="384" name="PlaceHolder 1"/>
          <p:cNvSpPr>
            <a:spLocks noGrp="1"/>
          </p:cNvSpPr>
          <p:nvPr>
            <p:ph type="sldNum" idx="16"/>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095564D9-4295-494F-88A2-FDCBE00B4F64}"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D58"/>
        </a:solidFill>
      </p:bgPr>
    </p:bg>
    <p:spTree>
      <p:nvGrpSpPr>
        <p:cNvPr id="1" name=""/>
        <p:cNvGrpSpPr/>
        <p:nvPr/>
      </p:nvGrpSpPr>
      <p:grpSpPr>
        <a:xfrm>
          <a:off x="0" y="0"/>
          <a:ext cx="0" cy="0"/>
          <a:chOff x="0" y="0"/>
          <a:chExt cx="0" cy="0"/>
        </a:xfrm>
      </p:grpSpPr>
      <p:pic>
        <p:nvPicPr>
          <p:cNvPr id="385" name="Image 0" descr="/home/johnpaez/Documentos/Apps/observatorio/frontend/public/favicon.svg"/>
          <p:cNvPicPr/>
          <p:nvPr/>
        </p:nvPicPr>
        <p:blipFill>
          <a:blip r:embed="rId1">
            <a:extLst>
              <a:ext uri="{96DAC541-7B7A-43D3-8B79-37D633B846F1}">
                <asvg:svgBlip xmlns:asvg="http://schemas.microsoft.com/office/drawing/2016/SVG/main" r:embed="rId2"/>
              </a:ext>
            </a:extLst>
          </a:blip>
          <a:stretch/>
        </p:blipFill>
        <p:spPr>
          <a:xfrm>
            <a:off x="567000" y="457200"/>
            <a:ext cx="502560" cy="502560"/>
          </a:xfrm>
          <a:prstGeom prst="rect">
            <a:avLst/>
          </a:prstGeom>
          <a:noFill/>
          <a:ln w="0">
            <a:noFill/>
          </a:ln>
        </p:spPr>
      </p:pic>
      <p:sp>
        <p:nvSpPr>
          <p:cNvPr id="386" name="Text 0"/>
          <p:cNvSpPr/>
          <p:nvPr/>
        </p:nvSpPr>
        <p:spPr>
          <a:xfrm>
            <a:off x="1261800" y="61272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50" strike="noStrike">
                <a:solidFill>
                  <a:srgbClr val="FEC82F"/>
                </a:solidFill>
                <a:effectLst/>
                <a:uFillTx/>
                <a:latin typeface="Montserrat"/>
              </a:rPr>
              <a:t>DE LA PROMESA A LA EVIDENCIA</a:t>
            </a:r>
            <a:endParaRPr lang="es-CO" sz="800" b="0" u="none" strike="noStrike">
              <a:solidFill>
                <a:srgbClr val="FFFFFF"/>
              </a:solidFill>
              <a:effectLst/>
              <a:uFillTx/>
              <a:latin typeface="Arial"/>
            </a:endParaRPr>
          </a:p>
        </p:txBody>
      </p:sp>
      <p:sp>
        <p:nvSpPr>
          <p:cNvPr id="387" name="Text 1"/>
          <p:cNvSpPr/>
          <p:nvPr/>
        </p:nvSpPr>
        <p:spPr>
          <a:xfrm>
            <a:off x="621720" y="1298520"/>
            <a:ext cx="48916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Montserrat"/>
              </a:rPr>
              <a:t>Ahora hablemos</a:t>
            </a:r>
            <a:endParaRPr lang="es-CO" sz="3400" b="0" u="none" strike="noStrike">
              <a:solidFill>
                <a:srgbClr val="FFFFFF"/>
              </a:solidFill>
              <a:effectLst/>
              <a:uFillTx/>
              <a:latin typeface="Arial"/>
            </a:endParaRPr>
          </a:p>
          <a:p>
            <a:pPr defTabSz="914400">
              <a:lnSpc>
                <a:spcPct val="100000"/>
              </a:lnSpc>
              <a:tabLst>
                <a:tab pos="0" algn="l"/>
              </a:tabLst>
            </a:pPr>
            <a:r>
              <a:rPr lang="en-US" sz="3400" b="1" u="none" strike="noStrike">
                <a:solidFill>
                  <a:srgbClr val="FFFFFF"/>
                </a:solidFill>
                <a:effectLst/>
                <a:uFillTx/>
                <a:latin typeface="Montserrat"/>
              </a:rPr>
              <a:t>con los datos</a:t>
            </a:r>
            <a:endParaRPr lang="es-CO" sz="3400" b="0" u="none" strike="noStrike">
              <a:solidFill>
                <a:srgbClr val="FFFFFF"/>
              </a:solidFill>
              <a:effectLst/>
              <a:uFillTx/>
              <a:latin typeface="Arial"/>
            </a:endParaRPr>
          </a:p>
        </p:txBody>
      </p:sp>
      <p:sp>
        <p:nvSpPr>
          <p:cNvPr id="388" name="Text 2"/>
          <p:cNvSpPr/>
          <p:nvPr/>
        </p:nvSpPr>
        <p:spPr>
          <a:xfrm>
            <a:off x="658440" y="2788920"/>
            <a:ext cx="3382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EC82F"/>
                </a:solidFill>
                <a:effectLst/>
                <a:uFillTx/>
                <a:latin typeface="Montserrat"/>
              </a:rPr>
              <a:t>Demo en vivo · 5 minutos</a:t>
            </a:r>
            <a:endParaRPr lang="es-CO" sz="1500" b="0" u="none" strike="noStrike">
              <a:solidFill>
                <a:srgbClr val="FFFFFF"/>
              </a:solidFill>
              <a:effectLst/>
              <a:uFillTx/>
              <a:latin typeface="Arial"/>
            </a:endParaRPr>
          </a:p>
        </p:txBody>
      </p:sp>
      <p:sp>
        <p:nvSpPr>
          <p:cNvPr id="389" name="Text 3"/>
          <p:cNvSpPr/>
          <p:nvPr/>
        </p:nvSpPr>
        <p:spPr>
          <a:xfrm>
            <a:off x="676800" y="342900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trike="noStrike">
                <a:solidFill>
                  <a:srgbClr val="FEC82F"/>
                </a:solidFill>
                <a:effectLst/>
                <a:uFillTx/>
                <a:latin typeface="Montserrat"/>
              </a:rPr>
              <a:t>00:30</a:t>
            </a:r>
            <a:endParaRPr lang="es-CO" sz="750" b="0" u="none" strike="noStrike">
              <a:solidFill>
                <a:srgbClr val="FFFFFF"/>
              </a:solidFill>
              <a:effectLst/>
              <a:uFillTx/>
              <a:latin typeface="Arial"/>
            </a:endParaRPr>
          </a:p>
        </p:txBody>
      </p:sp>
      <p:sp>
        <p:nvSpPr>
          <p:cNvPr id="390" name="Text 4"/>
          <p:cNvSpPr/>
          <p:nvPr/>
        </p:nvSpPr>
        <p:spPr>
          <a:xfrm>
            <a:off x="1444680" y="34290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FFFFFF"/>
                </a:solidFill>
                <a:effectLst/>
                <a:uFillTx/>
                <a:latin typeface="Montserrat"/>
              </a:rPr>
              <a:t>Panorama y KPIs</a:t>
            </a:r>
            <a:endParaRPr lang="es-CO" sz="950" b="0" u="none" strike="noStrike">
              <a:solidFill>
                <a:srgbClr val="FFFFFF"/>
              </a:solidFill>
              <a:effectLst/>
              <a:uFillTx/>
              <a:latin typeface="Arial"/>
            </a:endParaRPr>
          </a:p>
        </p:txBody>
      </p:sp>
      <p:sp>
        <p:nvSpPr>
          <p:cNvPr id="391" name="Text 5"/>
          <p:cNvSpPr/>
          <p:nvPr/>
        </p:nvSpPr>
        <p:spPr>
          <a:xfrm>
            <a:off x="676800" y="388620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trike="noStrike">
                <a:solidFill>
                  <a:srgbClr val="FEC82F"/>
                </a:solidFill>
                <a:effectLst/>
                <a:uFillTx/>
                <a:latin typeface="Montserrat"/>
              </a:rPr>
              <a:t>01:30</a:t>
            </a:r>
            <a:endParaRPr lang="es-CO" sz="750" b="0" u="none" strike="noStrike">
              <a:solidFill>
                <a:srgbClr val="FFFFFF"/>
              </a:solidFill>
              <a:effectLst/>
              <a:uFillTx/>
              <a:latin typeface="Arial"/>
            </a:endParaRPr>
          </a:p>
        </p:txBody>
      </p:sp>
      <p:sp>
        <p:nvSpPr>
          <p:cNvPr id="392" name="Text 6"/>
          <p:cNvSpPr/>
          <p:nvPr/>
        </p:nvSpPr>
        <p:spPr>
          <a:xfrm>
            <a:off x="1444680" y="38862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FFFFFF"/>
                </a:solidFill>
                <a:effectLst/>
                <a:uFillTx/>
                <a:latin typeface="Montserrat"/>
              </a:rPr>
              <a:t>Sector y semáforo</a:t>
            </a:r>
            <a:endParaRPr lang="es-CO" sz="950" b="0" u="none" strike="noStrike">
              <a:solidFill>
                <a:srgbClr val="FFFFFF"/>
              </a:solidFill>
              <a:effectLst/>
              <a:uFillTx/>
              <a:latin typeface="Arial"/>
            </a:endParaRPr>
          </a:p>
        </p:txBody>
      </p:sp>
      <p:sp>
        <p:nvSpPr>
          <p:cNvPr id="393" name="Text 7"/>
          <p:cNvSpPr/>
          <p:nvPr/>
        </p:nvSpPr>
        <p:spPr>
          <a:xfrm>
            <a:off x="676800" y="434340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trike="noStrike">
                <a:solidFill>
                  <a:srgbClr val="FEC82F"/>
                </a:solidFill>
                <a:effectLst/>
                <a:uFillTx/>
                <a:latin typeface="Montserrat"/>
              </a:rPr>
              <a:t>01:00</a:t>
            </a:r>
            <a:endParaRPr lang="es-CO" sz="750" b="0" u="none" strike="noStrike">
              <a:solidFill>
                <a:srgbClr val="FFFFFF"/>
              </a:solidFill>
              <a:effectLst/>
              <a:uFillTx/>
              <a:latin typeface="Arial"/>
            </a:endParaRPr>
          </a:p>
        </p:txBody>
      </p:sp>
      <p:sp>
        <p:nvSpPr>
          <p:cNvPr id="394" name="Text 8"/>
          <p:cNvSpPr/>
          <p:nvPr/>
        </p:nvSpPr>
        <p:spPr>
          <a:xfrm>
            <a:off x="1444680" y="43434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FFFFFF"/>
                </a:solidFill>
                <a:effectLst/>
                <a:uFillTx/>
                <a:latin typeface="Montserrat"/>
              </a:rPr>
              <a:t>Perfil API y banderas</a:t>
            </a:r>
            <a:endParaRPr lang="es-CO" sz="950" b="0" u="none" strike="noStrike">
              <a:solidFill>
                <a:srgbClr val="FFFFFF"/>
              </a:solidFill>
              <a:effectLst/>
              <a:uFillTx/>
              <a:latin typeface="Arial"/>
            </a:endParaRPr>
          </a:p>
        </p:txBody>
      </p:sp>
      <p:sp>
        <p:nvSpPr>
          <p:cNvPr id="395" name="Text 9"/>
          <p:cNvSpPr/>
          <p:nvPr/>
        </p:nvSpPr>
        <p:spPr>
          <a:xfrm>
            <a:off x="676800" y="480060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trike="noStrike">
                <a:solidFill>
                  <a:srgbClr val="FEC82F"/>
                </a:solidFill>
                <a:effectLst/>
                <a:uFillTx/>
                <a:latin typeface="Montserrat"/>
              </a:rPr>
              <a:t>01:30</a:t>
            </a:r>
            <a:endParaRPr lang="es-CO" sz="750" b="0" u="none" strike="noStrike">
              <a:solidFill>
                <a:srgbClr val="FFFFFF"/>
              </a:solidFill>
              <a:effectLst/>
              <a:uFillTx/>
              <a:latin typeface="Arial"/>
            </a:endParaRPr>
          </a:p>
        </p:txBody>
      </p:sp>
      <p:sp>
        <p:nvSpPr>
          <p:cNvPr id="396" name="Text 10"/>
          <p:cNvSpPr/>
          <p:nvPr/>
        </p:nvSpPr>
        <p:spPr>
          <a:xfrm>
            <a:off x="1444680" y="48006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FFFFFF"/>
                </a:solidFill>
                <a:effectLst/>
                <a:uFillTx/>
                <a:latin typeface="Montserrat"/>
              </a:rPr>
              <a:t>Pregunta al asistente</a:t>
            </a:r>
            <a:endParaRPr lang="es-CO" sz="950" b="0" u="none" strike="noStrike">
              <a:solidFill>
                <a:srgbClr val="FFFFFF"/>
              </a:solidFill>
              <a:effectLst/>
              <a:uFillTx/>
              <a:latin typeface="Arial"/>
            </a:endParaRPr>
          </a:p>
        </p:txBody>
      </p:sp>
      <p:sp>
        <p:nvSpPr>
          <p:cNvPr id="397" name="Text 11"/>
          <p:cNvSpPr/>
          <p:nvPr/>
        </p:nvSpPr>
        <p:spPr>
          <a:xfrm>
            <a:off x="676800" y="5257800"/>
            <a:ext cx="65808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trike="noStrike">
                <a:solidFill>
                  <a:srgbClr val="FEC82F"/>
                </a:solidFill>
                <a:effectLst/>
                <a:uFillTx/>
                <a:latin typeface="Montserrat"/>
              </a:rPr>
              <a:t>00:30</a:t>
            </a:r>
            <a:endParaRPr lang="es-CO" sz="750" b="0" u="none" strike="noStrike">
              <a:solidFill>
                <a:srgbClr val="FFFFFF"/>
              </a:solidFill>
              <a:effectLst/>
              <a:uFillTx/>
              <a:latin typeface="Arial"/>
            </a:endParaRPr>
          </a:p>
        </p:txBody>
      </p:sp>
      <p:sp>
        <p:nvSpPr>
          <p:cNvPr id="398" name="Text 12"/>
          <p:cNvSpPr/>
          <p:nvPr/>
        </p:nvSpPr>
        <p:spPr>
          <a:xfrm>
            <a:off x="1444680" y="52578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FFFFFF"/>
                </a:solidFill>
                <a:effectLst/>
                <a:uFillTx/>
                <a:latin typeface="Montserrat"/>
              </a:rPr>
              <a:t>Trazabilidad y cierre</a:t>
            </a:r>
            <a:endParaRPr lang="es-CO" sz="950" b="0" u="none" strike="noStrike">
              <a:solidFill>
                <a:srgbClr val="FFFFFF"/>
              </a:solidFill>
              <a:effectLst/>
              <a:uFillTx/>
              <a:latin typeface="Arial"/>
            </a:endParaRPr>
          </a:p>
        </p:txBody>
      </p:sp>
      <p:sp>
        <p:nvSpPr>
          <p:cNvPr id="399" name="Shape 13"/>
          <p:cNvSpPr/>
          <p:nvPr/>
        </p:nvSpPr>
        <p:spPr>
          <a:xfrm>
            <a:off x="5715000" y="685800"/>
            <a:ext cx="5897520" cy="5440320"/>
          </a:xfrm>
          <a:prstGeom prst="roundRect">
            <a:avLst>
              <a:gd name="adj" fmla="val 1345"/>
            </a:avLst>
          </a:prstGeom>
          <a:solidFill>
            <a:srgbClr val="FFFFFF"/>
          </a:solidFill>
          <a:ln w="12700">
            <a:solidFill>
              <a:srgbClr val="40658A"/>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pic>
        <p:nvPicPr>
          <p:cNvPr id="400" name="Image 1" descr="/home/johnpaez/Documentos/Apps/observatorio/scripts/presentation_assets/chat.png"/>
          <p:cNvPicPr/>
          <p:nvPr/>
        </p:nvPicPr>
        <p:blipFill>
          <a:blip r:embed="rId3"/>
          <a:stretch/>
        </p:blipFill>
        <p:spPr>
          <a:xfrm>
            <a:off x="5925240" y="896040"/>
            <a:ext cx="5467680" cy="3419640"/>
          </a:xfrm>
          <a:prstGeom prst="rect">
            <a:avLst/>
          </a:prstGeom>
          <a:noFill/>
          <a:ln w="0">
            <a:noFill/>
          </a:ln>
        </p:spPr>
      </p:pic>
      <p:sp>
        <p:nvSpPr>
          <p:cNvPr id="401" name="Text 14"/>
          <p:cNvSpPr/>
          <p:nvPr/>
        </p:nvSpPr>
        <p:spPr>
          <a:xfrm>
            <a:off x="6053400" y="4617720"/>
            <a:ext cx="16455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11" strike="noStrike">
                <a:solidFill>
                  <a:srgbClr val="CE1126"/>
                </a:solidFill>
                <a:effectLst/>
                <a:uFillTx/>
                <a:latin typeface="Montserrat"/>
              </a:rPr>
              <a:t>Pregunta preparada</a:t>
            </a:r>
            <a:endParaRPr lang="es-CO" sz="750" b="0" u="none" strike="noStrike">
              <a:solidFill>
                <a:srgbClr val="FFFFFF"/>
              </a:solidFill>
              <a:effectLst/>
              <a:uFillTx/>
              <a:latin typeface="Arial"/>
            </a:endParaRPr>
          </a:p>
        </p:txBody>
      </p:sp>
      <p:sp>
        <p:nvSpPr>
          <p:cNvPr id="402" name="Text 15"/>
          <p:cNvSpPr/>
          <p:nvPr/>
        </p:nvSpPr>
        <p:spPr>
          <a:xfrm>
            <a:off x="6053400" y="4956120"/>
            <a:ext cx="516600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2D58"/>
                </a:solidFill>
                <a:effectLst/>
                <a:uFillTx/>
                <a:latin typeface="Montserrat"/>
              </a:rPr>
              <a:t>“¿Cuáles son los contratistas de mayor riesgo en Transporte y por qué?”</a:t>
            </a:r>
            <a:endParaRPr lang="es-CO" sz="1400" b="0" u="none" strike="noStrike">
              <a:solidFill>
                <a:srgbClr val="FFFFFF"/>
              </a:solidFill>
              <a:effectLst/>
              <a:uFillTx/>
              <a:latin typeface="Arial"/>
            </a:endParaRPr>
          </a:p>
        </p:txBody>
      </p:sp>
      <p:sp>
        <p:nvSpPr>
          <p:cNvPr id="403" name="Text 16">
            <a:hlinkClick r:id="rId4"/>
          </p:cNvPr>
          <p:cNvSpPr/>
          <p:nvPr/>
        </p:nvSpPr>
        <p:spPr>
          <a:xfrm>
            <a:off x="6995160" y="5669280"/>
            <a:ext cx="3428640" cy="219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sng" strike="noStrike">
                <a:solidFill>
                  <a:srgbClr val="004884"/>
                </a:solidFill>
                <a:effectLst/>
                <a:uFillTx/>
                <a:latin typeface="Montserrat"/>
                <a:hlinkClick r:id="rId5"/>
              </a:rPr>
              <a:t>ABRIR APLICACIÓN EN VIVO</a:t>
            </a:r>
            <a:endParaRPr lang="es-CO"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ANEXO TÉCNICO</a:t>
            </a:r>
            <a:endParaRPr lang="es-CO" sz="750" b="0" u="none" strike="noStrike">
              <a:solidFill>
                <a:srgbClr val="000000"/>
              </a:solidFill>
              <a:effectLst/>
              <a:uFillTx/>
              <a:latin typeface="Arial"/>
            </a:endParaRPr>
          </a:p>
        </p:txBody>
      </p:sp>
      <p:sp>
        <p:nvSpPr>
          <p:cNvPr id="405"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Las nueve banderas y su contribución al score</a:t>
            </a:r>
            <a:endParaRPr lang="es-CO" sz="2500" b="0" u="none" strike="noStrike">
              <a:solidFill>
                <a:srgbClr val="000000"/>
              </a:solidFill>
              <a:effectLst/>
              <a:uFillTx/>
              <a:latin typeface="Arial"/>
            </a:endParaRPr>
          </a:p>
        </p:txBody>
      </p:sp>
      <p:sp>
        <p:nvSpPr>
          <p:cNvPr id="406"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Material de respaldo para preguntas del jurado; no hace parte de los 10 minutos.</a:t>
            </a:r>
            <a:endParaRPr lang="es-CO" sz="950" b="0" u="none" strike="noStrike">
              <a:solidFill>
                <a:srgbClr val="000000"/>
              </a:solidFill>
              <a:effectLst/>
              <a:uFillTx/>
              <a:latin typeface="Arial"/>
            </a:endParaRPr>
          </a:p>
        </p:txBody>
      </p:sp>
      <p:sp>
        <p:nvSpPr>
          <p:cNvPr id="407" name="Shape 3"/>
          <p:cNvSpPr/>
          <p:nvPr/>
        </p:nvSpPr>
        <p:spPr>
          <a:xfrm>
            <a:off x="567000" y="150876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08" name="Shape 4"/>
          <p:cNvSpPr/>
          <p:nvPr/>
        </p:nvSpPr>
        <p:spPr>
          <a:xfrm>
            <a:off x="567000" y="150876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09" name="Text 5"/>
          <p:cNvSpPr/>
          <p:nvPr/>
        </p:nvSpPr>
        <p:spPr>
          <a:xfrm>
            <a:off x="768240" y="167328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Vencidos sin cerrar</a:t>
            </a:r>
            <a:endParaRPr lang="es-CO" sz="1050" b="0" u="none" strike="noStrike">
              <a:solidFill>
                <a:srgbClr val="000000"/>
              </a:solidFill>
              <a:effectLst/>
              <a:uFillTx/>
              <a:latin typeface="Arial"/>
            </a:endParaRPr>
          </a:p>
        </p:txBody>
      </p:sp>
      <p:sp>
        <p:nvSpPr>
          <p:cNvPr id="410" name="Text 6"/>
          <p:cNvSpPr/>
          <p:nvPr/>
        </p:nvSpPr>
        <p:spPr>
          <a:xfrm>
            <a:off x="768240" y="203904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+25 c/u · máx. 75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Ejecución vencida hace más de 6 meses</a:t>
            </a:r>
            <a:endParaRPr lang="es-CO" sz="850" b="0" u="none" strike="noStrike">
              <a:solidFill>
                <a:srgbClr val="000000"/>
              </a:solidFill>
              <a:effectLst/>
              <a:uFillTx/>
              <a:latin typeface="Arial"/>
            </a:endParaRPr>
          </a:p>
        </p:txBody>
      </p:sp>
      <p:sp>
        <p:nvSpPr>
          <p:cNvPr id="411" name="Shape 7"/>
          <p:cNvSpPr/>
          <p:nvPr/>
        </p:nvSpPr>
        <p:spPr>
          <a:xfrm>
            <a:off x="4407480" y="150876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12" name="Shape 8"/>
          <p:cNvSpPr/>
          <p:nvPr/>
        </p:nvSpPr>
        <p:spPr>
          <a:xfrm>
            <a:off x="4407480" y="150876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13" name="Text 9"/>
          <p:cNvSpPr/>
          <p:nvPr/>
        </p:nvSpPr>
        <p:spPr>
          <a:xfrm>
            <a:off x="4608720" y="167328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Extensión &gt; 1 año</a:t>
            </a:r>
            <a:endParaRPr lang="es-CO" sz="1050" b="0" u="none" strike="noStrike">
              <a:solidFill>
                <a:srgbClr val="000000"/>
              </a:solidFill>
              <a:effectLst/>
              <a:uFillTx/>
              <a:latin typeface="Arial"/>
            </a:endParaRPr>
          </a:p>
        </p:txBody>
      </p:sp>
      <p:sp>
        <p:nvSpPr>
          <p:cNvPr id="414" name="Text 10"/>
          <p:cNvSpPr/>
          <p:nvPr/>
        </p:nvSpPr>
        <p:spPr>
          <a:xfrm>
            <a:off x="4608720" y="203904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+20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Más de 365 días adicionados</a:t>
            </a:r>
            <a:endParaRPr lang="es-CO" sz="850" b="0" u="none" strike="noStrike">
              <a:solidFill>
                <a:srgbClr val="000000"/>
              </a:solidFill>
              <a:effectLst/>
              <a:uFillTx/>
              <a:latin typeface="Arial"/>
            </a:endParaRPr>
          </a:p>
        </p:txBody>
      </p:sp>
      <p:sp>
        <p:nvSpPr>
          <p:cNvPr id="415" name="Shape 11"/>
          <p:cNvSpPr/>
          <p:nvPr/>
        </p:nvSpPr>
        <p:spPr>
          <a:xfrm>
            <a:off x="8247960" y="150876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16" name="Shape 12"/>
          <p:cNvSpPr/>
          <p:nvPr/>
        </p:nvSpPr>
        <p:spPr>
          <a:xfrm>
            <a:off x="8247960" y="150876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17" name="Text 13"/>
          <p:cNvSpPr/>
          <p:nvPr/>
        </p:nvSpPr>
        <p:spPr>
          <a:xfrm>
            <a:off x="8449200" y="167328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Múltiples adiciones</a:t>
            </a:r>
            <a:endParaRPr lang="es-CO" sz="1050" b="0" u="none" strike="noStrike">
              <a:solidFill>
                <a:srgbClr val="000000"/>
              </a:solidFill>
              <a:effectLst/>
              <a:uFillTx/>
              <a:latin typeface="Arial"/>
            </a:endParaRPr>
          </a:p>
        </p:txBody>
      </p:sp>
      <p:sp>
        <p:nvSpPr>
          <p:cNvPr id="418" name="Text 14"/>
          <p:cNvSpPr/>
          <p:nvPr/>
        </p:nvSpPr>
        <p:spPr>
          <a:xfrm>
            <a:off x="8449200" y="203904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Tres o más contratos con extensión</a:t>
            </a:r>
            <a:endParaRPr lang="es-CO" sz="850" b="0" u="none" strike="noStrike">
              <a:solidFill>
                <a:srgbClr val="000000"/>
              </a:solidFill>
              <a:effectLst/>
              <a:uFillTx/>
              <a:latin typeface="Arial"/>
            </a:endParaRPr>
          </a:p>
        </p:txBody>
      </p:sp>
      <p:sp>
        <p:nvSpPr>
          <p:cNvPr id="419" name="Shape 15"/>
          <p:cNvSpPr/>
          <p:nvPr/>
        </p:nvSpPr>
        <p:spPr>
          <a:xfrm>
            <a:off x="567000" y="301752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20" name="Shape 16"/>
          <p:cNvSpPr/>
          <p:nvPr/>
        </p:nvSpPr>
        <p:spPr>
          <a:xfrm>
            <a:off x="567000" y="301752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21" name="Text 17"/>
          <p:cNvSpPr/>
          <p:nvPr/>
        </p:nvSpPr>
        <p:spPr>
          <a:xfrm>
            <a:off x="768240" y="318204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Concentración</a:t>
            </a:r>
            <a:endParaRPr lang="es-CO" sz="1050" b="0" u="none" strike="noStrike">
              <a:solidFill>
                <a:srgbClr val="000000"/>
              </a:solidFill>
              <a:effectLst/>
              <a:uFillTx/>
              <a:latin typeface="Arial"/>
            </a:endParaRPr>
          </a:p>
        </p:txBody>
      </p:sp>
      <p:sp>
        <p:nvSpPr>
          <p:cNvPr id="422" name="Text 18"/>
          <p:cNvSpPr/>
          <p:nvPr/>
        </p:nvSpPr>
        <p:spPr>
          <a:xfrm>
            <a:off x="768240" y="354780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Cinco o más entidades del sector</a:t>
            </a:r>
            <a:endParaRPr lang="es-CO" sz="850" b="0" u="none" strike="noStrike">
              <a:solidFill>
                <a:srgbClr val="000000"/>
              </a:solidFill>
              <a:effectLst/>
              <a:uFillTx/>
              <a:latin typeface="Arial"/>
            </a:endParaRPr>
          </a:p>
        </p:txBody>
      </p:sp>
      <p:sp>
        <p:nvSpPr>
          <p:cNvPr id="423" name="Shape 19"/>
          <p:cNvSpPr/>
          <p:nvPr/>
        </p:nvSpPr>
        <p:spPr>
          <a:xfrm>
            <a:off x="4407480" y="301752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24" name="Shape 20"/>
          <p:cNvSpPr/>
          <p:nvPr/>
        </p:nvSpPr>
        <p:spPr>
          <a:xfrm>
            <a:off x="4407480" y="3017520"/>
            <a:ext cx="63720" cy="121572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25" name="Text 21"/>
          <p:cNvSpPr/>
          <p:nvPr/>
        </p:nvSpPr>
        <p:spPr>
          <a:xfrm>
            <a:off x="4608720" y="318204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Baja ejecución</a:t>
            </a:r>
            <a:endParaRPr lang="es-CO" sz="1050" b="0" u="none" strike="noStrike">
              <a:solidFill>
                <a:srgbClr val="000000"/>
              </a:solidFill>
              <a:effectLst/>
              <a:uFillTx/>
              <a:latin typeface="Arial"/>
            </a:endParaRPr>
          </a:p>
        </p:txBody>
      </p:sp>
      <p:sp>
        <p:nvSpPr>
          <p:cNvPr id="426" name="Text 22"/>
          <p:cNvSpPr/>
          <p:nvPr/>
        </p:nvSpPr>
        <p:spPr>
          <a:xfrm>
            <a:off x="4608720" y="354780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Facturado &lt; 50 % en contratos &gt; $5 M</a:t>
            </a:r>
            <a:endParaRPr lang="es-CO" sz="850" b="0" u="none" strike="noStrike">
              <a:solidFill>
                <a:srgbClr val="000000"/>
              </a:solidFill>
              <a:effectLst/>
              <a:uFillTx/>
              <a:latin typeface="Arial"/>
            </a:endParaRPr>
          </a:p>
        </p:txBody>
      </p:sp>
      <p:sp>
        <p:nvSpPr>
          <p:cNvPr id="427" name="Shape 23"/>
          <p:cNvSpPr/>
          <p:nvPr/>
        </p:nvSpPr>
        <p:spPr>
          <a:xfrm>
            <a:off x="8247960" y="301752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28" name="Shape 24"/>
          <p:cNvSpPr/>
          <p:nvPr/>
        </p:nvSpPr>
        <p:spPr>
          <a:xfrm>
            <a:off x="8247960" y="3017520"/>
            <a:ext cx="63720" cy="121572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29" name="Text 25"/>
          <p:cNvSpPr/>
          <p:nvPr/>
        </p:nvSpPr>
        <p:spPr>
          <a:xfrm>
            <a:off x="8449200" y="318204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Sanción disciplinaria</a:t>
            </a:r>
            <a:endParaRPr lang="es-CO" sz="1050" b="0" u="none" strike="noStrike">
              <a:solidFill>
                <a:srgbClr val="000000"/>
              </a:solidFill>
              <a:effectLst/>
              <a:uFillTx/>
              <a:latin typeface="Arial"/>
            </a:endParaRPr>
          </a:p>
        </p:txBody>
      </p:sp>
      <p:sp>
        <p:nvSpPr>
          <p:cNvPr id="430" name="Text 26"/>
          <p:cNvSpPr/>
          <p:nvPr/>
        </p:nvSpPr>
        <p:spPr>
          <a:xfrm>
            <a:off x="8449200" y="354780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+30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Coincidencia en SIRI</a:t>
            </a:r>
            <a:endParaRPr lang="es-CO" sz="850" b="0" u="none" strike="noStrike">
              <a:solidFill>
                <a:srgbClr val="000000"/>
              </a:solidFill>
              <a:effectLst/>
              <a:uFillTx/>
              <a:latin typeface="Arial"/>
            </a:endParaRPr>
          </a:p>
        </p:txBody>
      </p:sp>
      <p:sp>
        <p:nvSpPr>
          <p:cNvPr id="431" name="Shape 27"/>
          <p:cNvSpPr/>
          <p:nvPr/>
        </p:nvSpPr>
        <p:spPr>
          <a:xfrm>
            <a:off x="567000" y="452628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32" name="Shape 28"/>
          <p:cNvSpPr/>
          <p:nvPr/>
        </p:nvSpPr>
        <p:spPr>
          <a:xfrm>
            <a:off x="567000" y="4526280"/>
            <a:ext cx="63720" cy="121572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33" name="Text 29"/>
          <p:cNvSpPr/>
          <p:nvPr/>
        </p:nvSpPr>
        <p:spPr>
          <a:xfrm>
            <a:off x="768240" y="469080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Responsabilidad fiscal</a:t>
            </a:r>
            <a:endParaRPr lang="es-CO" sz="1050" b="0" u="none" strike="noStrike">
              <a:solidFill>
                <a:srgbClr val="000000"/>
              </a:solidFill>
              <a:effectLst/>
              <a:uFillTx/>
              <a:latin typeface="Arial"/>
            </a:endParaRPr>
          </a:p>
        </p:txBody>
      </p:sp>
      <p:sp>
        <p:nvSpPr>
          <p:cNvPr id="434" name="Text 30"/>
          <p:cNvSpPr/>
          <p:nvPr/>
        </p:nvSpPr>
        <p:spPr>
          <a:xfrm>
            <a:off x="768240" y="505656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+25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Coincidencia en CGR</a:t>
            </a:r>
            <a:endParaRPr lang="es-CO" sz="850" b="0" u="none" strike="noStrike">
              <a:solidFill>
                <a:srgbClr val="000000"/>
              </a:solidFill>
              <a:effectLst/>
              <a:uFillTx/>
              <a:latin typeface="Arial"/>
            </a:endParaRPr>
          </a:p>
        </p:txBody>
      </p:sp>
      <p:sp>
        <p:nvSpPr>
          <p:cNvPr id="435" name="Shape 31"/>
          <p:cNvSpPr/>
          <p:nvPr/>
        </p:nvSpPr>
        <p:spPr>
          <a:xfrm>
            <a:off x="4407480" y="452628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36" name="Shape 32"/>
          <p:cNvSpPr/>
          <p:nvPr/>
        </p:nvSpPr>
        <p:spPr>
          <a:xfrm>
            <a:off x="4407480" y="4526280"/>
            <a:ext cx="63720" cy="121572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37" name="Text 33"/>
          <p:cNvSpPr/>
          <p:nvPr/>
        </p:nvSpPr>
        <p:spPr>
          <a:xfrm>
            <a:off x="4608720" y="469080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Multa SECOP</a:t>
            </a:r>
            <a:endParaRPr lang="es-CO" sz="1050" b="0" u="none" strike="noStrike">
              <a:solidFill>
                <a:srgbClr val="000000"/>
              </a:solidFill>
              <a:effectLst/>
              <a:uFillTx/>
              <a:latin typeface="Arial"/>
            </a:endParaRPr>
          </a:p>
        </p:txBody>
      </p:sp>
      <p:sp>
        <p:nvSpPr>
          <p:cNvPr id="438" name="Text 34"/>
          <p:cNvSpPr/>
          <p:nvPr/>
        </p:nvSpPr>
        <p:spPr>
          <a:xfrm>
            <a:off x="4608720" y="505656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+15</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Multa contractual registrada</a:t>
            </a:r>
            <a:endParaRPr lang="es-CO" sz="850" b="0" u="none" strike="noStrike">
              <a:solidFill>
                <a:srgbClr val="000000"/>
              </a:solidFill>
              <a:effectLst/>
              <a:uFillTx/>
              <a:latin typeface="Arial"/>
            </a:endParaRPr>
          </a:p>
        </p:txBody>
      </p:sp>
      <p:sp>
        <p:nvSpPr>
          <p:cNvPr id="439" name="Shape 35"/>
          <p:cNvSpPr/>
          <p:nvPr/>
        </p:nvSpPr>
        <p:spPr>
          <a:xfrm>
            <a:off x="8247960" y="4526280"/>
            <a:ext cx="3520080" cy="1215720"/>
          </a:xfrm>
          <a:prstGeom prst="roundRect">
            <a:avLst>
              <a:gd name="adj" fmla="val 6015"/>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40" name="Shape 36"/>
          <p:cNvSpPr/>
          <p:nvPr/>
        </p:nvSpPr>
        <p:spPr>
          <a:xfrm>
            <a:off x="8247960" y="4526280"/>
            <a:ext cx="63720" cy="121572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41" name="Text 37"/>
          <p:cNvSpPr/>
          <p:nvPr/>
        </p:nvSpPr>
        <p:spPr>
          <a:xfrm>
            <a:off x="8449200" y="4690800"/>
            <a:ext cx="315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002D58"/>
                </a:solidFill>
                <a:effectLst/>
                <a:uFillTx/>
                <a:latin typeface="Montserrat"/>
                <a:ea typeface="Montserrat"/>
              </a:rPr>
              <a:t>Anomalía estadística</a:t>
            </a:r>
            <a:endParaRPr lang="es-CO" sz="1050" b="0" u="none" strike="noStrike">
              <a:solidFill>
                <a:srgbClr val="000000"/>
              </a:solidFill>
              <a:effectLst/>
              <a:uFillTx/>
              <a:latin typeface="Arial"/>
            </a:endParaRPr>
          </a:p>
        </p:txBody>
      </p:sp>
      <p:sp>
        <p:nvSpPr>
          <p:cNvPr id="442" name="Text 38"/>
          <p:cNvSpPr/>
          <p:nvPr/>
        </p:nvSpPr>
        <p:spPr>
          <a:xfrm>
            <a:off x="8449200" y="5056560"/>
            <a:ext cx="3154320" cy="5572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850" b="0" u="none" strike="noStrike">
                <a:solidFill>
                  <a:srgbClr val="172033"/>
                </a:solidFill>
                <a:effectLst/>
                <a:uFillTx/>
                <a:latin typeface="Montserrat"/>
                <a:ea typeface="Montserrat"/>
              </a:rPr>
              <a:t>0 a +30</a:t>
            </a:r>
            <a:endParaRPr lang="es-CO" sz="850" b="0" u="none" strike="noStrike">
              <a:solidFill>
                <a:srgbClr val="000000"/>
              </a:solidFill>
              <a:effectLst/>
              <a:uFillTx/>
              <a:latin typeface="Arial"/>
            </a:endParaRPr>
          </a:p>
          <a:p>
            <a:pPr defTabSz="914400">
              <a:lnSpc>
                <a:spcPct val="100000"/>
              </a:lnSpc>
              <a:tabLst>
                <a:tab pos="0" algn="l"/>
              </a:tabLst>
            </a:pPr>
            <a:r>
              <a:rPr lang="en-US" sz="850" b="0" u="none" strike="noStrike">
                <a:solidFill>
                  <a:srgbClr val="172033"/>
                </a:solidFill>
                <a:effectLst/>
                <a:uFillTx/>
                <a:latin typeface="Montserrat"/>
                <a:ea typeface="Montserrat"/>
              </a:rPr>
              <a:t>Isolation Forest &lt; −0,05</a:t>
            </a:r>
            <a:endParaRPr lang="es-CO" sz="850" b="0" u="none" strike="noStrike">
              <a:solidFill>
                <a:srgbClr val="000000"/>
              </a:solidFill>
              <a:effectLst/>
              <a:uFillTx/>
              <a:latin typeface="Arial"/>
            </a:endParaRPr>
          </a:p>
        </p:txBody>
      </p:sp>
      <p:sp>
        <p:nvSpPr>
          <p:cNvPr id="443" name="Text 39"/>
          <p:cNvSpPr/>
          <p:nvPr/>
        </p:nvSpPr>
        <p:spPr>
          <a:xfrm>
            <a:off x="1828800" y="6144840"/>
            <a:ext cx="8503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02D58"/>
                </a:solidFill>
                <a:effectLst/>
                <a:uFillTx/>
                <a:latin typeface="Montserrat"/>
              </a:rPr>
              <a:t>Semáforo: ROJO &gt; 60 · AMARILLO 30–60 · VERDE &lt; 30</a:t>
            </a:r>
            <a:endParaRPr lang="es-CO" sz="950" b="0" u="none" strike="noStrike">
              <a:solidFill>
                <a:srgbClr val="000000"/>
              </a:solidFill>
              <a:effectLst/>
              <a:uFillTx/>
              <a:latin typeface="Arial"/>
            </a:endParaRPr>
          </a:p>
        </p:txBody>
      </p:sp>
      <p:sp>
        <p:nvSpPr>
          <p:cNvPr id="444" name="PlaceHolder 1"/>
          <p:cNvSpPr>
            <a:spLocks noGrp="1"/>
          </p:cNvSpPr>
          <p:nvPr>
            <p:ph type="sldNum" idx="17"/>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C8844CBD-8F70-494C-923A-94BB8A818171}"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ANEXO METODOLÓGICO</a:t>
            </a:r>
            <a:endParaRPr lang="es-CO" sz="750" b="0" u="none" strike="noStrike">
              <a:solidFill>
                <a:srgbClr val="000000"/>
              </a:solidFill>
              <a:effectLst/>
              <a:uFillTx/>
              <a:latin typeface="Arial"/>
            </a:endParaRPr>
          </a:p>
        </p:txBody>
      </p:sp>
      <p:sp>
        <p:nvSpPr>
          <p:cNvPr id="446"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Fuentes, fundamento y reproducibilidad</a:t>
            </a:r>
            <a:endParaRPr lang="es-CO" sz="2500" b="0" u="none" strike="noStrike">
              <a:solidFill>
                <a:srgbClr val="000000"/>
              </a:solidFill>
              <a:effectLst/>
              <a:uFillTx/>
              <a:latin typeface="Arial"/>
            </a:endParaRPr>
          </a:p>
        </p:txBody>
      </p:sp>
      <p:sp>
        <p:nvSpPr>
          <p:cNvPr id="447"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Enlaces preparados para sustentar el origen de los datos y las decisiones técnicas.</a:t>
            </a:r>
            <a:endParaRPr lang="es-CO" sz="950" b="0" u="none" strike="noStrike">
              <a:solidFill>
                <a:srgbClr val="000000"/>
              </a:solidFill>
              <a:effectLst/>
              <a:uFillTx/>
              <a:latin typeface="Arial"/>
            </a:endParaRPr>
          </a:p>
        </p:txBody>
      </p:sp>
      <p:sp>
        <p:nvSpPr>
          <p:cNvPr id="448" name="Shape 3"/>
          <p:cNvSpPr/>
          <p:nvPr/>
        </p:nvSpPr>
        <p:spPr>
          <a:xfrm>
            <a:off x="567000" y="1554480"/>
            <a:ext cx="5440320" cy="1416960"/>
          </a:xfrm>
          <a:prstGeom prst="roundRect">
            <a:avLst>
              <a:gd name="adj" fmla="val 516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49" name="Shape 4"/>
          <p:cNvSpPr/>
          <p:nvPr/>
        </p:nvSpPr>
        <p:spPr>
          <a:xfrm>
            <a:off x="567000" y="1554480"/>
            <a:ext cx="63720" cy="141696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50" name="Text 5"/>
          <p:cNvSpPr/>
          <p:nvPr/>
        </p:nvSpPr>
        <p:spPr>
          <a:xfrm>
            <a:off x="768240" y="1719000"/>
            <a:ext cx="5074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SECOP II — Contratos Electrónicos</a:t>
            </a:r>
            <a:endParaRPr lang="es-CO" sz="1300" b="0" u="none" strike="noStrike">
              <a:solidFill>
                <a:srgbClr val="000000"/>
              </a:solidFill>
              <a:effectLst/>
              <a:uFillTx/>
              <a:latin typeface="Arial"/>
            </a:endParaRPr>
          </a:p>
        </p:txBody>
      </p:sp>
      <p:sp>
        <p:nvSpPr>
          <p:cNvPr id="451" name="Text 6"/>
          <p:cNvSpPr/>
          <p:nvPr/>
        </p:nvSpPr>
        <p:spPr>
          <a:xfrm>
            <a:off x="768240" y="2084760"/>
            <a:ext cx="5074560" cy="7585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Colombia Compra Eficiente · datos.gov.co · ID jbjy-vk9h · actualización diaria · cobertura nacional.</a:t>
            </a:r>
            <a:endParaRPr lang="es-CO" sz="1000" b="0" u="none" strike="noStrike">
              <a:solidFill>
                <a:srgbClr val="000000"/>
              </a:solidFill>
              <a:effectLst/>
              <a:uFillTx/>
              <a:latin typeface="Arial"/>
            </a:endParaRPr>
          </a:p>
        </p:txBody>
      </p:sp>
      <p:sp>
        <p:nvSpPr>
          <p:cNvPr id="452" name="Shape 7"/>
          <p:cNvSpPr/>
          <p:nvPr/>
        </p:nvSpPr>
        <p:spPr>
          <a:xfrm>
            <a:off x="6217920" y="1554480"/>
            <a:ext cx="5394600" cy="1416960"/>
          </a:xfrm>
          <a:prstGeom prst="roundRect">
            <a:avLst>
              <a:gd name="adj" fmla="val 516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53" name="Shape 8"/>
          <p:cNvSpPr/>
          <p:nvPr/>
        </p:nvSpPr>
        <p:spPr>
          <a:xfrm>
            <a:off x="6217920" y="1554480"/>
            <a:ext cx="63720" cy="141696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54" name="Text 9"/>
          <p:cNvSpPr/>
          <p:nvPr/>
        </p:nvSpPr>
        <p:spPr>
          <a:xfrm>
            <a:off x="6419160" y="1719000"/>
            <a:ext cx="50288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Isolation Forest</a:t>
            </a:r>
            <a:endParaRPr lang="es-CO" sz="1300" b="0" u="none" strike="noStrike">
              <a:solidFill>
                <a:srgbClr val="000000"/>
              </a:solidFill>
              <a:effectLst/>
              <a:uFillTx/>
              <a:latin typeface="Arial"/>
            </a:endParaRPr>
          </a:p>
        </p:txBody>
      </p:sp>
      <p:sp>
        <p:nvSpPr>
          <p:cNvPr id="455" name="Text 10"/>
          <p:cNvSpPr/>
          <p:nvPr/>
        </p:nvSpPr>
        <p:spPr>
          <a:xfrm>
            <a:off x="6419160" y="2084760"/>
            <a:ext cx="5028840" cy="7585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Liu, Ting y Zhou (IEEE ICDM, 2008). Algoritmo no supervisado para aislar observaciones atípicas.</a:t>
            </a:r>
            <a:endParaRPr lang="es-CO" sz="1000" b="0" u="none" strike="noStrike">
              <a:solidFill>
                <a:srgbClr val="000000"/>
              </a:solidFill>
              <a:effectLst/>
              <a:uFillTx/>
              <a:latin typeface="Arial"/>
            </a:endParaRPr>
          </a:p>
        </p:txBody>
      </p:sp>
      <p:sp>
        <p:nvSpPr>
          <p:cNvPr id="456" name="Shape 11"/>
          <p:cNvSpPr/>
          <p:nvPr/>
        </p:nvSpPr>
        <p:spPr>
          <a:xfrm>
            <a:off x="567000" y="3246120"/>
            <a:ext cx="5440320" cy="1416960"/>
          </a:xfrm>
          <a:prstGeom prst="roundRect">
            <a:avLst>
              <a:gd name="adj" fmla="val 516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57" name="Shape 12"/>
          <p:cNvSpPr/>
          <p:nvPr/>
        </p:nvSpPr>
        <p:spPr>
          <a:xfrm>
            <a:off x="567000" y="3246120"/>
            <a:ext cx="63720" cy="141696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58" name="Text 13"/>
          <p:cNvSpPr/>
          <p:nvPr/>
        </p:nvSpPr>
        <p:spPr>
          <a:xfrm>
            <a:off x="768240" y="3410640"/>
            <a:ext cx="5074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Antecedente colombiano</a:t>
            </a:r>
            <a:endParaRPr lang="es-CO" sz="1300" b="0" u="none" strike="noStrike">
              <a:solidFill>
                <a:srgbClr val="000000"/>
              </a:solidFill>
              <a:effectLst/>
              <a:uFillTx/>
              <a:latin typeface="Arial"/>
            </a:endParaRPr>
          </a:p>
        </p:txBody>
      </p:sp>
      <p:sp>
        <p:nvSpPr>
          <p:cNvPr id="459" name="Text 14"/>
          <p:cNvSpPr/>
          <p:nvPr/>
        </p:nvSpPr>
        <p:spPr>
          <a:xfrm>
            <a:off x="768240" y="3776400"/>
            <a:ext cx="5074560" cy="7585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Índice de riesgo de corrupción en el sistema de compra pública colombiano. Fedesarrollo/BID, 2019.</a:t>
            </a:r>
            <a:endParaRPr lang="es-CO" sz="1000" b="0" u="none" strike="noStrike">
              <a:solidFill>
                <a:srgbClr val="000000"/>
              </a:solidFill>
              <a:effectLst/>
              <a:uFillTx/>
              <a:latin typeface="Arial"/>
            </a:endParaRPr>
          </a:p>
        </p:txBody>
      </p:sp>
      <p:sp>
        <p:nvSpPr>
          <p:cNvPr id="460" name="Shape 15"/>
          <p:cNvSpPr/>
          <p:nvPr/>
        </p:nvSpPr>
        <p:spPr>
          <a:xfrm>
            <a:off x="6217920" y="3246120"/>
            <a:ext cx="5394600" cy="1416960"/>
          </a:xfrm>
          <a:prstGeom prst="roundRect">
            <a:avLst>
              <a:gd name="adj" fmla="val 516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61" name="Shape 16"/>
          <p:cNvSpPr/>
          <p:nvPr/>
        </p:nvSpPr>
        <p:spPr>
          <a:xfrm>
            <a:off x="6217920" y="3246120"/>
            <a:ext cx="63720" cy="141696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62" name="Text 17"/>
          <p:cNvSpPr/>
          <p:nvPr/>
        </p:nvSpPr>
        <p:spPr>
          <a:xfrm>
            <a:off x="6419160" y="3410640"/>
            <a:ext cx="50288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2D58"/>
                </a:solidFill>
                <a:effectLst/>
                <a:uFillTx/>
                <a:latin typeface="Montserrat"/>
                <a:ea typeface="Montserrat"/>
              </a:rPr>
              <a:t>Reproducibilidad</a:t>
            </a:r>
            <a:endParaRPr lang="es-CO" sz="1300" b="0" u="none" strike="noStrike">
              <a:solidFill>
                <a:srgbClr val="000000"/>
              </a:solidFill>
              <a:effectLst/>
              <a:uFillTx/>
              <a:latin typeface="Arial"/>
            </a:endParaRPr>
          </a:p>
        </p:txBody>
      </p:sp>
      <p:sp>
        <p:nvSpPr>
          <p:cNvPr id="463" name="Text 18"/>
          <p:cNvSpPr/>
          <p:nvPr/>
        </p:nvSpPr>
        <p:spPr>
          <a:xfrm>
            <a:off x="6419160" y="3776400"/>
            <a:ext cx="5028840" cy="7585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Código TypeScript/Python · Docker · pruebas unitarias y E2E · fuentes y variables documentadas · evidencia original persistida.</a:t>
            </a:r>
            <a:endParaRPr lang="es-CO" sz="1000" b="0" u="none" strike="noStrike">
              <a:solidFill>
                <a:srgbClr val="000000"/>
              </a:solidFill>
              <a:effectLst/>
              <a:uFillTx/>
              <a:latin typeface="Arial"/>
            </a:endParaRPr>
          </a:p>
        </p:txBody>
      </p:sp>
      <p:sp>
        <p:nvSpPr>
          <p:cNvPr id="464" name="Text 19"/>
          <p:cNvSpPr/>
          <p:nvPr/>
        </p:nvSpPr>
        <p:spPr>
          <a:xfrm>
            <a:off x="685800" y="5074920"/>
            <a:ext cx="9140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pc="111" strike="noStrike">
                <a:solidFill>
                  <a:srgbClr val="CE1126"/>
                </a:solidFill>
                <a:effectLst/>
                <a:uFillTx/>
                <a:latin typeface="Montserrat"/>
              </a:rPr>
              <a:t>Enlaces</a:t>
            </a:r>
            <a:endParaRPr lang="es-CO" sz="800" b="0" u="none" strike="noStrike">
              <a:solidFill>
                <a:srgbClr val="000000"/>
              </a:solidFill>
              <a:effectLst/>
              <a:uFillTx/>
              <a:latin typeface="Arial"/>
            </a:endParaRPr>
          </a:p>
        </p:txBody>
      </p:sp>
      <p:sp>
        <p:nvSpPr>
          <p:cNvPr id="465" name="Text 20">
            <a:hlinkClick r:id="rId1"/>
          </p:cNvPr>
          <p:cNvSpPr/>
          <p:nvPr/>
        </p:nvSpPr>
        <p:spPr>
          <a:xfrm>
            <a:off x="1645920" y="5056560"/>
            <a:ext cx="278856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20" b="0" u="sng" strike="noStrike">
                <a:solidFill>
                  <a:srgbClr val="004884"/>
                </a:solidFill>
                <a:effectLst/>
                <a:uFillTx/>
                <a:latin typeface="Montserrat"/>
                <a:hlinkClick r:id="rId2"/>
              </a:rPr>
              <a:t>datos.gov.co/.../jbjy-vk9h</a:t>
            </a:r>
            <a:endParaRPr lang="es-CO" sz="820" b="0" u="none" strike="noStrike">
              <a:solidFill>
                <a:srgbClr val="000000"/>
              </a:solidFill>
              <a:effectLst/>
              <a:uFillTx/>
              <a:latin typeface="Arial"/>
            </a:endParaRPr>
          </a:p>
        </p:txBody>
      </p:sp>
      <p:sp>
        <p:nvSpPr>
          <p:cNvPr id="466" name="Text 21">
            <a:hlinkClick r:id="rId3"/>
          </p:cNvPr>
          <p:cNvSpPr/>
          <p:nvPr/>
        </p:nvSpPr>
        <p:spPr>
          <a:xfrm>
            <a:off x="4572000" y="5056560"/>
            <a:ext cx="283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20" b="0" u="sng" strike="noStrike">
                <a:solidFill>
                  <a:srgbClr val="004884"/>
                </a:solidFill>
                <a:effectLst/>
                <a:uFillTx/>
                <a:latin typeface="Montserrat"/>
                <a:hlinkClick r:id="rId4"/>
              </a:rPr>
              <a:t>hdl.handle.net/11445/3872</a:t>
            </a:r>
            <a:endParaRPr lang="es-CO" sz="820" b="0" u="none" strike="noStrike">
              <a:solidFill>
                <a:srgbClr val="000000"/>
              </a:solidFill>
              <a:effectLst/>
              <a:uFillTx/>
              <a:latin typeface="Arial"/>
            </a:endParaRPr>
          </a:p>
        </p:txBody>
      </p:sp>
      <p:sp>
        <p:nvSpPr>
          <p:cNvPr id="467" name="Text 22">
            <a:hlinkClick r:id="rId5"/>
          </p:cNvPr>
          <p:cNvSpPr/>
          <p:nvPr/>
        </p:nvSpPr>
        <p:spPr>
          <a:xfrm>
            <a:off x="7635240" y="5056560"/>
            <a:ext cx="26056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20" b="0" u="sng" strike="noStrike">
                <a:solidFill>
                  <a:srgbClr val="004884"/>
                </a:solidFill>
                <a:effectLst/>
                <a:uFillTx/>
                <a:latin typeface="Montserrat"/>
                <a:hlinkClick r:id="rId6"/>
              </a:rPr>
              <a:t>Isolation Forest · paper</a:t>
            </a:r>
            <a:endParaRPr lang="es-CO" sz="820" b="0" u="none" strike="noStrike">
              <a:solidFill>
                <a:srgbClr val="000000"/>
              </a:solidFill>
              <a:effectLst/>
              <a:uFillTx/>
              <a:latin typeface="Arial"/>
            </a:endParaRPr>
          </a:p>
        </p:txBody>
      </p:sp>
      <p:sp>
        <p:nvSpPr>
          <p:cNvPr id="468" name="PlaceHolder 1"/>
          <p:cNvSpPr>
            <a:spLocks noGrp="1"/>
          </p:cNvSpPr>
          <p:nvPr>
            <p:ph type="sldNum" idx="18"/>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06455F11-4059-4817-A038-293AB10540C3}"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Text 0"/>
          <p:cNvSpPr/>
          <p:nvPr/>
        </p:nvSpPr>
        <p:spPr>
          <a:xfrm>
            <a:off x="530280" y="292680"/>
            <a:ext cx="5943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1" u="none" spc="181" strike="noStrike">
                <a:solidFill>
                  <a:srgbClr val="CE1126"/>
                </a:solidFill>
                <a:effectLst/>
                <a:uFillTx/>
                <a:latin typeface="Montserrat"/>
                <a:ea typeface="Montserrat"/>
              </a:rPr>
              <a:t>ANEXO DE DEFENSA</a:t>
            </a:r>
            <a:endParaRPr lang="es-CO" sz="750" b="0" u="none" strike="noStrike">
              <a:solidFill>
                <a:srgbClr val="000000"/>
              </a:solidFill>
              <a:effectLst/>
              <a:uFillTx/>
              <a:latin typeface="Arial"/>
            </a:endParaRPr>
          </a:p>
        </p:txBody>
      </p:sp>
      <p:sp>
        <p:nvSpPr>
          <p:cNvPr id="470" name="Text 1"/>
          <p:cNvSpPr/>
          <p:nvPr/>
        </p:nvSpPr>
        <p:spPr>
          <a:xfrm>
            <a:off x="502920" y="567000"/>
            <a:ext cx="111096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002D58"/>
                </a:solidFill>
                <a:effectLst/>
                <a:uFillTx/>
                <a:latin typeface="Montserrat"/>
                <a:ea typeface="Montserrat"/>
              </a:rPr>
              <a:t>Cuatro preguntas difíciles y respuestas breves</a:t>
            </a:r>
            <a:endParaRPr lang="es-CO" sz="2500" b="0" u="none" strike="noStrike">
              <a:solidFill>
                <a:srgbClr val="000000"/>
              </a:solidFill>
              <a:effectLst/>
              <a:uFillTx/>
              <a:latin typeface="Arial"/>
            </a:endParaRPr>
          </a:p>
        </p:txBody>
      </p:sp>
      <p:sp>
        <p:nvSpPr>
          <p:cNvPr id="471" name="Text 2"/>
          <p:cNvSpPr/>
          <p:nvPr/>
        </p:nvSpPr>
        <p:spPr>
          <a:xfrm>
            <a:off x="530280" y="1078920"/>
            <a:ext cx="10881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5A677D"/>
                </a:solidFill>
                <a:effectLst/>
                <a:uFillTx/>
                <a:latin typeface="Montserrat"/>
                <a:ea typeface="Montserrat"/>
              </a:rPr>
              <a:t>Responder con evidencia, reconocer límites y evitar afirmaciones que el sistema no demuestra.</a:t>
            </a:r>
            <a:endParaRPr lang="es-CO" sz="950" b="0" u="none" strike="noStrike">
              <a:solidFill>
                <a:srgbClr val="000000"/>
              </a:solidFill>
              <a:effectLst/>
              <a:uFillTx/>
              <a:latin typeface="Arial"/>
            </a:endParaRPr>
          </a:p>
        </p:txBody>
      </p:sp>
      <p:sp>
        <p:nvSpPr>
          <p:cNvPr id="472" name="Shape 3"/>
          <p:cNvSpPr/>
          <p:nvPr/>
        </p:nvSpPr>
        <p:spPr>
          <a:xfrm>
            <a:off x="567000" y="1481400"/>
            <a:ext cx="5440320" cy="1965600"/>
          </a:xfrm>
          <a:prstGeom prst="roundRect">
            <a:avLst>
              <a:gd name="adj" fmla="val 372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73" name="Shape 4"/>
          <p:cNvSpPr/>
          <p:nvPr/>
        </p:nvSpPr>
        <p:spPr>
          <a:xfrm>
            <a:off x="567000" y="1481400"/>
            <a:ext cx="63720" cy="1965600"/>
          </a:xfrm>
          <a:prstGeom prst="rect">
            <a:avLst/>
          </a:prstGeom>
          <a:solidFill>
            <a:srgbClr val="CE1126"/>
          </a:solidFill>
          <a:ln w="12700">
            <a:solidFill>
              <a:srgbClr val="CE1126"/>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74" name="Text 5"/>
          <p:cNvSpPr/>
          <p:nvPr/>
        </p:nvSpPr>
        <p:spPr>
          <a:xfrm>
            <a:off x="768240" y="1645920"/>
            <a:ext cx="5074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¿El sistema detecta corrupción?</a:t>
            </a:r>
            <a:endParaRPr lang="es-CO" sz="1200" b="0" u="none" strike="noStrike">
              <a:solidFill>
                <a:srgbClr val="000000"/>
              </a:solidFill>
              <a:effectLst/>
              <a:uFillTx/>
              <a:latin typeface="Arial"/>
            </a:endParaRPr>
          </a:p>
        </p:txBody>
      </p:sp>
      <p:sp>
        <p:nvSpPr>
          <p:cNvPr id="475" name="Text 6"/>
          <p:cNvSpPr/>
          <p:nvPr/>
        </p:nvSpPr>
        <p:spPr>
          <a:xfrm>
            <a:off x="768240" y="2011680"/>
            <a:ext cx="5074560" cy="130716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No. Detecta señales de riesgo y anomalías que ayudan a priorizar revisiones. La determinación requiere investigación, contexto y debido proceso.</a:t>
            </a:r>
            <a:endParaRPr lang="es-CO" sz="1000" b="0" u="none" strike="noStrike">
              <a:solidFill>
                <a:srgbClr val="000000"/>
              </a:solidFill>
              <a:effectLst/>
              <a:uFillTx/>
              <a:latin typeface="Arial"/>
            </a:endParaRPr>
          </a:p>
        </p:txBody>
      </p:sp>
      <p:sp>
        <p:nvSpPr>
          <p:cNvPr id="476" name="Shape 7"/>
          <p:cNvSpPr/>
          <p:nvPr/>
        </p:nvSpPr>
        <p:spPr>
          <a:xfrm>
            <a:off x="6217920" y="1481400"/>
            <a:ext cx="5394600" cy="1965600"/>
          </a:xfrm>
          <a:prstGeom prst="roundRect">
            <a:avLst>
              <a:gd name="adj" fmla="val 372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77" name="Shape 8"/>
          <p:cNvSpPr/>
          <p:nvPr/>
        </p:nvSpPr>
        <p:spPr>
          <a:xfrm>
            <a:off x="6217920" y="1481400"/>
            <a:ext cx="63720" cy="1965600"/>
          </a:xfrm>
          <a:prstGeom prst="rect">
            <a:avLst/>
          </a:prstGeom>
          <a:solidFill>
            <a:srgbClr val="FEC82F"/>
          </a:solidFill>
          <a:ln w="12700">
            <a:solidFill>
              <a:srgbClr val="FEC82F"/>
            </a:solidFill>
            <a:round/>
          </a:ln>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78" name="Text 9"/>
          <p:cNvSpPr/>
          <p:nvPr/>
        </p:nvSpPr>
        <p:spPr>
          <a:xfrm>
            <a:off x="6419160" y="1645920"/>
            <a:ext cx="50288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¿Cómo saben que el modelo funciona?</a:t>
            </a:r>
            <a:endParaRPr lang="es-CO" sz="1200" b="0" u="none" strike="noStrike">
              <a:solidFill>
                <a:srgbClr val="000000"/>
              </a:solidFill>
              <a:effectLst/>
              <a:uFillTx/>
              <a:latin typeface="Arial"/>
            </a:endParaRPr>
          </a:p>
        </p:txBody>
      </p:sp>
      <p:sp>
        <p:nvSpPr>
          <p:cNvPr id="479" name="Text 10"/>
          <p:cNvSpPr/>
          <p:nvPr/>
        </p:nvSpPr>
        <p:spPr>
          <a:xfrm>
            <a:off x="6419160" y="2011680"/>
            <a:ext cx="5028840" cy="130716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Validamos coherencia matemática, estabilidad, ejecución E2E y trazabilidad. Sin etiquetas confiables no afirmamos una precisión supervisada.</a:t>
            </a:r>
            <a:endParaRPr lang="es-CO" sz="1000" b="0" u="none" strike="noStrike">
              <a:solidFill>
                <a:srgbClr val="000000"/>
              </a:solidFill>
              <a:effectLst/>
              <a:uFillTx/>
              <a:latin typeface="Arial"/>
            </a:endParaRPr>
          </a:p>
        </p:txBody>
      </p:sp>
      <p:sp>
        <p:nvSpPr>
          <p:cNvPr id="480" name="Shape 11"/>
          <p:cNvSpPr/>
          <p:nvPr/>
        </p:nvSpPr>
        <p:spPr>
          <a:xfrm>
            <a:off x="567000" y="3675960"/>
            <a:ext cx="5440320" cy="1965600"/>
          </a:xfrm>
          <a:prstGeom prst="roundRect">
            <a:avLst>
              <a:gd name="adj" fmla="val 372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81" name="Shape 12"/>
          <p:cNvSpPr/>
          <p:nvPr/>
        </p:nvSpPr>
        <p:spPr>
          <a:xfrm>
            <a:off x="567000" y="3675960"/>
            <a:ext cx="63720" cy="1965600"/>
          </a:xfrm>
          <a:prstGeom prst="rect">
            <a:avLst/>
          </a:prstGeom>
          <a:solidFill>
            <a:srgbClr val="004884"/>
          </a:solidFill>
          <a:ln w="12700">
            <a:solidFill>
              <a:srgbClr val="004884"/>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82" name="Text 13"/>
          <p:cNvSpPr/>
          <p:nvPr/>
        </p:nvSpPr>
        <p:spPr>
          <a:xfrm>
            <a:off x="768240" y="3840480"/>
            <a:ext cx="50745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¿Qué pasa si datos.gov.co falla?</a:t>
            </a:r>
            <a:endParaRPr lang="es-CO" sz="1200" b="0" u="none" strike="noStrike">
              <a:solidFill>
                <a:srgbClr val="000000"/>
              </a:solidFill>
              <a:effectLst/>
              <a:uFillTx/>
              <a:latin typeface="Arial"/>
            </a:endParaRPr>
          </a:p>
        </p:txBody>
      </p:sp>
      <p:sp>
        <p:nvSpPr>
          <p:cNvPr id="483" name="Text 14"/>
          <p:cNvSpPr/>
          <p:nvPr/>
        </p:nvSpPr>
        <p:spPr>
          <a:xfrm>
            <a:off x="768240" y="4206240"/>
            <a:ext cx="5074560" cy="130716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La aplicación conserva una copia local y usa caché con actualización en segundo plano. La respuesta identifica la fuente y evita ocultar su antigüedad.</a:t>
            </a:r>
            <a:endParaRPr lang="es-CO" sz="1000" b="0" u="none" strike="noStrike">
              <a:solidFill>
                <a:srgbClr val="000000"/>
              </a:solidFill>
              <a:effectLst/>
              <a:uFillTx/>
              <a:latin typeface="Arial"/>
            </a:endParaRPr>
          </a:p>
        </p:txBody>
      </p:sp>
      <p:sp>
        <p:nvSpPr>
          <p:cNvPr id="484" name="Shape 15"/>
          <p:cNvSpPr/>
          <p:nvPr/>
        </p:nvSpPr>
        <p:spPr>
          <a:xfrm>
            <a:off x="6217920" y="3675960"/>
            <a:ext cx="5394600" cy="1965600"/>
          </a:xfrm>
          <a:prstGeom prst="roundRect">
            <a:avLst>
              <a:gd name="adj" fmla="val 3721"/>
            </a:avLst>
          </a:prstGeom>
          <a:solidFill>
            <a:srgbClr val="FFFFFF"/>
          </a:solidFill>
          <a:ln w="10160">
            <a:solidFill>
              <a:srgbClr val="D8E1EC"/>
            </a:solidFill>
            <a:round/>
          </a:ln>
          <a:effectLst>
            <a:outerShdw algn="bl" blurRad="12600" dir="2700000" dist="50402" kx="0" ky="0" rotWithShape="0" sx="100000" sy="100000">
              <a:srgbClr val="AAB7C6">
                <a:alpha val="12000"/>
              </a:srgbClr>
            </a:outerShdw>
          </a:effectLst>
        </p:spPr>
        <p:style>
          <a:lnRef idx="0"/>
          <a:fillRef idx="0"/>
          <a:effectRef idx="0"/>
          <a:fontRef idx="minor"/>
        </p:style>
        <p:txBody>
          <a:bodyPr lIns="90000" tIns="45000" rIns="90000" bIns="45000" anchor="t">
            <a:noAutofit/>
          </a:bodyPr>
          <a:p>
            <a:endParaRPr lang="es-CO" sz="1800" b="0" u="none" strike="noStrike">
              <a:solidFill>
                <a:srgbClr val="000000"/>
              </a:solidFill>
              <a:effectLst/>
              <a:uFillTx/>
              <a:latin typeface="Arial"/>
            </a:endParaRPr>
          </a:p>
        </p:txBody>
      </p:sp>
      <p:sp>
        <p:nvSpPr>
          <p:cNvPr id="485" name="Shape 16"/>
          <p:cNvSpPr/>
          <p:nvPr/>
        </p:nvSpPr>
        <p:spPr>
          <a:xfrm>
            <a:off x="6217920" y="3675960"/>
            <a:ext cx="63720" cy="1965600"/>
          </a:xfrm>
          <a:prstGeom prst="rect">
            <a:avLst/>
          </a:prstGeom>
          <a:solidFill>
            <a:srgbClr val="16865A"/>
          </a:solidFill>
          <a:ln w="12700">
            <a:solidFill>
              <a:srgbClr val="16865A"/>
            </a:solidFill>
            <a:round/>
          </a:ln>
        </p:spPr>
        <p:style>
          <a:lnRef idx="0"/>
          <a:fillRef idx="0"/>
          <a:effectRef idx="0"/>
          <a:fontRef idx="minor"/>
        </p:style>
        <p:txBody>
          <a:bodyPr lIns="90000" tIns="45000" rIns="90000" bIns="45000" anchor="t">
            <a:noAutofit/>
          </a:bodyPr>
          <a:p>
            <a:endParaRPr lang="es-CO" sz="1800" b="0" u="none" strike="noStrike">
              <a:solidFill>
                <a:srgbClr val="FFFFFF"/>
              </a:solidFill>
              <a:effectLst/>
              <a:uFillTx/>
              <a:latin typeface="Arial"/>
            </a:endParaRPr>
          </a:p>
        </p:txBody>
      </p:sp>
      <p:sp>
        <p:nvSpPr>
          <p:cNvPr id="486" name="Text 17"/>
          <p:cNvSpPr/>
          <p:nvPr/>
        </p:nvSpPr>
        <p:spPr>
          <a:xfrm>
            <a:off x="6419160" y="3840480"/>
            <a:ext cx="50288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2D58"/>
                </a:solidFill>
                <a:effectLst/>
                <a:uFillTx/>
                <a:latin typeface="Montserrat"/>
                <a:ea typeface="Montserrat"/>
              </a:rPr>
              <a:t>¿Cómo escala?</a:t>
            </a:r>
            <a:endParaRPr lang="es-CO" sz="1200" b="0" u="none" strike="noStrike">
              <a:solidFill>
                <a:srgbClr val="000000"/>
              </a:solidFill>
              <a:effectLst/>
              <a:uFillTx/>
              <a:latin typeface="Arial"/>
            </a:endParaRPr>
          </a:p>
        </p:txBody>
      </p:sp>
      <p:sp>
        <p:nvSpPr>
          <p:cNvPr id="487" name="Text 18"/>
          <p:cNvSpPr/>
          <p:nvPr/>
        </p:nvSpPr>
        <p:spPr>
          <a:xfrm>
            <a:off x="6419160" y="4206240"/>
            <a:ext cx="5028840" cy="130716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000" b="0" u="none" strike="noStrike">
                <a:solidFill>
                  <a:srgbClr val="172033"/>
                </a:solidFill>
                <a:effectLst/>
                <a:uFillTx/>
                <a:latin typeface="Montserrat"/>
                <a:ea typeface="Montserrat"/>
              </a:rPr>
              <a:t>Las fuentes, reglas, servicios y canales están desacoplados. Se pueden sumar datasets, sectores, alertas y canales sin rediseñar toda la plataforma.</a:t>
            </a:r>
            <a:endParaRPr lang="es-CO" sz="1000" b="0" u="none" strike="noStrike">
              <a:solidFill>
                <a:srgbClr val="000000"/>
              </a:solidFill>
              <a:effectLst/>
              <a:uFillTx/>
              <a:latin typeface="Arial"/>
            </a:endParaRPr>
          </a:p>
        </p:txBody>
      </p:sp>
      <p:sp>
        <p:nvSpPr>
          <p:cNvPr id="488" name="PlaceHolder 1"/>
          <p:cNvSpPr>
            <a:spLocks noGrp="1"/>
          </p:cNvSpPr>
          <p:nvPr>
            <p:ph type="sldNum" idx="19"/>
          </p:nvPr>
        </p:nvSpPr>
        <p:spPr>
          <a:xfrm>
            <a:off x="11722680" y="649224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600" b="0" u="none" strike="noStrike">
                <a:solidFill>
                  <a:srgbClr val="718096"/>
                </a:solidFill>
                <a:effectLst/>
                <a:uFillTx/>
                <a:latin typeface="Montserrat"/>
                <a:ea typeface="Montserrat"/>
              </a:defRPr>
            </a:lvl1pPr>
          </a:lstStyle>
          <a:p>
            <a:pPr indent="0" algn="l" defTabSz="914400">
              <a:lnSpc>
                <a:spcPct val="100000"/>
              </a:lnSpc>
              <a:buNone/>
            </a:pPr>
            <a:fld id="{8F163FC0-8535-4F51-8449-113B6A1EDCA3}" type="slidenum">
              <a:rPr lang="en-US" sz="600" b="0" u="none" strike="noStrike">
                <a:solidFill>
                  <a:srgbClr val="718096"/>
                </a:solidFill>
                <a:effectLst/>
                <a:uFillTx/>
                <a:latin typeface="Montserrat"/>
                <a:ea typeface="Montserrat"/>
              </a:rPr>
              <a:t>&lt;número&gt;</a:t>
            </a:fld>
            <a:endParaRPr lang="es-CO" sz="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pitchFamily="0" charset="1"/>
        <a:ea typeface=""/>
        <a:cs typeface=""/>
      </a:majorFont>
      <a:minorFont>
        <a:latin typeface="Montserra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159</TotalTime>
  <Application>LibreOffice/26.2.4.2$Linux_X86_64 LibreOffice_project/620$Build-2</Application>
  <AppVersion>15.0000</AppVersion>
  <Words>0</Words>
  <Paragraphs>0</Paragraphs>
  <Company>Datos al Ecosistema 2026</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2026-07-17T16:59:35Z</dcterms:created>
  <dc:creator>John Paez y Esperanza Niño</dc:creator>
  <dc:description/>
  <dc:language>es-CO</dc:language>
  <cp:lastModifiedBy/>
  <dcterms:modified xsi:type="dcterms:W3CDTF">2026-07-17T14:40:54Z</dcterms:modified>
  <cp:revision>2</cp:revision>
  <dc:subject>Sustentación Datos al Ecosistema 2026</dc:subject>
  <dc:title>Observatorio Anticorrupción de Colombia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