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Esperanza
TIEMPO OBJETIVO: 0:30
Buenos días. Somos John Paez y Esperanza Niño. Presentamos el Observatorio Anticorrupción de Colombia, una solución del reto de asistentes virtuales para facilitar el acceso ciudadano a datos abiertos. Nuestra idea se resume en una frase: convertir datos dispersos en decisiones focalizadas.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Esperanza
TIEMPO OBJETIVO: 0:45
Colombia ya publica millones de registros. El problema es que disponibilidad no significa comprensión. Las fuentes están separadas, el lenguaje es técnico y la priorización suele ser manual. Por eso preguntamos: ¿cómo puede una persona hablar con estos datos sin ser especialista y obtener una respuesta que pueda verificar?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Esperanza
TIEMPO OBJETIVO: 0:55
Nuestro cliente principal son las entidades de control y las oficinas de control interno. El usuario que opera la herramienta es el analista o auditor, y el beneficio se extiende a ciudadanos, veedurías, periodistas e investigadores. La aplicación no acusa ni reemplaza una investigación: prioriza, explica y conserva la fuente para que una persona tome la decisión.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Esperanza
TIEMPO OBJETIVO: 0:45
La experiencia es simple: una persona pregunta; el sistema integra las fuentes; aplica reglas explicables y detección de anomalías; y devuelve un semáforo con evidencias verificables. El objetivo no es prometer una sentencia automática, sino entregar una plataforma funcional y medible para facilitar el acceso y focalizar la revisión.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John
TIEMPO OBJETIVO: 0:55
La fuente principal es SECOP II Contratos Electrónicos, publicada por Colombia Compra Eficiente con cobertura nacional y actualización diaria. La conectamos mediante Socrata y la complementamos con SIRI, CGR, FGN, multas y obras. El trabajo de datos incluye normalizar identificadores, fechas, valores y estados, construir variables y conservar la evidencia original para que el proceso sea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John
TIEMPO OBJETIVO: 0:55
Construimos una API propia que integra cinco dominios: responsabilidades fiscales de Contraloría, antecedentes disciplinarios SIRI, sanciones penales de Fiscalía, multas SECOP y obras inconclusas. Permite buscar en todas las bases, construir un perfil por documento y consultar estadísticas o rutas especializadas. Está documentada con Swagger y puede ser consumida por nuestra aplicación, por el agente o por otras soluciones públicas.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Esperanza
TIEMPO OBJETIVO: 0:45
Nuestra propuesta no es otra tabla de datos. Antes, una persona debía entrar a varias fuentes, interpretar columnas y revisar sin una prioridad. Con el Observatorio consulta un NIT o sector, entiende cada bandera, identifica qué revisar primero y puede preguntar en lenguaje natural. La API propia permite reutilizar esta integración más allá de nuestra interfaz.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John
TIEMPO OBJETIVO: 1:00
Seguimos un ciclo CRISP-ML. Como antecedente colombiano tomamos el estudio Índice de riesgo de corrupción en el sistema de compra pública colombiano, de Zuleta, Ospina y Caro, publicado por Fedesarrollo y el BID en 2019. Ese trabajo analiza SECOP mediante indicadores de falta de competencia, falta de transparencia y anomalías. Nuestro prototipo combina nueve reglas operativas visibles con una señal estadística basada en Isolation Forest. Los pesos exactos son decisiones propias, no una reproducción literal del índice del estudio. Evaluamos aritmética, persistencia, caché y flujo E2E, y desplegamos en contenedores.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John
TIEMPO OBJETIVO: 1:00
La arquitectura tiene cuatro capas. Las fuentes abiertas alimentan la API Anticorrupción Colombia, que normaliza y unifica antecedentes por documento. Sobre esa capa se ejecutan el score, Isolation Forest y las herramientas del agente. Finalmente, el dashboard presenta alertas, perfiles y conversación. La API desacopla las fuentes de la experiencia y permite que otras soluciones reutilicen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John
TIEMPO OBJETIVO: 1:00
Usamos tres formas de IA. Para detectar comportamientos atípicos nos basamos en el paper Isolation Forest, de Fei Tony Liu, Kai Ming Ting y Zhi-Hua Zhou, publicado en IEEE ICDM 2008. Su idea es que las observaciones escasas y diferentes suelen aislarse con recorridos más cortos en árboles aleatorios. Lo aplicamos por sector con nueve variables, cien árboles y un umbral explícito. El paper fundamenta el algoritmo de anomalías; los puntos de las banderas y el semáforo son reglas operativas propias. Sin etiquetas confiables de corrupción no inventamos una precisión: un outlier es una señal para revisar, nunca una acusación.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Esperanza
TIEMPO OBJETIVO: 0:55
El resultado es una API reutilizable y una aplicación pública funcionando con datos reales. En la captura vemos 5,70 millones de contratos, 460 alertas rojas, nueve banderas explicables y cinco dominios institucionales integrados por la API. El impacto es social porque democratiza la consulta, y operativo porque focaliza revisiones.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John
TIEMPO OBJETIVO: 0:20 + demo 5:00
Ahora vamos a probar la solución con una pregunta concreta. Primero veremos el sector, luego abriremos el perfil que integra la API Anticorrupción y finalmente pediremos al asistente que sintetice la evidencia. Si la conexión falla, usamos las capturas de respaldo.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John
TIEMPO OBJETIVO: Anexo
Usar únicamente si el jurado pregunta cómo se construye el score. Recalcar que cada punto es visible, que el semáforo es una regla operativa y que la anomalía no reemplaza las banderas documentales.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Equipo
TIEMPO OBJETIVO: Anexo
Usar si el jurado pregunta por fuentes o fundamento metodológico. Abrir los enlaces únicamente si hay tiempo y conexión estable.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 Equipo
TIEMPO OBJETIVO: Anexo
Esperanza responde impacto, cliente y adopción. John responde arquitectura, datos y modelo. Ambos deben iniciar agradeciendo la pregunta y terminar conectando la respuesta con el valor público.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FEC82F"/>
          </a:solidFill>
          <a:ln w="12700">
            <a:solidFill>
              <a:srgbClr val="FEC82F"/>
            </a:solidFill>
            <a:prstDash val="solid"/>
          </a:ln>
        </p:spPr>
      </p:sp>
      <p:sp>
        <p:nvSpPr>
          <p:cNvPr id="3" name="Text 1"/>
          <p:cNvSpPr/>
          <p:nvPr/>
        </p:nvSpPr>
        <p:spPr>
          <a:xfrm>
            <a:off x="502920" y="6510528"/>
            <a:ext cx="8046720" cy="146304"/>
          </a:xfrm>
          <a:prstGeom prst="rect">
            <a:avLst/>
          </a:prstGeom>
          <a:noFill/>
          <a:ln/>
        </p:spPr>
        <p:txBody>
          <a:bodyPr wrap="square" lIns="0" tIns="0" rIns="0" bIns="0" rtlCol="0" anchor="ctr"/>
          <a:lstStyle/>
          <a:p>
            <a:pPr indent="0" marL="0">
              <a:buNone/>
            </a:pPr>
            <a:r>
              <a:rPr lang="en-US" sz="580" b="1" spc="120" kern="0" dirty="0">
                <a:solidFill>
                  <a:srgbClr val="718096"/>
                </a:solidFill>
                <a:latin typeface="Montserrat" pitchFamily="34" charset="0"/>
                <a:ea typeface="Montserrat" pitchFamily="34" charset="-122"/>
                <a:cs typeface="Montserrat" pitchFamily="34" charset="-120"/>
              </a:rPr>
              <a:t>OBSERVATORIO ANTICORRUPCIÓN · DATOS AL ECOSISTEMA 2026</a:t>
            </a:r>
            <a:endParaRPr lang="en-US" sz="580" dirty="0"/>
          </a:p>
        </p:txBody>
      </p:sp>
      <p:sp>
        <p:nvSpPr>
          <p:cNvPr id="4" name="Text 2"/>
          <p:cNvSpPr/>
          <p:nvPr/>
        </p:nvSpPr>
        <p:spPr>
          <a:xfrm>
            <a:off x="8321040" y="6510528"/>
            <a:ext cx="3364992" cy="146304"/>
          </a:xfrm>
          <a:prstGeom prst="rect">
            <a:avLst/>
          </a:prstGeom>
          <a:noFill/>
          <a:ln/>
        </p:spPr>
        <p:txBody>
          <a:bodyPr wrap="square" lIns="0" tIns="0" rIns="0" bIns="0" rtlCol="0" anchor="ctr"/>
          <a:lstStyle/>
          <a:p>
            <a:pPr algn="r" indent="0" marL="0">
              <a:buNone/>
            </a:pPr>
            <a:r>
              <a:rPr lang="en-US" sz="550" b="1" dirty="0">
                <a:solidFill>
                  <a:srgbClr val="9A3412"/>
                </a:solidFill>
                <a:latin typeface="Montserrat" pitchFamily="34" charset="0"/>
                <a:ea typeface="Montserrat" pitchFamily="34" charset="-122"/>
                <a:cs typeface="Montserrat" pitchFamily="34" charset="-120"/>
              </a:rPr>
              <a:t>RIESGO INDICATIVO · NO CONSTITUYE PRUEBA DE CORRUPCIÓN</a:t>
            </a:r>
            <a:endParaRPr lang="en-US" sz="55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hyperlink" Target="https://observatorio-col.srv991465.hstgr.cloud" TargetMode="External"/><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image" Target="../media/image-1-3.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datos.gov.co/Gastos-Gubernamentales/SECOP-II-Contratos-Electr-nicos/jbjy-vk9h" TargetMode="Externa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4" Type="http://schemas.openxmlformats.org/officeDocument/2006/relationships/hyperlink" Target="https://observatorio-col.srv991465.hstgr.cloud" TargetMode="External"/><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datos.gov.co/Gastos-Gubernamentales/SECOP-II-Contratos-Electr-nicos/jbjy-vk9h" TargetMode="External"/><Relationship Id="rId2" Type="http://schemas.openxmlformats.org/officeDocument/2006/relationships/hyperlink" Target="https://hdl.handle.net/11445/3872" TargetMode="External"/><Relationship Id="rId3" Type="http://schemas.openxmlformats.org/officeDocument/2006/relationships/hyperlink" Target="https://cs.nju.edu.cn/zhouzh/zhouzh.files/publication/icdm08b.pdf" TargetMode="External"/><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D5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FEC82F"/>
          </a:solidFill>
          <a:ln w="12700">
            <a:solidFill>
              <a:srgbClr val="FEC82F"/>
            </a:solidFill>
            <a:prstDash val="solid"/>
          </a:ln>
        </p:spPr>
      </p:sp>
      <p:pic>
        <p:nvPicPr>
          <p:cNvPr id="3" name="Image 0" descr="/home/johnpaez/Documentos/Apps/observatorio/frontend/public/favicon.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94360" y="566928"/>
            <a:ext cx="566928" cy="566928"/>
          </a:xfrm>
          <a:prstGeom prst="rect">
            <a:avLst/>
          </a:prstGeom>
        </p:spPr>
      </p:pic>
      <p:sp>
        <p:nvSpPr>
          <p:cNvPr id="4" name="Text 1"/>
          <p:cNvSpPr/>
          <p:nvPr/>
        </p:nvSpPr>
        <p:spPr>
          <a:xfrm>
            <a:off x="1353312" y="676656"/>
            <a:ext cx="4846320" cy="201168"/>
          </a:xfrm>
          <a:prstGeom prst="rect">
            <a:avLst/>
          </a:prstGeom>
          <a:noFill/>
          <a:ln/>
        </p:spPr>
        <p:txBody>
          <a:bodyPr wrap="square" lIns="0" tIns="0" rIns="0" bIns="0" rtlCol="0" anchor="ctr"/>
          <a:lstStyle/>
          <a:p>
            <a:pPr indent="0" marL="0">
              <a:buNone/>
            </a:pPr>
            <a:r>
              <a:rPr lang="en-US" sz="800" b="1" spc="180" kern="0" dirty="0">
                <a:solidFill>
                  <a:srgbClr val="FEC82F"/>
                </a:solidFill>
              </a:rPr>
              <a:t>DATOS AL ECOSISTEMA 2026 · RETO 7</a:t>
            </a:r>
            <a:endParaRPr lang="en-US" sz="800" dirty="0"/>
          </a:p>
        </p:txBody>
      </p:sp>
      <p:sp>
        <p:nvSpPr>
          <p:cNvPr id="5" name="Text 2"/>
          <p:cNvSpPr/>
          <p:nvPr/>
        </p:nvSpPr>
        <p:spPr>
          <a:xfrm>
            <a:off x="621792" y="1298448"/>
            <a:ext cx="6080760" cy="2395728"/>
          </a:xfrm>
          <a:prstGeom prst="rect">
            <a:avLst/>
          </a:prstGeom>
          <a:noFill/>
          <a:ln/>
        </p:spPr>
        <p:txBody>
          <a:bodyPr wrap="square" lIns="0" tIns="0" rIns="0" bIns="0" rtlCol="0" anchor="ctr"/>
          <a:lstStyle/>
          <a:p>
            <a:pPr indent="0" marL="0">
              <a:buNone/>
            </a:pPr>
            <a:r>
              <a:rPr lang="en-US" sz="3400" b="1" dirty="0">
                <a:solidFill>
                  <a:srgbClr val="FFFFFF"/>
                </a:solidFill>
              </a:rPr>
              <a:t>Observatorio</a:t>
            </a:r>
            <a:endParaRPr lang="en-US" sz="3400" dirty="0"/>
          </a:p>
          <a:p>
            <a:pPr indent="0" marL="0">
              <a:buNone/>
            </a:pPr>
            <a:r>
              <a:rPr lang="en-US" sz="3400" b="1" dirty="0">
                <a:solidFill>
                  <a:srgbClr val="FFFFFF"/>
                </a:solidFill>
              </a:rPr>
              <a:t>Anticorrupción</a:t>
            </a:r>
            <a:endParaRPr lang="en-US" sz="3400" dirty="0"/>
          </a:p>
          <a:p>
            <a:pPr indent="0" marL="0">
              <a:buNone/>
            </a:pPr>
            <a:r>
              <a:rPr lang="en-US" sz="3400" b="1" dirty="0">
                <a:solidFill>
                  <a:srgbClr val="FFFFFF"/>
                </a:solidFill>
              </a:rPr>
              <a:t>de Colombia</a:t>
            </a:r>
            <a:endParaRPr lang="en-US" sz="3400" dirty="0"/>
          </a:p>
        </p:txBody>
      </p:sp>
      <p:sp>
        <p:nvSpPr>
          <p:cNvPr id="6" name="Text 3"/>
          <p:cNvSpPr/>
          <p:nvPr/>
        </p:nvSpPr>
        <p:spPr>
          <a:xfrm>
            <a:off x="658368" y="3977640"/>
            <a:ext cx="5394960" cy="457200"/>
          </a:xfrm>
          <a:prstGeom prst="rect">
            <a:avLst/>
          </a:prstGeom>
          <a:noFill/>
          <a:ln/>
        </p:spPr>
        <p:txBody>
          <a:bodyPr wrap="square" lIns="0" tIns="0" rIns="0" bIns="0" rtlCol="0" anchor="ctr"/>
          <a:lstStyle/>
          <a:p>
            <a:pPr indent="0" marL="0">
              <a:buNone/>
            </a:pPr>
            <a:r>
              <a:rPr lang="en-US" sz="1600" b="1" dirty="0">
                <a:solidFill>
                  <a:srgbClr val="FEC82F"/>
                </a:solidFill>
              </a:rPr>
              <a:t>De datos dispersos a decisiones focalizadas</a:t>
            </a:r>
            <a:endParaRPr lang="en-US" sz="1600" dirty="0"/>
          </a:p>
        </p:txBody>
      </p:sp>
      <p:sp>
        <p:nvSpPr>
          <p:cNvPr id="7" name="Text 4"/>
          <p:cNvSpPr/>
          <p:nvPr/>
        </p:nvSpPr>
        <p:spPr>
          <a:xfrm>
            <a:off x="658368" y="4526280"/>
            <a:ext cx="5394960" cy="713232"/>
          </a:xfrm>
          <a:prstGeom prst="rect">
            <a:avLst/>
          </a:prstGeom>
          <a:noFill/>
          <a:ln/>
        </p:spPr>
        <p:txBody>
          <a:bodyPr wrap="square" lIns="0" tIns="0" rIns="0" bIns="0" rtlCol="0" anchor="ctr"/>
          <a:lstStyle/>
          <a:p>
            <a:pPr indent="0" marL="0">
              <a:buNone/>
            </a:pPr>
            <a:r>
              <a:rPr lang="en-US" sz="1200" dirty="0">
                <a:solidFill>
                  <a:srgbClr val="DCE7F3"/>
                </a:solidFill>
              </a:rPr>
              <a:t>Asistente virtual y analítica explicable para facilitar el acceso ciudadano a datos abiertos de contratación pública.</a:t>
            </a:r>
            <a:endParaRPr lang="en-US" sz="1200" dirty="0"/>
          </a:p>
        </p:txBody>
      </p:sp>
      <p:sp>
        <p:nvSpPr>
          <p:cNvPr id="8" name="Shape 5"/>
          <p:cNvSpPr/>
          <p:nvPr/>
        </p:nvSpPr>
        <p:spPr>
          <a:xfrm>
            <a:off x="6748272" y="658368"/>
            <a:ext cx="4892040" cy="5431536"/>
          </a:xfrm>
          <a:prstGeom prst="roundRect">
            <a:avLst>
              <a:gd name="adj" fmla="val 1495"/>
            </a:avLst>
          </a:prstGeom>
          <a:solidFill>
            <a:srgbClr val="FFFFFF">
              <a:alpha val="99000"/>
            </a:srgbClr>
          </a:solidFill>
          <a:ln w="12700">
            <a:solidFill>
              <a:srgbClr val="40658A"/>
            </a:solidFill>
            <a:prstDash val="solid"/>
          </a:ln>
        </p:spPr>
      </p:sp>
      <p:pic>
        <p:nvPicPr>
          <p:cNvPr id="9" name="Image 1" descr="/home/johnpaez/Documentos/Apps/observatorio/scripts/presentation_assets/home.png">    </p:cNvPr>
          <p:cNvPicPr>
            <a:picLocks noChangeAspect="1"/>
          </p:cNvPicPr>
          <p:nvPr/>
        </p:nvPicPr>
        <p:blipFill>
          <a:blip r:embed="rId3"/>
          <a:stretch>
            <a:fillRect/>
          </a:stretch>
        </p:blipFill>
        <p:spPr>
          <a:xfrm>
            <a:off x="6931152" y="841248"/>
            <a:ext cx="4526280" cy="2825496"/>
          </a:xfrm>
          <a:prstGeom prst="rect">
            <a:avLst/>
          </a:prstGeom>
        </p:spPr>
      </p:pic>
      <p:sp>
        <p:nvSpPr>
          <p:cNvPr id="10" name="Text 6"/>
          <p:cNvSpPr/>
          <p:nvPr/>
        </p:nvSpPr>
        <p:spPr>
          <a:xfrm>
            <a:off x="7040880" y="3977640"/>
            <a:ext cx="1097280" cy="210312"/>
          </a:xfrm>
          <a:prstGeom prst="rect">
            <a:avLst/>
          </a:prstGeom>
          <a:noFill/>
          <a:ln/>
        </p:spPr>
        <p:txBody>
          <a:bodyPr wrap="square" lIns="0" tIns="0" rIns="0" bIns="0" rtlCol="0" anchor="ctr"/>
          <a:lstStyle/>
          <a:p>
            <a:pPr indent="0" marL="0">
              <a:buNone/>
            </a:pPr>
            <a:r>
              <a:rPr lang="en-US" sz="800" b="1" spc="160" kern="0" dirty="0">
                <a:solidFill>
                  <a:srgbClr val="FEC82F"/>
                </a:solidFill>
              </a:rPr>
              <a:t>EQUIPO</a:t>
            </a:r>
            <a:endParaRPr lang="en-US" sz="800" dirty="0"/>
          </a:p>
        </p:txBody>
      </p:sp>
      <p:sp>
        <p:nvSpPr>
          <p:cNvPr id="11" name="Text 7"/>
          <p:cNvSpPr/>
          <p:nvPr/>
        </p:nvSpPr>
        <p:spPr>
          <a:xfrm>
            <a:off x="7040880" y="4315968"/>
            <a:ext cx="1920240" cy="256032"/>
          </a:xfrm>
          <a:prstGeom prst="rect">
            <a:avLst/>
          </a:prstGeom>
          <a:noFill/>
          <a:ln/>
        </p:spPr>
        <p:txBody>
          <a:bodyPr wrap="square" lIns="0" tIns="0" rIns="0" bIns="0" rtlCol="0" anchor="ctr"/>
          <a:lstStyle/>
          <a:p>
            <a:pPr indent="0" marL="0">
              <a:buNone/>
            </a:pPr>
            <a:r>
              <a:rPr lang="en-US" sz="1300" b="1" dirty="0">
                <a:solidFill>
                  <a:srgbClr val="002D58"/>
                </a:solidFill>
              </a:rPr>
              <a:t>John Paez</a:t>
            </a:r>
            <a:endParaRPr lang="en-US" sz="1300" dirty="0"/>
          </a:p>
        </p:txBody>
      </p:sp>
      <p:sp>
        <p:nvSpPr>
          <p:cNvPr id="12" name="Text 8"/>
          <p:cNvSpPr/>
          <p:nvPr/>
        </p:nvSpPr>
        <p:spPr>
          <a:xfrm>
            <a:off x="7040880" y="4636008"/>
            <a:ext cx="3840480" cy="237744"/>
          </a:xfrm>
          <a:prstGeom prst="rect">
            <a:avLst/>
          </a:prstGeom>
          <a:noFill/>
          <a:ln/>
        </p:spPr>
        <p:txBody>
          <a:bodyPr wrap="square" lIns="0" tIns="0" rIns="0" bIns="0" rtlCol="0" anchor="ctr"/>
          <a:lstStyle/>
          <a:p>
            <a:pPr indent="0" marL="0">
              <a:buNone/>
            </a:pPr>
            <a:r>
              <a:rPr lang="en-US" sz="800" dirty="0">
                <a:solidFill>
                  <a:srgbClr val="5A677D"/>
                </a:solidFill>
              </a:rPr>
              <a:t>Desarrollo de software · Arquitectura · IA</a:t>
            </a:r>
            <a:endParaRPr lang="en-US" sz="800" dirty="0"/>
          </a:p>
        </p:txBody>
      </p:sp>
      <p:sp>
        <p:nvSpPr>
          <p:cNvPr id="13" name="Text 9"/>
          <p:cNvSpPr/>
          <p:nvPr/>
        </p:nvSpPr>
        <p:spPr>
          <a:xfrm>
            <a:off x="7040880" y="5074920"/>
            <a:ext cx="2560320" cy="256032"/>
          </a:xfrm>
          <a:prstGeom prst="rect">
            <a:avLst/>
          </a:prstGeom>
          <a:noFill/>
          <a:ln/>
        </p:spPr>
        <p:txBody>
          <a:bodyPr wrap="square" lIns="0" tIns="0" rIns="0" bIns="0" rtlCol="0" anchor="ctr"/>
          <a:lstStyle/>
          <a:p>
            <a:pPr indent="0" marL="0">
              <a:buNone/>
            </a:pPr>
            <a:r>
              <a:rPr lang="en-US" sz="1300" b="1" dirty="0">
                <a:solidFill>
                  <a:srgbClr val="002D58"/>
                </a:solidFill>
              </a:rPr>
              <a:t>Esperanza Niño</a:t>
            </a:r>
            <a:endParaRPr lang="en-US" sz="1300" dirty="0"/>
          </a:p>
        </p:txBody>
      </p:sp>
      <p:sp>
        <p:nvSpPr>
          <p:cNvPr id="14" name="Text 10"/>
          <p:cNvSpPr/>
          <p:nvPr/>
        </p:nvSpPr>
        <p:spPr>
          <a:xfrm>
            <a:off x="7040880" y="5394960"/>
            <a:ext cx="3383280" cy="237744"/>
          </a:xfrm>
          <a:prstGeom prst="rect">
            <a:avLst/>
          </a:prstGeom>
          <a:noFill/>
          <a:ln/>
        </p:spPr>
        <p:txBody>
          <a:bodyPr wrap="square" lIns="0" tIns="0" rIns="0" bIns="0" rtlCol="0" anchor="ctr"/>
          <a:lstStyle/>
          <a:p>
            <a:pPr indent="0" marL="0">
              <a:buNone/>
            </a:pPr>
            <a:r>
              <a:rPr lang="en-US" sz="800" dirty="0">
                <a:solidFill>
                  <a:srgbClr val="5A677D"/>
                </a:solidFill>
              </a:rPr>
              <a:t>Producto · Operaciones · Impacto</a:t>
            </a:r>
            <a:endParaRPr lang="en-US" sz="800" dirty="0"/>
          </a:p>
        </p:txBody>
      </p:sp>
      <p:sp>
        <p:nvSpPr>
          <p:cNvPr id="15" name="Text 11">
            <a:hlinkClick r:id="rId4" tooltip=""/>
          </p:cNvPr>
          <p:cNvSpPr/>
          <p:nvPr/>
        </p:nvSpPr>
        <p:spPr>
          <a:xfrm>
            <a:off x="658368" y="6172200"/>
            <a:ext cx="5852160" cy="201168"/>
          </a:xfrm>
          <a:prstGeom prst="rect">
            <a:avLst/>
          </a:prstGeom>
          <a:noFill/>
          <a:ln/>
        </p:spPr>
        <p:txBody>
          <a:bodyPr wrap="square" lIns="0" tIns="0" rIns="0" bIns="0" rtlCol="0" anchor="ctr"/>
          <a:lstStyle/>
          <a:p>
            <a:pPr indent="0" marL="0">
              <a:buNone/>
            </a:pPr>
            <a:r>
              <a:rPr lang="en-US" sz="750" b="1" u="sng" dirty="0">
                <a:solidFill>
                  <a:srgbClr val="BFD4E8"/>
                </a:solidFill>
                <a:hlinkClick r:id="rId4" invalidUrl="" action="" tgtFrame="" tooltip="" history="1" highlightClick="0" endSnd="0">
                  <a:extLst>
                    <a:ext uri="{A12FA001-AC4F-418D-AE19-62706E023703}">
                      <ahyp:hlinkClr xmlns:ahyp="http://schemas.microsoft.com/office/drawing/2018/hyperlinkcolor" val="tx"/>
                    </a:ext>
                  </a:extLst>
                </a:hlinkClick>
              </a:rPr>
              <a:t>observatorio-col.srv991465.hstgr.cloud</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EL RETO</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Publicar datos no garantiza que puedan comprenderse</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La contratación pública es abierta, pero consultarla, cruzarla e interpretarla sigue siendo una tarea especializada.</a:t>
            </a:r>
            <a:endParaRPr lang="en-US" sz="950" dirty="0"/>
          </a:p>
        </p:txBody>
      </p:sp>
      <p:sp>
        <p:nvSpPr>
          <p:cNvPr id="5" name="Text 3"/>
          <p:cNvSpPr/>
          <p:nvPr/>
        </p:nvSpPr>
        <p:spPr>
          <a:xfrm>
            <a:off x="566928" y="1645920"/>
            <a:ext cx="3200400" cy="731520"/>
          </a:xfrm>
          <a:prstGeom prst="rect">
            <a:avLst/>
          </a:prstGeom>
          <a:noFill/>
          <a:ln/>
        </p:spPr>
        <p:txBody>
          <a:bodyPr wrap="square" lIns="0" tIns="0" rIns="0" bIns="0" rtlCol="0" anchor="ctr"/>
          <a:lstStyle/>
          <a:p>
            <a:pPr indent="0" marL="0">
              <a:buNone/>
            </a:pPr>
            <a:r>
              <a:rPr lang="en-US" sz="3900" b="1" dirty="0">
                <a:solidFill>
                  <a:srgbClr val="002D58"/>
                </a:solidFill>
              </a:rPr>
              <a:t>5,70 M</a:t>
            </a:r>
            <a:endParaRPr lang="en-US" sz="3900" dirty="0"/>
          </a:p>
        </p:txBody>
      </p:sp>
      <p:sp>
        <p:nvSpPr>
          <p:cNvPr id="6" name="Text 4"/>
          <p:cNvSpPr/>
          <p:nvPr/>
        </p:nvSpPr>
        <p:spPr>
          <a:xfrm>
            <a:off x="603504" y="2423160"/>
            <a:ext cx="3017520" cy="566928"/>
          </a:xfrm>
          <a:prstGeom prst="rect">
            <a:avLst/>
          </a:prstGeom>
          <a:noFill/>
          <a:ln/>
        </p:spPr>
        <p:txBody>
          <a:bodyPr wrap="square" lIns="0" tIns="0" rIns="0" bIns="0" rtlCol="0" anchor="ctr"/>
          <a:lstStyle/>
          <a:p>
            <a:pPr indent="0" marL="0">
              <a:buNone/>
            </a:pPr>
            <a:r>
              <a:rPr lang="en-US" sz="1100" b="1" dirty="0">
                <a:solidFill>
                  <a:srgbClr val="5A677D"/>
                </a:solidFill>
              </a:rPr>
              <a:t>contratos visibles en la plataforma</a:t>
            </a:r>
            <a:endParaRPr lang="en-US" sz="1100" dirty="0"/>
          </a:p>
          <a:p>
            <a:pPr indent="0" marL="0">
              <a:buNone/>
            </a:pPr>
            <a:r>
              <a:rPr lang="en-US" sz="1100" b="1" dirty="0">
                <a:solidFill>
                  <a:srgbClr val="5A677D"/>
                </a:solidFill>
              </a:rPr>
              <a:t>al 16 de julio de 2026</a:t>
            </a:r>
            <a:endParaRPr lang="en-US" sz="1100" dirty="0"/>
          </a:p>
        </p:txBody>
      </p:sp>
      <p:sp>
        <p:nvSpPr>
          <p:cNvPr id="7" name="Shape 5"/>
          <p:cNvSpPr/>
          <p:nvPr/>
        </p:nvSpPr>
        <p:spPr>
          <a:xfrm>
            <a:off x="3858768" y="1572768"/>
            <a:ext cx="0" cy="4251960"/>
          </a:xfrm>
          <a:prstGeom prst="line">
            <a:avLst/>
          </a:prstGeom>
          <a:noFill/>
          <a:ln w="15240">
            <a:solidFill>
              <a:srgbClr val="D8E1EC"/>
            </a:solidFill>
            <a:prstDash val="solid"/>
          </a:ln>
        </p:spPr>
      </p:sp>
      <p:sp>
        <p:nvSpPr>
          <p:cNvPr id="8" name="Shape 6"/>
          <p:cNvSpPr/>
          <p:nvPr/>
        </p:nvSpPr>
        <p:spPr>
          <a:xfrm>
            <a:off x="4251960" y="1572768"/>
            <a:ext cx="2331720" cy="1353312"/>
          </a:xfrm>
          <a:prstGeom prst="roundRect">
            <a:avLst>
              <a:gd name="adj" fmla="val 540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9" name="Shape 7"/>
          <p:cNvSpPr/>
          <p:nvPr/>
        </p:nvSpPr>
        <p:spPr>
          <a:xfrm>
            <a:off x="4251960" y="1572768"/>
            <a:ext cx="64008" cy="1353312"/>
          </a:xfrm>
          <a:prstGeom prst="rect">
            <a:avLst/>
          </a:prstGeom>
          <a:solidFill>
            <a:srgbClr val="CE1126"/>
          </a:solidFill>
          <a:ln w="12700">
            <a:solidFill>
              <a:srgbClr val="CE1126"/>
            </a:solidFill>
            <a:prstDash val="solid"/>
          </a:ln>
        </p:spPr>
      </p:sp>
      <p:sp>
        <p:nvSpPr>
          <p:cNvPr id="10" name="Text 8"/>
          <p:cNvSpPr/>
          <p:nvPr/>
        </p:nvSpPr>
        <p:spPr>
          <a:xfrm>
            <a:off x="4453128" y="1737360"/>
            <a:ext cx="1965960" cy="292608"/>
          </a:xfrm>
          <a:prstGeom prst="rect">
            <a:avLst/>
          </a:prstGeom>
          <a:noFill/>
          <a:ln/>
        </p:spPr>
        <p:txBody>
          <a:bodyPr wrap="square" lIns="0" tIns="0" rIns="0" bIns="0" rtlCol="0" anchor="ctr"/>
          <a:lstStyle/>
          <a:p>
            <a:pPr indent="0" marL="0">
              <a:buNone/>
            </a:pPr>
            <a:r>
              <a:rPr lang="en-US" sz="1100" b="1" dirty="0">
                <a:solidFill>
                  <a:srgbClr val="002D58"/>
                </a:solidFill>
                <a:latin typeface="Montserrat" pitchFamily="34" charset="0"/>
                <a:ea typeface="Montserrat" pitchFamily="34" charset="-122"/>
                <a:cs typeface="Montserrat" pitchFamily="34" charset="-120"/>
              </a:rPr>
              <a:t>Fuentes dispersas</a:t>
            </a:r>
            <a:endParaRPr lang="en-US" sz="1100" dirty="0"/>
          </a:p>
        </p:txBody>
      </p:sp>
      <p:sp>
        <p:nvSpPr>
          <p:cNvPr id="11" name="Text 9"/>
          <p:cNvSpPr/>
          <p:nvPr/>
        </p:nvSpPr>
        <p:spPr>
          <a:xfrm>
            <a:off x="4453128" y="2103120"/>
            <a:ext cx="1965960" cy="694944"/>
          </a:xfrm>
          <a:prstGeom prst="rect">
            <a:avLst/>
          </a:prstGeom>
          <a:noFill/>
          <a:ln/>
        </p:spPr>
        <p:txBody>
          <a:bodyPr wrap="square" lIns="0" tIns="0" rIns="0" bIns="0" rtlCol="0" anchor="t">
            <a:normAutofit/>
          </a:bodyPr>
          <a:lstStyle/>
          <a:p>
            <a:pPr indent="0" marL="0">
              <a:buNone/>
            </a:pPr>
            <a:r>
              <a:rPr lang="en-US" sz="800" dirty="0">
                <a:solidFill>
                  <a:srgbClr val="172033"/>
                </a:solidFill>
                <a:latin typeface="Montserrat" pitchFamily="34" charset="0"/>
                <a:ea typeface="Montserrat" pitchFamily="34" charset="-122"/>
                <a:cs typeface="Montserrat" pitchFamily="34" charset="-120"/>
              </a:rPr>
              <a:t>Contratos, sanciones, responsabilidades fiscales, multas y obras se consultan por separado.</a:t>
            </a:r>
            <a:endParaRPr lang="en-US" sz="800" dirty="0"/>
          </a:p>
        </p:txBody>
      </p:sp>
      <p:sp>
        <p:nvSpPr>
          <p:cNvPr id="12" name="Shape 10"/>
          <p:cNvSpPr/>
          <p:nvPr/>
        </p:nvSpPr>
        <p:spPr>
          <a:xfrm>
            <a:off x="6784848" y="1572768"/>
            <a:ext cx="2331720" cy="1353312"/>
          </a:xfrm>
          <a:prstGeom prst="roundRect">
            <a:avLst>
              <a:gd name="adj" fmla="val 540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3" name="Shape 11"/>
          <p:cNvSpPr/>
          <p:nvPr/>
        </p:nvSpPr>
        <p:spPr>
          <a:xfrm>
            <a:off x="6784848" y="1572768"/>
            <a:ext cx="64008" cy="1353312"/>
          </a:xfrm>
          <a:prstGeom prst="rect">
            <a:avLst/>
          </a:prstGeom>
          <a:solidFill>
            <a:srgbClr val="FEC82F"/>
          </a:solidFill>
          <a:ln w="12700">
            <a:solidFill>
              <a:srgbClr val="FEC82F"/>
            </a:solidFill>
            <a:prstDash val="solid"/>
          </a:ln>
        </p:spPr>
      </p:sp>
      <p:sp>
        <p:nvSpPr>
          <p:cNvPr id="14" name="Text 12"/>
          <p:cNvSpPr/>
          <p:nvPr/>
        </p:nvSpPr>
        <p:spPr>
          <a:xfrm>
            <a:off x="6986016" y="1737360"/>
            <a:ext cx="1965960" cy="292608"/>
          </a:xfrm>
          <a:prstGeom prst="rect">
            <a:avLst/>
          </a:prstGeom>
          <a:noFill/>
          <a:ln/>
        </p:spPr>
        <p:txBody>
          <a:bodyPr wrap="square" lIns="0" tIns="0" rIns="0" bIns="0" rtlCol="0" anchor="ctr"/>
          <a:lstStyle/>
          <a:p>
            <a:pPr indent="0" marL="0">
              <a:buNone/>
            </a:pPr>
            <a:r>
              <a:rPr lang="en-US" sz="1100" b="1" dirty="0">
                <a:solidFill>
                  <a:srgbClr val="002D58"/>
                </a:solidFill>
                <a:latin typeface="Montserrat" pitchFamily="34" charset="0"/>
                <a:ea typeface="Montserrat" pitchFamily="34" charset="-122"/>
                <a:cs typeface="Montserrat" pitchFamily="34" charset="-120"/>
              </a:rPr>
              <a:t>Lenguaje técnico</a:t>
            </a:r>
            <a:endParaRPr lang="en-US" sz="1100" dirty="0"/>
          </a:p>
        </p:txBody>
      </p:sp>
      <p:sp>
        <p:nvSpPr>
          <p:cNvPr id="15" name="Text 13"/>
          <p:cNvSpPr/>
          <p:nvPr/>
        </p:nvSpPr>
        <p:spPr>
          <a:xfrm>
            <a:off x="6986016" y="2103120"/>
            <a:ext cx="1965960" cy="694944"/>
          </a:xfrm>
          <a:prstGeom prst="rect">
            <a:avLst/>
          </a:prstGeom>
          <a:noFill/>
          <a:ln/>
        </p:spPr>
        <p:txBody>
          <a:bodyPr wrap="square" lIns="0" tIns="0" rIns="0" bIns="0" rtlCol="0" anchor="t">
            <a:normAutofit/>
          </a:bodyPr>
          <a:lstStyle/>
          <a:p>
            <a:pPr indent="0" marL="0">
              <a:buNone/>
            </a:pPr>
            <a:r>
              <a:rPr lang="en-US" sz="800" dirty="0">
                <a:solidFill>
                  <a:srgbClr val="172033"/>
                </a:solidFill>
                <a:latin typeface="Montserrat" pitchFamily="34" charset="0"/>
                <a:ea typeface="Montserrat" pitchFamily="34" charset="-122"/>
                <a:cs typeface="Montserrat" pitchFamily="34" charset="-120"/>
              </a:rPr>
              <a:t>Campos, códigos, filtros y grandes volúmenes excluyen a usuarios no especializados.</a:t>
            </a:r>
            <a:endParaRPr lang="en-US" sz="800" dirty="0"/>
          </a:p>
        </p:txBody>
      </p:sp>
      <p:sp>
        <p:nvSpPr>
          <p:cNvPr id="16" name="Shape 14"/>
          <p:cNvSpPr/>
          <p:nvPr/>
        </p:nvSpPr>
        <p:spPr>
          <a:xfrm>
            <a:off x="9317736" y="1572768"/>
            <a:ext cx="2331720" cy="1353312"/>
          </a:xfrm>
          <a:prstGeom prst="roundRect">
            <a:avLst>
              <a:gd name="adj" fmla="val 540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7" name="Shape 15"/>
          <p:cNvSpPr/>
          <p:nvPr/>
        </p:nvSpPr>
        <p:spPr>
          <a:xfrm>
            <a:off x="9317736" y="1572768"/>
            <a:ext cx="64008" cy="1353312"/>
          </a:xfrm>
          <a:prstGeom prst="rect">
            <a:avLst/>
          </a:prstGeom>
          <a:solidFill>
            <a:srgbClr val="004884"/>
          </a:solidFill>
          <a:ln w="12700">
            <a:solidFill>
              <a:srgbClr val="004884"/>
            </a:solidFill>
            <a:prstDash val="solid"/>
          </a:ln>
        </p:spPr>
      </p:sp>
      <p:sp>
        <p:nvSpPr>
          <p:cNvPr id="18" name="Text 16"/>
          <p:cNvSpPr/>
          <p:nvPr/>
        </p:nvSpPr>
        <p:spPr>
          <a:xfrm>
            <a:off x="9518904" y="1737360"/>
            <a:ext cx="1965960" cy="292608"/>
          </a:xfrm>
          <a:prstGeom prst="rect">
            <a:avLst/>
          </a:prstGeom>
          <a:noFill/>
          <a:ln/>
        </p:spPr>
        <p:txBody>
          <a:bodyPr wrap="square" lIns="0" tIns="0" rIns="0" bIns="0" rtlCol="0" anchor="ctr"/>
          <a:lstStyle/>
          <a:p>
            <a:pPr indent="0" marL="0">
              <a:buNone/>
            </a:pPr>
            <a:r>
              <a:rPr lang="en-US" sz="1100" b="1" dirty="0">
                <a:solidFill>
                  <a:srgbClr val="002D58"/>
                </a:solidFill>
                <a:latin typeface="Montserrat" pitchFamily="34" charset="0"/>
                <a:ea typeface="Montserrat" pitchFamily="34" charset="-122"/>
                <a:cs typeface="Montserrat" pitchFamily="34" charset="-120"/>
              </a:rPr>
              <a:t>Revisión manual</a:t>
            </a:r>
            <a:endParaRPr lang="en-US" sz="1100" dirty="0"/>
          </a:p>
        </p:txBody>
      </p:sp>
      <p:sp>
        <p:nvSpPr>
          <p:cNvPr id="19" name="Text 17"/>
          <p:cNvSpPr/>
          <p:nvPr/>
        </p:nvSpPr>
        <p:spPr>
          <a:xfrm>
            <a:off x="9518904" y="2103120"/>
            <a:ext cx="1965960" cy="694944"/>
          </a:xfrm>
          <a:prstGeom prst="rect">
            <a:avLst/>
          </a:prstGeom>
          <a:noFill/>
          <a:ln/>
        </p:spPr>
        <p:txBody>
          <a:bodyPr wrap="square" lIns="0" tIns="0" rIns="0" bIns="0" rtlCol="0" anchor="t">
            <a:normAutofit/>
          </a:bodyPr>
          <a:lstStyle/>
          <a:p>
            <a:pPr indent="0" marL="0">
              <a:buNone/>
            </a:pPr>
            <a:r>
              <a:rPr lang="en-US" sz="800" dirty="0">
                <a:solidFill>
                  <a:srgbClr val="172033"/>
                </a:solidFill>
                <a:latin typeface="Montserrat" pitchFamily="34" charset="0"/>
                <a:ea typeface="Montserrat" pitchFamily="34" charset="-122"/>
                <a:cs typeface="Montserrat" pitchFamily="34" charset="-120"/>
              </a:rPr>
              <a:t>Sin priorización, los equipos deben buscar señales registro por registro.</a:t>
            </a:r>
            <a:endParaRPr lang="en-US" sz="800" dirty="0"/>
          </a:p>
        </p:txBody>
      </p:sp>
      <p:sp>
        <p:nvSpPr>
          <p:cNvPr id="20" name="Shape 18"/>
          <p:cNvSpPr/>
          <p:nvPr/>
        </p:nvSpPr>
        <p:spPr>
          <a:xfrm>
            <a:off x="4251960" y="3310128"/>
            <a:ext cx="7397496" cy="1965960"/>
          </a:xfrm>
          <a:prstGeom prst="roundRect">
            <a:avLst>
              <a:gd name="adj" fmla="val 3721"/>
            </a:avLst>
          </a:prstGeom>
          <a:solidFill>
            <a:srgbClr val="002D58"/>
          </a:solidFill>
          <a:ln w="12700">
            <a:solidFill>
              <a:srgbClr val="002D58"/>
            </a:solidFill>
            <a:prstDash val="solid"/>
          </a:ln>
        </p:spPr>
      </p:sp>
      <p:sp>
        <p:nvSpPr>
          <p:cNvPr id="21" name="Text 19"/>
          <p:cNvSpPr/>
          <p:nvPr/>
        </p:nvSpPr>
        <p:spPr>
          <a:xfrm>
            <a:off x="4617720" y="3703320"/>
            <a:ext cx="6675120" cy="868680"/>
          </a:xfrm>
          <a:prstGeom prst="rect">
            <a:avLst/>
          </a:prstGeom>
          <a:noFill/>
          <a:ln/>
        </p:spPr>
        <p:txBody>
          <a:bodyPr wrap="square" lIns="0" tIns="0" rIns="0" bIns="0" rtlCol="0" anchor="ctr"/>
          <a:lstStyle/>
          <a:p>
            <a:pPr algn="ctr" indent="0" marL="0">
              <a:buNone/>
            </a:pPr>
            <a:r>
              <a:rPr lang="en-US" sz="2200" b="1" dirty="0">
                <a:solidFill>
                  <a:srgbClr val="FFFFFF"/>
                </a:solidFill>
              </a:rPr>
              <a:t>La brecha no es de disponibilidad.</a:t>
            </a:r>
            <a:endParaRPr lang="en-US" sz="2200" dirty="0"/>
          </a:p>
          <a:p>
            <a:pPr algn="ctr" indent="0" marL="0">
              <a:buNone/>
            </a:pPr>
            <a:r>
              <a:rPr lang="en-US" sz="2200" b="1" dirty="0">
                <a:solidFill>
                  <a:srgbClr val="FFFFFF"/>
                </a:solidFill>
              </a:rPr>
              <a:t>Es de acceso, contexto y capacidad de actuar.</a:t>
            </a:r>
            <a:endParaRPr lang="en-US" sz="2200" dirty="0"/>
          </a:p>
        </p:txBody>
      </p:sp>
      <p:sp>
        <p:nvSpPr>
          <p:cNvPr id="22" name="Text 20"/>
          <p:cNvSpPr/>
          <p:nvPr/>
        </p:nvSpPr>
        <p:spPr>
          <a:xfrm>
            <a:off x="594360" y="3794760"/>
            <a:ext cx="2194560" cy="201168"/>
          </a:xfrm>
          <a:prstGeom prst="rect">
            <a:avLst/>
          </a:prstGeom>
          <a:noFill/>
          <a:ln/>
        </p:spPr>
        <p:txBody>
          <a:bodyPr wrap="square" lIns="0" tIns="0" rIns="0" bIns="0" rtlCol="0" anchor="ctr"/>
          <a:lstStyle/>
          <a:p>
            <a:pPr indent="0" marL="0">
              <a:buNone/>
            </a:pPr>
            <a:r>
              <a:rPr lang="en-US" sz="800" b="1" spc="130" kern="0" dirty="0">
                <a:solidFill>
                  <a:srgbClr val="CE1126"/>
                </a:solidFill>
              </a:rPr>
              <a:t>Pregunta de diseño</a:t>
            </a:r>
            <a:endParaRPr lang="en-US" sz="800" dirty="0"/>
          </a:p>
        </p:txBody>
      </p:sp>
      <p:sp>
        <p:nvSpPr>
          <p:cNvPr id="23" name="Text 21"/>
          <p:cNvSpPr/>
          <p:nvPr/>
        </p:nvSpPr>
        <p:spPr>
          <a:xfrm>
            <a:off x="594360" y="4160520"/>
            <a:ext cx="2880360" cy="987552"/>
          </a:xfrm>
          <a:prstGeom prst="rect">
            <a:avLst/>
          </a:prstGeom>
          <a:noFill/>
          <a:ln/>
        </p:spPr>
        <p:txBody>
          <a:bodyPr wrap="square" lIns="0" tIns="0" rIns="0" bIns="0" rtlCol="0" anchor="ctr">
            <a:normAutofit/>
          </a:bodyPr>
          <a:lstStyle/>
          <a:p>
            <a:pPr indent="0" marL="0">
              <a:buNone/>
            </a:pPr>
            <a:r>
              <a:rPr lang="en-US" sz="1800" b="1" dirty="0">
                <a:solidFill>
                  <a:srgbClr val="002D58"/>
                </a:solidFill>
              </a:rPr>
              <a:t>¿Cómo hablar con estos datos sin ser especialista?</a:t>
            </a:r>
            <a:endParaRPr lang="en-US" sz="180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PROBLEMA Y AUDIENCIA</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Diseñamos para quien debe decidir dónde revisar primero</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El producto distingue quién adopta la solución, quién la opera y quién recibe el valor público.</a:t>
            </a:r>
            <a:endParaRPr lang="en-US" sz="950" dirty="0"/>
          </a:p>
        </p:txBody>
      </p:sp>
      <p:sp>
        <p:nvSpPr>
          <p:cNvPr id="5" name="Shape 3"/>
          <p:cNvSpPr/>
          <p:nvPr/>
        </p:nvSpPr>
        <p:spPr>
          <a:xfrm>
            <a:off x="566928" y="1600200"/>
            <a:ext cx="3456432" cy="2057400"/>
          </a:xfrm>
          <a:prstGeom prst="roundRect">
            <a:avLst>
              <a:gd name="adj" fmla="val 3556"/>
            </a:avLst>
          </a:prstGeom>
          <a:solidFill>
            <a:srgbClr val="EDF3F8"/>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6" name="Shape 4"/>
          <p:cNvSpPr/>
          <p:nvPr/>
        </p:nvSpPr>
        <p:spPr>
          <a:xfrm>
            <a:off x="566928" y="1600200"/>
            <a:ext cx="64008" cy="2057400"/>
          </a:xfrm>
          <a:prstGeom prst="rect">
            <a:avLst/>
          </a:prstGeom>
          <a:solidFill>
            <a:srgbClr val="002D58"/>
          </a:solidFill>
          <a:ln w="12700">
            <a:solidFill>
              <a:srgbClr val="002D58"/>
            </a:solidFill>
            <a:prstDash val="solid"/>
          </a:ln>
        </p:spPr>
      </p:sp>
      <p:sp>
        <p:nvSpPr>
          <p:cNvPr id="7" name="Text 5"/>
          <p:cNvSpPr/>
          <p:nvPr/>
        </p:nvSpPr>
        <p:spPr>
          <a:xfrm>
            <a:off x="768096" y="1764792"/>
            <a:ext cx="3090672" cy="292608"/>
          </a:xfrm>
          <a:prstGeom prst="rect">
            <a:avLst/>
          </a:prstGeom>
          <a:noFill/>
          <a:ln/>
        </p:spPr>
        <p:txBody>
          <a:bodyPr wrap="square" lIns="0" tIns="0" rIns="0" bIns="0" rtlCol="0" anchor="ctr"/>
          <a:lstStyle/>
          <a:p>
            <a:pPr indent="0" marL="0">
              <a:buNone/>
            </a:pPr>
            <a:r>
              <a:rPr lang="en-US" sz="1300" b="1" dirty="0">
                <a:solidFill>
                  <a:srgbClr val="002D58"/>
                </a:solidFill>
                <a:latin typeface="Montserrat" pitchFamily="34" charset="0"/>
                <a:ea typeface="Montserrat" pitchFamily="34" charset="-122"/>
                <a:cs typeface="Montserrat" pitchFamily="34" charset="-120"/>
              </a:rPr>
              <a:t>Cliente / adoptante</a:t>
            </a:r>
            <a:endParaRPr lang="en-US" sz="1300" dirty="0"/>
          </a:p>
        </p:txBody>
      </p:sp>
      <p:sp>
        <p:nvSpPr>
          <p:cNvPr id="8" name="Text 6"/>
          <p:cNvSpPr/>
          <p:nvPr/>
        </p:nvSpPr>
        <p:spPr>
          <a:xfrm>
            <a:off x="768096" y="2130552"/>
            <a:ext cx="3090672" cy="1399032"/>
          </a:xfrm>
          <a:prstGeom prst="rect">
            <a:avLst/>
          </a:prstGeom>
          <a:noFill/>
          <a:ln/>
        </p:spPr>
        <p:txBody>
          <a:bodyPr wrap="square" lIns="0" tIns="0" rIns="0" bIns="0" rtlCol="0" anchor="t">
            <a:normAutofit/>
          </a:bodyPr>
          <a:lstStyle/>
          <a:p>
            <a:pPr indent="0" marL="0">
              <a:buNone/>
            </a:pPr>
            <a:r>
              <a:rPr lang="en-US" sz="1200" dirty="0">
                <a:solidFill>
                  <a:srgbClr val="172033"/>
                </a:solidFill>
                <a:latin typeface="Montserrat" pitchFamily="34" charset="0"/>
                <a:ea typeface="Montserrat" pitchFamily="34" charset="-122"/>
                <a:cs typeface="Montserrat" pitchFamily="34" charset="-120"/>
              </a:rPr>
              <a:t>Entidades de control</a:t>
            </a:r>
            <a:endParaRPr lang="en-US" sz="1200" dirty="0"/>
          </a:p>
          <a:p>
            <a:pPr indent="0" marL="0">
              <a:buNone/>
            </a:pPr>
            <a:r>
              <a:rPr lang="en-US" sz="1200" dirty="0">
                <a:solidFill>
                  <a:srgbClr val="172033"/>
                </a:solidFill>
                <a:latin typeface="Montserrat" pitchFamily="34" charset="0"/>
                <a:ea typeface="Montserrat" pitchFamily="34" charset="-122"/>
                <a:cs typeface="Montserrat" pitchFamily="34" charset="-120"/>
              </a:rPr>
              <a:t>Oficinas de control interno</a:t>
            </a:r>
            <a:endParaRPr lang="en-US" sz="1200" dirty="0"/>
          </a:p>
          <a:p>
            <a:pPr indent="0" marL="0">
              <a:buNone/>
            </a:pPr>
            <a:r>
              <a:rPr lang="en-US" sz="1200" dirty="0">
                <a:solidFill>
                  <a:srgbClr val="172033"/>
                </a:solidFill>
                <a:latin typeface="Montserrat" pitchFamily="34" charset="0"/>
                <a:ea typeface="Montserrat" pitchFamily="34" charset="-122"/>
                <a:cs typeface="Montserrat" pitchFamily="34" charset="-120"/>
              </a:rPr>
              <a:t>Equipos de contratación pública</a:t>
            </a:r>
            <a:endParaRPr lang="en-US" sz="1200" dirty="0"/>
          </a:p>
        </p:txBody>
      </p:sp>
      <p:sp>
        <p:nvSpPr>
          <p:cNvPr id="9" name="Shape 7"/>
          <p:cNvSpPr/>
          <p:nvPr/>
        </p:nvSpPr>
        <p:spPr>
          <a:xfrm>
            <a:off x="4352544" y="1600200"/>
            <a:ext cx="3456432" cy="2057400"/>
          </a:xfrm>
          <a:prstGeom prst="roundRect">
            <a:avLst>
              <a:gd name="adj" fmla="val 3556"/>
            </a:avLst>
          </a:prstGeom>
          <a:solidFill>
            <a:srgbClr val="FFF9D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0" name="Shape 8"/>
          <p:cNvSpPr/>
          <p:nvPr/>
        </p:nvSpPr>
        <p:spPr>
          <a:xfrm>
            <a:off x="4352544" y="1600200"/>
            <a:ext cx="64008" cy="2057400"/>
          </a:xfrm>
          <a:prstGeom prst="rect">
            <a:avLst/>
          </a:prstGeom>
          <a:solidFill>
            <a:srgbClr val="FEC82F"/>
          </a:solidFill>
          <a:ln w="12700">
            <a:solidFill>
              <a:srgbClr val="FEC82F"/>
            </a:solidFill>
            <a:prstDash val="solid"/>
          </a:ln>
        </p:spPr>
      </p:sp>
      <p:sp>
        <p:nvSpPr>
          <p:cNvPr id="11" name="Text 9"/>
          <p:cNvSpPr/>
          <p:nvPr/>
        </p:nvSpPr>
        <p:spPr>
          <a:xfrm>
            <a:off x="4553712" y="1764792"/>
            <a:ext cx="3090672" cy="292608"/>
          </a:xfrm>
          <a:prstGeom prst="rect">
            <a:avLst/>
          </a:prstGeom>
          <a:noFill/>
          <a:ln/>
        </p:spPr>
        <p:txBody>
          <a:bodyPr wrap="square" lIns="0" tIns="0" rIns="0" bIns="0" rtlCol="0" anchor="ctr"/>
          <a:lstStyle/>
          <a:p>
            <a:pPr indent="0" marL="0">
              <a:buNone/>
            </a:pPr>
            <a:r>
              <a:rPr lang="en-US" sz="1300" b="1" dirty="0">
                <a:solidFill>
                  <a:srgbClr val="002D58"/>
                </a:solidFill>
                <a:latin typeface="Montserrat" pitchFamily="34" charset="0"/>
                <a:ea typeface="Montserrat" pitchFamily="34" charset="-122"/>
                <a:cs typeface="Montserrat" pitchFamily="34" charset="-120"/>
              </a:rPr>
              <a:t>Usuario directo</a:t>
            </a:r>
            <a:endParaRPr lang="en-US" sz="1300" dirty="0"/>
          </a:p>
        </p:txBody>
      </p:sp>
      <p:sp>
        <p:nvSpPr>
          <p:cNvPr id="12" name="Text 10"/>
          <p:cNvSpPr/>
          <p:nvPr/>
        </p:nvSpPr>
        <p:spPr>
          <a:xfrm>
            <a:off x="4553712" y="2130552"/>
            <a:ext cx="3090672" cy="1399032"/>
          </a:xfrm>
          <a:prstGeom prst="rect">
            <a:avLst/>
          </a:prstGeom>
          <a:noFill/>
          <a:ln/>
        </p:spPr>
        <p:txBody>
          <a:bodyPr wrap="square" lIns="0" tIns="0" rIns="0" bIns="0" rtlCol="0" anchor="t">
            <a:normAutofit/>
          </a:bodyPr>
          <a:lstStyle/>
          <a:p>
            <a:pPr indent="0" marL="0">
              <a:buNone/>
            </a:pPr>
            <a:r>
              <a:rPr lang="en-US" sz="1200" dirty="0">
                <a:solidFill>
                  <a:srgbClr val="172033"/>
                </a:solidFill>
                <a:latin typeface="Montserrat" pitchFamily="34" charset="0"/>
                <a:ea typeface="Montserrat" pitchFamily="34" charset="-122"/>
                <a:cs typeface="Montserrat" pitchFamily="34" charset="-120"/>
              </a:rPr>
              <a:t>Analistas</a:t>
            </a:r>
            <a:endParaRPr lang="en-US" sz="1200" dirty="0"/>
          </a:p>
          <a:p>
            <a:pPr indent="0" marL="0">
              <a:buNone/>
            </a:pPr>
            <a:r>
              <a:rPr lang="en-US" sz="1200" dirty="0">
                <a:solidFill>
                  <a:srgbClr val="172033"/>
                </a:solidFill>
                <a:latin typeface="Montserrat" pitchFamily="34" charset="0"/>
                <a:ea typeface="Montserrat" pitchFamily="34" charset="-122"/>
                <a:cs typeface="Montserrat" pitchFamily="34" charset="-120"/>
              </a:rPr>
              <a:t>Auditores</a:t>
            </a:r>
            <a:endParaRPr lang="en-US" sz="1200" dirty="0"/>
          </a:p>
          <a:p>
            <a:pPr indent="0" marL="0">
              <a:buNone/>
            </a:pPr>
            <a:r>
              <a:rPr lang="en-US" sz="1200" dirty="0">
                <a:solidFill>
                  <a:srgbClr val="172033"/>
                </a:solidFill>
                <a:latin typeface="Montserrat" pitchFamily="34" charset="0"/>
                <a:ea typeface="Montserrat" pitchFamily="34" charset="-122"/>
                <a:cs typeface="Montserrat" pitchFamily="34" charset="-120"/>
              </a:rPr>
              <a:t>Funcionarios que investigan alertas</a:t>
            </a:r>
            <a:endParaRPr lang="en-US" sz="1200" dirty="0"/>
          </a:p>
        </p:txBody>
      </p:sp>
      <p:sp>
        <p:nvSpPr>
          <p:cNvPr id="13" name="Shape 11"/>
          <p:cNvSpPr/>
          <p:nvPr/>
        </p:nvSpPr>
        <p:spPr>
          <a:xfrm>
            <a:off x="8138160" y="1600200"/>
            <a:ext cx="3456432" cy="2057400"/>
          </a:xfrm>
          <a:prstGeom prst="roundRect">
            <a:avLst>
              <a:gd name="adj" fmla="val 3556"/>
            </a:avLst>
          </a:prstGeom>
          <a:solidFill>
            <a:srgbClr val="EAF7F1"/>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4" name="Shape 12"/>
          <p:cNvSpPr/>
          <p:nvPr/>
        </p:nvSpPr>
        <p:spPr>
          <a:xfrm>
            <a:off x="8138160" y="1600200"/>
            <a:ext cx="64008" cy="2057400"/>
          </a:xfrm>
          <a:prstGeom prst="rect">
            <a:avLst/>
          </a:prstGeom>
          <a:solidFill>
            <a:srgbClr val="16865A"/>
          </a:solidFill>
          <a:ln w="12700">
            <a:solidFill>
              <a:srgbClr val="16865A"/>
            </a:solidFill>
            <a:prstDash val="solid"/>
          </a:ln>
        </p:spPr>
      </p:sp>
      <p:sp>
        <p:nvSpPr>
          <p:cNvPr id="15" name="Text 13"/>
          <p:cNvSpPr/>
          <p:nvPr/>
        </p:nvSpPr>
        <p:spPr>
          <a:xfrm>
            <a:off x="8339328" y="1764792"/>
            <a:ext cx="3090672" cy="292608"/>
          </a:xfrm>
          <a:prstGeom prst="rect">
            <a:avLst/>
          </a:prstGeom>
          <a:noFill/>
          <a:ln/>
        </p:spPr>
        <p:txBody>
          <a:bodyPr wrap="square" lIns="0" tIns="0" rIns="0" bIns="0" rtlCol="0" anchor="ctr"/>
          <a:lstStyle/>
          <a:p>
            <a:pPr indent="0" marL="0">
              <a:buNone/>
            </a:pPr>
            <a:r>
              <a:rPr lang="en-US" sz="1300" b="1" dirty="0">
                <a:solidFill>
                  <a:srgbClr val="002D58"/>
                </a:solidFill>
                <a:latin typeface="Montserrat" pitchFamily="34" charset="0"/>
                <a:ea typeface="Montserrat" pitchFamily="34" charset="-122"/>
                <a:cs typeface="Montserrat" pitchFamily="34" charset="-120"/>
              </a:rPr>
              <a:t>Beneficiario</a:t>
            </a:r>
            <a:endParaRPr lang="en-US" sz="1300" dirty="0"/>
          </a:p>
        </p:txBody>
      </p:sp>
      <p:sp>
        <p:nvSpPr>
          <p:cNvPr id="16" name="Text 14"/>
          <p:cNvSpPr/>
          <p:nvPr/>
        </p:nvSpPr>
        <p:spPr>
          <a:xfrm>
            <a:off x="8339328" y="2130552"/>
            <a:ext cx="3090672" cy="1399032"/>
          </a:xfrm>
          <a:prstGeom prst="rect">
            <a:avLst/>
          </a:prstGeom>
          <a:noFill/>
          <a:ln/>
        </p:spPr>
        <p:txBody>
          <a:bodyPr wrap="square" lIns="0" tIns="0" rIns="0" bIns="0" rtlCol="0" anchor="t">
            <a:normAutofit/>
          </a:bodyPr>
          <a:lstStyle/>
          <a:p>
            <a:pPr indent="0" marL="0">
              <a:buNone/>
            </a:pPr>
            <a:r>
              <a:rPr lang="en-US" sz="1200" dirty="0">
                <a:solidFill>
                  <a:srgbClr val="172033"/>
                </a:solidFill>
                <a:latin typeface="Montserrat" pitchFamily="34" charset="0"/>
                <a:ea typeface="Montserrat" pitchFamily="34" charset="-122"/>
                <a:cs typeface="Montserrat" pitchFamily="34" charset="-120"/>
              </a:rPr>
              <a:t>Ciudadanía y veedurías</a:t>
            </a:r>
            <a:endParaRPr lang="en-US" sz="1200" dirty="0"/>
          </a:p>
          <a:p>
            <a:pPr indent="0" marL="0">
              <a:buNone/>
            </a:pPr>
            <a:r>
              <a:rPr lang="en-US" sz="1200" dirty="0">
                <a:solidFill>
                  <a:srgbClr val="172033"/>
                </a:solidFill>
                <a:latin typeface="Montserrat" pitchFamily="34" charset="0"/>
                <a:ea typeface="Montserrat" pitchFamily="34" charset="-122"/>
                <a:cs typeface="Montserrat" pitchFamily="34" charset="-120"/>
              </a:rPr>
              <a:t>Periodistas e investigadores</a:t>
            </a:r>
            <a:endParaRPr lang="en-US" sz="1200" dirty="0"/>
          </a:p>
          <a:p>
            <a:pPr indent="0" marL="0">
              <a:buNone/>
            </a:pPr>
            <a:r>
              <a:rPr lang="en-US" sz="1200" dirty="0">
                <a:solidFill>
                  <a:srgbClr val="172033"/>
                </a:solidFill>
                <a:latin typeface="Montserrat" pitchFamily="34" charset="0"/>
                <a:ea typeface="Montserrat" pitchFamily="34" charset="-122"/>
                <a:cs typeface="Montserrat" pitchFamily="34" charset="-120"/>
              </a:rPr>
              <a:t>Ecosistema de transparencia</a:t>
            </a:r>
            <a:endParaRPr lang="en-US" sz="1200" dirty="0"/>
          </a:p>
        </p:txBody>
      </p:sp>
      <p:sp>
        <p:nvSpPr>
          <p:cNvPr id="17" name="Shape 15"/>
          <p:cNvSpPr/>
          <p:nvPr/>
        </p:nvSpPr>
        <p:spPr>
          <a:xfrm>
            <a:off x="960120" y="4160520"/>
            <a:ext cx="10259568" cy="1298448"/>
          </a:xfrm>
          <a:prstGeom prst="roundRect">
            <a:avLst>
              <a:gd name="adj" fmla="val 5634"/>
            </a:avLst>
          </a:prstGeom>
          <a:solidFill>
            <a:srgbClr val="002D58"/>
          </a:solidFill>
          <a:ln w="12700">
            <a:solidFill>
              <a:srgbClr val="002D58"/>
            </a:solidFill>
            <a:prstDash val="solid"/>
          </a:ln>
        </p:spPr>
      </p:sp>
      <p:sp>
        <p:nvSpPr>
          <p:cNvPr id="18" name="Text 16"/>
          <p:cNvSpPr/>
          <p:nvPr/>
        </p:nvSpPr>
        <p:spPr>
          <a:xfrm>
            <a:off x="1353312" y="4498848"/>
            <a:ext cx="9464040" cy="621792"/>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rPr>
              <a:t>¿Cómo facilitar la consulta y comprensión de datos abiertos de contratación pública, transformándolos en alertas explicables y respuestas útiles mediante IA?</a:t>
            </a:r>
            <a:endParaRPr lang="en-US" sz="1700" dirty="0"/>
          </a:p>
        </p:txBody>
      </p:sp>
      <p:sp>
        <p:nvSpPr>
          <p:cNvPr id="19" name="Shape 17"/>
          <p:cNvSpPr/>
          <p:nvPr/>
        </p:nvSpPr>
        <p:spPr>
          <a:xfrm>
            <a:off x="2944368" y="5742432"/>
            <a:ext cx="1298448" cy="310896"/>
          </a:xfrm>
          <a:prstGeom prst="roundRect">
            <a:avLst>
              <a:gd name="adj" fmla="val 23529"/>
            </a:avLst>
          </a:prstGeom>
          <a:solidFill>
            <a:srgbClr val="FDEBEC"/>
          </a:solidFill>
          <a:ln w="10160">
            <a:solidFill>
              <a:srgbClr val="CE1126"/>
            </a:solidFill>
            <a:prstDash val="solid"/>
          </a:ln>
        </p:spPr>
      </p:sp>
      <p:sp>
        <p:nvSpPr>
          <p:cNvPr id="20" name="Text 18"/>
          <p:cNvSpPr/>
          <p:nvPr/>
        </p:nvSpPr>
        <p:spPr>
          <a:xfrm>
            <a:off x="3017520" y="5806440"/>
            <a:ext cx="1152144" cy="146304"/>
          </a:xfrm>
          <a:prstGeom prst="rect">
            <a:avLst/>
          </a:prstGeom>
          <a:noFill/>
          <a:ln/>
        </p:spPr>
        <p:txBody>
          <a:bodyPr wrap="square" lIns="0" tIns="0" rIns="0" bIns="0" rtlCol="0" anchor="ctr"/>
          <a:lstStyle/>
          <a:p>
            <a:pPr algn="ctr" indent="0" marL="0">
              <a:buNone/>
            </a:pPr>
            <a:r>
              <a:rPr lang="en-US" sz="680" b="1" dirty="0">
                <a:solidFill>
                  <a:srgbClr val="CE1126"/>
                </a:solidFill>
                <a:latin typeface="Montserrat" pitchFamily="34" charset="0"/>
                <a:ea typeface="Montserrat" pitchFamily="34" charset="-122"/>
                <a:cs typeface="Montserrat" pitchFamily="34" charset="-120"/>
              </a:rPr>
              <a:t>NO ACUSA</a:t>
            </a:r>
            <a:endParaRPr lang="en-US" sz="680" dirty="0"/>
          </a:p>
        </p:txBody>
      </p:sp>
      <p:sp>
        <p:nvSpPr>
          <p:cNvPr id="21" name="Shape 19"/>
          <p:cNvSpPr/>
          <p:nvPr/>
        </p:nvSpPr>
        <p:spPr>
          <a:xfrm>
            <a:off x="4443984" y="5742432"/>
            <a:ext cx="1298448" cy="310896"/>
          </a:xfrm>
          <a:prstGeom prst="roundRect">
            <a:avLst>
              <a:gd name="adj" fmla="val 23529"/>
            </a:avLst>
          </a:prstGeom>
          <a:solidFill>
            <a:srgbClr val="EAF3FA"/>
          </a:solidFill>
          <a:ln w="10160">
            <a:solidFill>
              <a:srgbClr val="004884"/>
            </a:solidFill>
            <a:prstDash val="solid"/>
          </a:ln>
        </p:spPr>
      </p:sp>
      <p:sp>
        <p:nvSpPr>
          <p:cNvPr id="22" name="Text 20"/>
          <p:cNvSpPr/>
          <p:nvPr/>
        </p:nvSpPr>
        <p:spPr>
          <a:xfrm>
            <a:off x="4517136" y="5806440"/>
            <a:ext cx="1152144" cy="146304"/>
          </a:xfrm>
          <a:prstGeom prst="rect">
            <a:avLst/>
          </a:prstGeom>
          <a:noFill/>
          <a:ln/>
        </p:spPr>
        <p:txBody>
          <a:bodyPr wrap="square" lIns="0" tIns="0" rIns="0" bIns="0" rtlCol="0" anchor="ctr"/>
          <a:lstStyle/>
          <a:p>
            <a:pPr algn="ctr" indent="0" marL="0">
              <a:buNone/>
            </a:pPr>
            <a:r>
              <a:rPr lang="en-US" sz="680" b="1" dirty="0">
                <a:solidFill>
                  <a:srgbClr val="004884"/>
                </a:solidFill>
                <a:latin typeface="Montserrat" pitchFamily="34" charset="0"/>
                <a:ea typeface="Montserrat" pitchFamily="34" charset="-122"/>
                <a:cs typeface="Montserrat" pitchFamily="34" charset="-120"/>
              </a:rPr>
              <a:t>PRIORIZA</a:t>
            </a:r>
            <a:endParaRPr lang="en-US" sz="680" dirty="0"/>
          </a:p>
        </p:txBody>
      </p:sp>
      <p:sp>
        <p:nvSpPr>
          <p:cNvPr id="23" name="Shape 21"/>
          <p:cNvSpPr/>
          <p:nvPr/>
        </p:nvSpPr>
        <p:spPr>
          <a:xfrm>
            <a:off x="5943600" y="5742432"/>
            <a:ext cx="1298448" cy="310896"/>
          </a:xfrm>
          <a:prstGeom prst="roundRect">
            <a:avLst>
              <a:gd name="adj" fmla="val 23529"/>
            </a:avLst>
          </a:prstGeom>
          <a:solidFill>
            <a:srgbClr val="EAF7F1"/>
          </a:solidFill>
          <a:ln w="10160">
            <a:solidFill>
              <a:srgbClr val="16865A"/>
            </a:solidFill>
            <a:prstDash val="solid"/>
          </a:ln>
        </p:spPr>
      </p:sp>
      <p:sp>
        <p:nvSpPr>
          <p:cNvPr id="24" name="Text 22"/>
          <p:cNvSpPr/>
          <p:nvPr/>
        </p:nvSpPr>
        <p:spPr>
          <a:xfrm>
            <a:off x="6016752" y="5806440"/>
            <a:ext cx="1152144" cy="146304"/>
          </a:xfrm>
          <a:prstGeom prst="rect">
            <a:avLst/>
          </a:prstGeom>
          <a:noFill/>
          <a:ln/>
        </p:spPr>
        <p:txBody>
          <a:bodyPr wrap="square" lIns="0" tIns="0" rIns="0" bIns="0" rtlCol="0" anchor="ctr"/>
          <a:lstStyle/>
          <a:p>
            <a:pPr algn="ctr" indent="0" marL="0">
              <a:buNone/>
            </a:pPr>
            <a:r>
              <a:rPr lang="en-US" sz="680" b="1" dirty="0">
                <a:solidFill>
                  <a:srgbClr val="16865A"/>
                </a:solidFill>
                <a:latin typeface="Montserrat" pitchFamily="34" charset="0"/>
                <a:ea typeface="Montserrat" pitchFamily="34" charset="-122"/>
                <a:cs typeface="Montserrat" pitchFamily="34" charset="-120"/>
              </a:rPr>
              <a:t>EXPLICA</a:t>
            </a:r>
            <a:endParaRPr lang="en-US" sz="680" dirty="0"/>
          </a:p>
        </p:txBody>
      </p:sp>
      <p:sp>
        <p:nvSpPr>
          <p:cNvPr id="25" name="Shape 23"/>
          <p:cNvSpPr/>
          <p:nvPr/>
        </p:nvSpPr>
        <p:spPr>
          <a:xfrm>
            <a:off x="7443216" y="5742432"/>
            <a:ext cx="1755648" cy="310896"/>
          </a:xfrm>
          <a:prstGeom prst="roundRect">
            <a:avLst>
              <a:gd name="adj" fmla="val 23529"/>
            </a:avLst>
          </a:prstGeom>
          <a:solidFill>
            <a:srgbClr val="EDF3F8"/>
          </a:solidFill>
          <a:ln w="10160">
            <a:solidFill>
              <a:srgbClr val="002D58"/>
            </a:solidFill>
            <a:prstDash val="solid"/>
          </a:ln>
        </p:spPr>
      </p:sp>
      <p:sp>
        <p:nvSpPr>
          <p:cNvPr id="26" name="Text 24"/>
          <p:cNvSpPr/>
          <p:nvPr/>
        </p:nvSpPr>
        <p:spPr>
          <a:xfrm>
            <a:off x="7516368" y="5806440"/>
            <a:ext cx="1609344" cy="146304"/>
          </a:xfrm>
          <a:prstGeom prst="rect">
            <a:avLst/>
          </a:prstGeom>
          <a:noFill/>
          <a:ln/>
        </p:spPr>
        <p:txBody>
          <a:bodyPr wrap="square" lIns="0" tIns="0" rIns="0" bIns="0" rtlCol="0" anchor="ctr"/>
          <a:lstStyle/>
          <a:p>
            <a:pPr algn="ctr" indent="0" marL="0">
              <a:buNone/>
            </a:pPr>
            <a:r>
              <a:rPr lang="en-US" sz="680" b="1" dirty="0">
                <a:solidFill>
                  <a:srgbClr val="002D58"/>
                </a:solidFill>
                <a:latin typeface="Montserrat" pitchFamily="34" charset="0"/>
                <a:ea typeface="Montserrat" pitchFamily="34" charset="-122"/>
                <a:cs typeface="Montserrat" pitchFamily="34" charset="-120"/>
              </a:rPr>
              <a:t>CITA LA FUENTE</a:t>
            </a:r>
            <a:endParaRPr lang="en-US" sz="68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RESUMEN EJECUTIVO</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Una consulta, tres capas de inteligencia, una respuesta verificable</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El Observatorio combina analítica, detección de anomalías y conversación sobre datos abiertos.</a:t>
            </a:r>
            <a:endParaRPr lang="en-US" sz="950" dirty="0"/>
          </a:p>
        </p:txBody>
      </p:sp>
      <p:sp>
        <p:nvSpPr>
          <p:cNvPr id="5" name="Shape 3"/>
          <p:cNvSpPr/>
          <p:nvPr/>
        </p:nvSpPr>
        <p:spPr>
          <a:xfrm>
            <a:off x="612648" y="1664208"/>
            <a:ext cx="493776" cy="493776"/>
          </a:xfrm>
          <a:prstGeom prst="ellipse">
            <a:avLst/>
          </a:prstGeom>
          <a:solidFill>
            <a:srgbClr val="002D58"/>
          </a:solidFill>
          <a:ln w="12700">
            <a:solidFill>
              <a:srgbClr val="002D58"/>
            </a:solidFill>
            <a:prstDash val="solid"/>
          </a:ln>
        </p:spPr>
      </p:sp>
      <p:sp>
        <p:nvSpPr>
          <p:cNvPr id="6" name="Text 4"/>
          <p:cNvSpPr/>
          <p:nvPr/>
        </p:nvSpPr>
        <p:spPr>
          <a:xfrm>
            <a:off x="612648" y="1810512"/>
            <a:ext cx="493776" cy="128016"/>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7" name="Text 5"/>
          <p:cNvSpPr/>
          <p:nvPr/>
        </p:nvSpPr>
        <p:spPr>
          <a:xfrm>
            <a:off x="1225296" y="1664208"/>
            <a:ext cx="1783080" cy="292608"/>
          </a:xfrm>
          <a:prstGeom prst="rect">
            <a:avLst/>
          </a:prstGeom>
          <a:noFill/>
          <a:ln/>
        </p:spPr>
        <p:txBody>
          <a:bodyPr wrap="square" lIns="0" tIns="0" rIns="0" bIns="0" rtlCol="0" anchor="ctr"/>
          <a:lstStyle/>
          <a:p>
            <a:pPr indent="0" marL="0">
              <a:buNone/>
            </a:pPr>
            <a:r>
              <a:rPr lang="en-US" sz="1400" b="1" dirty="0">
                <a:solidFill>
                  <a:srgbClr val="002D58"/>
                </a:solidFill>
              </a:rPr>
              <a:t>Preguntar</a:t>
            </a:r>
            <a:endParaRPr lang="en-US" sz="1400" dirty="0"/>
          </a:p>
        </p:txBody>
      </p:sp>
      <p:sp>
        <p:nvSpPr>
          <p:cNvPr id="8" name="Text 6"/>
          <p:cNvSpPr/>
          <p:nvPr/>
        </p:nvSpPr>
        <p:spPr>
          <a:xfrm>
            <a:off x="612648" y="2359152"/>
            <a:ext cx="2487168" cy="658368"/>
          </a:xfrm>
          <a:prstGeom prst="rect">
            <a:avLst/>
          </a:prstGeom>
          <a:noFill/>
          <a:ln/>
        </p:spPr>
        <p:txBody>
          <a:bodyPr wrap="square" lIns="0" tIns="0" rIns="0" bIns="0" rtlCol="0" anchor="ctr">
            <a:normAutofit/>
          </a:bodyPr>
          <a:lstStyle/>
          <a:p>
            <a:pPr algn="ctr" indent="0" marL="0">
              <a:buNone/>
            </a:pPr>
            <a:r>
              <a:rPr lang="en-US" sz="900" dirty="0">
                <a:solidFill>
                  <a:srgbClr val="172033"/>
                </a:solidFill>
              </a:rPr>
              <a:t>NIT, nombre, sector o pregunta en lenguaje natural</a:t>
            </a:r>
            <a:endParaRPr lang="en-US" sz="900" dirty="0"/>
          </a:p>
        </p:txBody>
      </p:sp>
      <p:sp>
        <p:nvSpPr>
          <p:cNvPr id="9" name="Shape 7"/>
          <p:cNvSpPr/>
          <p:nvPr/>
        </p:nvSpPr>
        <p:spPr>
          <a:xfrm>
            <a:off x="3081528" y="1755648"/>
            <a:ext cx="256032" cy="329184"/>
          </a:xfrm>
          <a:prstGeom prst="chevron">
            <a:avLst/>
          </a:prstGeom>
          <a:solidFill>
            <a:srgbClr val="FEC82F"/>
          </a:solidFill>
          <a:ln w="12700">
            <a:solidFill>
              <a:srgbClr val="FEC82F"/>
            </a:solidFill>
            <a:prstDash val="solid"/>
          </a:ln>
        </p:spPr>
      </p:sp>
      <p:sp>
        <p:nvSpPr>
          <p:cNvPr id="10" name="Shape 8"/>
          <p:cNvSpPr/>
          <p:nvPr/>
        </p:nvSpPr>
        <p:spPr>
          <a:xfrm>
            <a:off x="3474720" y="1664208"/>
            <a:ext cx="493776" cy="493776"/>
          </a:xfrm>
          <a:prstGeom prst="ellipse">
            <a:avLst/>
          </a:prstGeom>
          <a:solidFill>
            <a:srgbClr val="002D58"/>
          </a:solidFill>
          <a:ln w="12700">
            <a:solidFill>
              <a:srgbClr val="002D58"/>
            </a:solidFill>
            <a:prstDash val="solid"/>
          </a:ln>
        </p:spPr>
      </p:sp>
      <p:sp>
        <p:nvSpPr>
          <p:cNvPr id="11" name="Text 9"/>
          <p:cNvSpPr/>
          <p:nvPr/>
        </p:nvSpPr>
        <p:spPr>
          <a:xfrm>
            <a:off x="3474720" y="1810512"/>
            <a:ext cx="493776" cy="128016"/>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2" name="Text 10"/>
          <p:cNvSpPr/>
          <p:nvPr/>
        </p:nvSpPr>
        <p:spPr>
          <a:xfrm>
            <a:off x="4087368" y="1664208"/>
            <a:ext cx="1783080" cy="292608"/>
          </a:xfrm>
          <a:prstGeom prst="rect">
            <a:avLst/>
          </a:prstGeom>
          <a:noFill/>
          <a:ln/>
        </p:spPr>
        <p:txBody>
          <a:bodyPr wrap="square" lIns="0" tIns="0" rIns="0" bIns="0" rtlCol="0" anchor="ctr"/>
          <a:lstStyle/>
          <a:p>
            <a:pPr indent="0" marL="0">
              <a:buNone/>
            </a:pPr>
            <a:r>
              <a:rPr lang="en-US" sz="1400" b="1" dirty="0">
                <a:solidFill>
                  <a:srgbClr val="002D58"/>
                </a:solidFill>
              </a:rPr>
              <a:t>Integrar</a:t>
            </a:r>
            <a:endParaRPr lang="en-US" sz="1400" dirty="0"/>
          </a:p>
        </p:txBody>
      </p:sp>
      <p:sp>
        <p:nvSpPr>
          <p:cNvPr id="13" name="Text 11"/>
          <p:cNvSpPr/>
          <p:nvPr/>
        </p:nvSpPr>
        <p:spPr>
          <a:xfrm>
            <a:off x="3474720" y="2359152"/>
            <a:ext cx="2487168" cy="658368"/>
          </a:xfrm>
          <a:prstGeom prst="rect">
            <a:avLst/>
          </a:prstGeom>
          <a:noFill/>
          <a:ln/>
        </p:spPr>
        <p:txBody>
          <a:bodyPr wrap="square" lIns="0" tIns="0" rIns="0" bIns="0" rtlCol="0" anchor="ctr">
            <a:normAutofit/>
          </a:bodyPr>
          <a:lstStyle/>
          <a:p>
            <a:pPr algn="ctr" indent="0" marL="0">
              <a:buNone/>
            </a:pPr>
            <a:r>
              <a:rPr lang="en-US" sz="900" dirty="0">
                <a:solidFill>
                  <a:srgbClr val="172033"/>
                </a:solidFill>
              </a:rPr>
              <a:t>API propia: SECOP II + antecedentes + sanciones + obras</a:t>
            </a:r>
            <a:endParaRPr lang="en-US" sz="900" dirty="0"/>
          </a:p>
        </p:txBody>
      </p:sp>
      <p:sp>
        <p:nvSpPr>
          <p:cNvPr id="14" name="Shape 12"/>
          <p:cNvSpPr/>
          <p:nvPr/>
        </p:nvSpPr>
        <p:spPr>
          <a:xfrm>
            <a:off x="5943600" y="1755648"/>
            <a:ext cx="256032" cy="329184"/>
          </a:xfrm>
          <a:prstGeom prst="chevron">
            <a:avLst/>
          </a:prstGeom>
          <a:solidFill>
            <a:srgbClr val="FEC82F"/>
          </a:solidFill>
          <a:ln w="12700">
            <a:solidFill>
              <a:srgbClr val="FEC82F"/>
            </a:solidFill>
            <a:prstDash val="solid"/>
          </a:ln>
        </p:spPr>
      </p:sp>
      <p:sp>
        <p:nvSpPr>
          <p:cNvPr id="15" name="Shape 13"/>
          <p:cNvSpPr/>
          <p:nvPr/>
        </p:nvSpPr>
        <p:spPr>
          <a:xfrm>
            <a:off x="6336792" y="1664208"/>
            <a:ext cx="493776" cy="493776"/>
          </a:xfrm>
          <a:prstGeom prst="ellipse">
            <a:avLst/>
          </a:prstGeom>
          <a:solidFill>
            <a:srgbClr val="FEC82F"/>
          </a:solidFill>
          <a:ln w="12700">
            <a:solidFill>
              <a:srgbClr val="FEC82F"/>
            </a:solidFill>
            <a:prstDash val="solid"/>
          </a:ln>
        </p:spPr>
      </p:sp>
      <p:sp>
        <p:nvSpPr>
          <p:cNvPr id="16" name="Text 14"/>
          <p:cNvSpPr/>
          <p:nvPr/>
        </p:nvSpPr>
        <p:spPr>
          <a:xfrm>
            <a:off x="6336792" y="1810512"/>
            <a:ext cx="493776" cy="128016"/>
          </a:xfrm>
          <a:prstGeom prst="rect">
            <a:avLst/>
          </a:prstGeom>
          <a:noFill/>
          <a:ln/>
        </p:spPr>
        <p:txBody>
          <a:bodyPr wrap="square" lIns="0" tIns="0" rIns="0" bIns="0" rtlCol="0" anchor="ctr"/>
          <a:lstStyle/>
          <a:p>
            <a:pPr algn="ctr" indent="0" marL="0">
              <a:buNone/>
            </a:pPr>
            <a:r>
              <a:rPr lang="en-US" sz="800" b="1" dirty="0">
                <a:solidFill>
                  <a:srgbClr val="002D58"/>
                </a:solidFill>
              </a:rPr>
              <a:t>3</a:t>
            </a:r>
            <a:endParaRPr lang="en-US" sz="800" dirty="0"/>
          </a:p>
        </p:txBody>
      </p:sp>
      <p:sp>
        <p:nvSpPr>
          <p:cNvPr id="17" name="Text 15"/>
          <p:cNvSpPr/>
          <p:nvPr/>
        </p:nvSpPr>
        <p:spPr>
          <a:xfrm>
            <a:off x="6949440" y="1664208"/>
            <a:ext cx="1783080" cy="292608"/>
          </a:xfrm>
          <a:prstGeom prst="rect">
            <a:avLst/>
          </a:prstGeom>
          <a:noFill/>
          <a:ln/>
        </p:spPr>
        <p:txBody>
          <a:bodyPr wrap="square" lIns="0" tIns="0" rIns="0" bIns="0" rtlCol="0" anchor="ctr"/>
          <a:lstStyle/>
          <a:p>
            <a:pPr indent="0" marL="0">
              <a:buNone/>
            </a:pPr>
            <a:r>
              <a:rPr lang="en-US" sz="1400" b="1" dirty="0">
                <a:solidFill>
                  <a:srgbClr val="002D58"/>
                </a:solidFill>
              </a:rPr>
              <a:t>Analizar</a:t>
            </a:r>
            <a:endParaRPr lang="en-US" sz="1400" dirty="0"/>
          </a:p>
        </p:txBody>
      </p:sp>
      <p:sp>
        <p:nvSpPr>
          <p:cNvPr id="18" name="Text 16"/>
          <p:cNvSpPr/>
          <p:nvPr/>
        </p:nvSpPr>
        <p:spPr>
          <a:xfrm>
            <a:off x="6336792" y="2359152"/>
            <a:ext cx="2487168" cy="658368"/>
          </a:xfrm>
          <a:prstGeom prst="rect">
            <a:avLst/>
          </a:prstGeom>
          <a:noFill/>
          <a:ln/>
        </p:spPr>
        <p:txBody>
          <a:bodyPr wrap="square" lIns="0" tIns="0" rIns="0" bIns="0" rtlCol="0" anchor="ctr">
            <a:normAutofit/>
          </a:bodyPr>
          <a:lstStyle/>
          <a:p>
            <a:pPr algn="ctr" indent="0" marL="0">
              <a:buNone/>
            </a:pPr>
            <a:r>
              <a:rPr lang="en-US" sz="900" dirty="0">
                <a:solidFill>
                  <a:srgbClr val="172033"/>
                </a:solidFill>
              </a:rPr>
              <a:t>9 banderas explicables + Isolation Forest</a:t>
            </a:r>
            <a:endParaRPr lang="en-US" sz="900" dirty="0"/>
          </a:p>
        </p:txBody>
      </p:sp>
      <p:sp>
        <p:nvSpPr>
          <p:cNvPr id="19" name="Shape 17"/>
          <p:cNvSpPr/>
          <p:nvPr/>
        </p:nvSpPr>
        <p:spPr>
          <a:xfrm>
            <a:off x="8805672" y="1755648"/>
            <a:ext cx="256032" cy="329184"/>
          </a:xfrm>
          <a:prstGeom prst="chevron">
            <a:avLst/>
          </a:prstGeom>
          <a:solidFill>
            <a:srgbClr val="FEC82F"/>
          </a:solidFill>
          <a:ln w="12700">
            <a:solidFill>
              <a:srgbClr val="FEC82F"/>
            </a:solidFill>
            <a:prstDash val="solid"/>
          </a:ln>
        </p:spPr>
      </p:sp>
      <p:sp>
        <p:nvSpPr>
          <p:cNvPr id="20" name="Shape 18"/>
          <p:cNvSpPr/>
          <p:nvPr/>
        </p:nvSpPr>
        <p:spPr>
          <a:xfrm>
            <a:off x="9198864" y="1664208"/>
            <a:ext cx="493776" cy="493776"/>
          </a:xfrm>
          <a:prstGeom prst="ellipse">
            <a:avLst/>
          </a:prstGeom>
          <a:solidFill>
            <a:srgbClr val="002D58"/>
          </a:solidFill>
          <a:ln w="12700">
            <a:solidFill>
              <a:srgbClr val="002D58"/>
            </a:solidFill>
            <a:prstDash val="solid"/>
          </a:ln>
        </p:spPr>
      </p:sp>
      <p:sp>
        <p:nvSpPr>
          <p:cNvPr id="21" name="Text 19"/>
          <p:cNvSpPr/>
          <p:nvPr/>
        </p:nvSpPr>
        <p:spPr>
          <a:xfrm>
            <a:off x="9198864" y="1810512"/>
            <a:ext cx="493776" cy="128016"/>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2" name="Text 20"/>
          <p:cNvSpPr/>
          <p:nvPr/>
        </p:nvSpPr>
        <p:spPr>
          <a:xfrm>
            <a:off x="9811512" y="1664208"/>
            <a:ext cx="1783080" cy="292608"/>
          </a:xfrm>
          <a:prstGeom prst="rect">
            <a:avLst/>
          </a:prstGeom>
          <a:noFill/>
          <a:ln/>
        </p:spPr>
        <p:txBody>
          <a:bodyPr wrap="square" lIns="0" tIns="0" rIns="0" bIns="0" rtlCol="0" anchor="ctr"/>
          <a:lstStyle/>
          <a:p>
            <a:pPr indent="0" marL="0">
              <a:buNone/>
            </a:pPr>
            <a:r>
              <a:rPr lang="en-US" sz="1400" b="1" dirty="0">
                <a:solidFill>
                  <a:srgbClr val="002D58"/>
                </a:solidFill>
              </a:rPr>
              <a:t>Actuar</a:t>
            </a:r>
            <a:endParaRPr lang="en-US" sz="1400" dirty="0"/>
          </a:p>
        </p:txBody>
      </p:sp>
      <p:sp>
        <p:nvSpPr>
          <p:cNvPr id="23" name="Text 21"/>
          <p:cNvSpPr/>
          <p:nvPr/>
        </p:nvSpPr>
        <p:spPr>
          <a:xfrm>
            <a:off x="9198864" y="2359152"/>
            <a:ext cx="2487168" cy="658368"/>
          </a:xfrm>
          <a:prstGeom prst="rect">
            <a:avLst/>
          </a:prstGeom>
          <a:noFill/>
          <a:ln/>
        </p:spPr>
        <p:txBody>
          <a:bodyPr wrap="square" lIns="0" tIns="0" rIns="0" bIns="0" rtlCol="0" anchor="ctr">
            <a:normAutofit/>
          </a:bodyPr>
          <a:lstStyle/>
          <a:p>
            <a:pPr algn="ctr" indent="0" marL="0">
              <a:buNone/>
            </a:pPr>
            <a:r>
              <a:rPr lang="en-US" sz="900" dirty="0">
                <a:solidFill>
                  <a:srgbClr val="172033"/>
                </a:solidFill>
              </a:rPr>
              <a:t>Semáforo, evidencia, exportación y conversación</a:t>
            </a:r>
            <a:endParaRPr lang="en-US" sz="900" dirty="0"/>
          </a:p>
        </p:txBody>
      </p:sp>
      <p:sp>
        <p:nvSpPr>
          <p:cNvPr id="24" name="Shape 22"/>
          <p:cNvSpPr/>
          <p:nvPr/>
        </p:nvSpPr>
        <p:spPr>
          <a:xfrm>
            <a:off x="658368" y="3337560"/>
            <a:ext cx="10881360" cy="2057400"/>
          </a:xfrm>
          <a:prstGeom prst="roundRect">
            <a:avLst>
              <a:gd name="adj" fmla="val 3556"/>
            </a:avLst>
          </a:prstGeom>
          <a:solidFill>
            <a:srgbClr val="FFFFFF"/>
          </a:solidFill>
          <a:ln w="12700">
            <a:solidFill>
              <a:srgbClr val="D8E1EC"/>
            </a:solidFill>
            <a:prstDash val="solid"/>
          </a:ln>
        </p:spPr>
      </p:sp>
      <p:sp>
        <p:nvSpPr>
          <p:cNvPr id="25" name="Text 23"/>
          <p:cNvSpPr/>
          <p:nvPr/>
        </p:nvSpPr>
        <p:spPr>
          <a:xfrm>
            <a:off x="987552" y="3675888"/>
            <a:ext cx="1280160" cy="201168"/>
          </a:xfrm>
          <a:prstGeom prst="rect">
            <a:avLst/>
          </a:prstGeom>
          <a:noFill/>
          <a:ln/>
        </p:spPr>
        <p:txBody>
          <a:bodyPr wrap="square" lIns="0" tIns="0" rIns="0" bIns="0" rtlCol="0" anchor="ctr"/>
          <a:lstStyle/>
          <a:p>
            <a:pPr indent="0" marL="0">
              <a:buNone/>
            </a:pPr>
            <a:r>
              <a:rPr lang="en-US" sz="800" b="1" spc="150" kern="0" dirty="0">
                <a:solidFill>
                  <a:srgbClr val="CE1126"/>
                </a:solidFill>
              </a:rPr>
              <a:t>OBJETIVO</a:t>
            </a:r>
            <a:endParaRPr lang="en-US" sz="800" dirty="0"/>
          </a:p>
        </p:txBody>
      </p:sp>
      <p:sp>
        <p:nvSpPr>
          <p:cNvPr id="26" name="Text 24"/>
          <p:cNvSpPr/>
          <p:nvPr/>
        </p:nvSpPr>
        <p:spPr>
          <a:xfrm>
            <a:off x="987552" y="4041648"/>
            <a:ext cx="10058400" cy="804672"/>
          </a:xfrm>
          <a:prstGeom prst="rect">
            <a:avLst/>
          </a:prstGeom>
          <a:noFill/>
          <a:ln/>
        </p:spPr>
        <p:txBody>
          <a:bodyPr wrap="square" lIns="0" tIns="0" rIns="0" bIns="0" rtlCol="0" anchor="ctr">
            <a:normAutofit/>
          </a:bodyPr>
          <a:lstStyle/>
          <a:p>
            <a:pPr algn="ctr" indent="0" marL="0">
              <a:buNone/>
            </a:pPr>
            <a:r>
              <a:rPr lang="en-US" sz="1700" b="1" dirty="0">
                <a:solidFill>
                  <a:srgbClr val="002D58"/>
                </a:solidFill>
              </a:rPr>
              <a:t>Entregar una plataforma funcional que permita consultar y priorizar riesgos sobre datos abiertos de contratación pública mediante visualizaciones explicables y un asistente virtual, con cobertura nacional y actualización desde la fuente.</a:t>
            </a:r>
            <a:endParaRPr lang="en-US" sz="1700" dirty="0"/>
          </a:p>
        </p:txBody>
      </p:sp>
      <p:sp>
        <p:nvSpPr>
          <p:cNvPr id="27" name="Text 25"/>
          <p:cNvSpPr/>
          <p:nvPr/>
        </p:nvSpPr>
        <p:spPr>
          <a:xfrm>
            <a:off x="1920240" y="5010912"/>
            <a:ext cx="8321040" cy="228600"/>
          </a:xfrm>
          <a:prstGeom prst="rect">
            <a:avLst/>
          </a:prstGeom>
          <a:noFill/>
          <a:ln/>
        </p:spPr>
        <p:txBody>
          <a:bodyPr wrap="square" lIns="0" tIns="0" rIns="0" bIns="0" rtlCol="0" anchor="ctr"/>
          <a:lstStyle/>
          <a:p>
            <a:pPr algn="ctr" indent="0" marL="0">
              <a:buNone/>
            </a:pPr>
            <a:r>
              <a:rPr lang="en-US" sz="850" b="1" dirty="0">
                <a:solidFill>
                  <a:srgbClr val="16865A"/>
                </a:solidFill>
              </a:rPr>
              <a:t>Medible: aplicación desplegada · 9 banderas · consulta por sector/NIT · demo reproducible</a:t>
            </a:r>
            <a:endParaRPr lang="en-US" sz="85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DATOS ABIERTOS</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La fuente principal es SECOP II; el valor aparece al cruzarla</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Origen, calidad, transformación y trazabilidad están documentados en el flujo de datos.</a:t>
            </a:r>
            <a:endParaRPr lang="en-US" sz="950" dirty="0"/>
          </a:p>
        </p:txBody>
      </p:sp>
      <p:sp>
        <p:nvSpPr>
          <p:cNvPr id="5" name="Shape 3"/>
          <p:cNvSpPr/>
          <p:nvPr/>
        </p:nvSpPr>
        <p:spPr>
          <a:xfrm>
            <a:off x="566928" y="1536192"/>
            <a:ext cx="3794760" cy="4315968"/>
          </a:xfrm>
          <a:prstGeom prst="roundRect">
            <a:avLst>
              <a:gd name="adj" fmla="val 1928"/>
            </a:avLst>
          </a:prstGeom>
          <a:solidFill>
            <a:srgbClr val="002D58"/>
          </a:solidFill>
          <a:ln w="12700">
            <a:solidFill>
              <a:srgbClr val="002D58"/>
            </a:solidFill>
            <a:prstDash val="solid"/>
          </a:ln>
        </p:spPr>
      </p:sp>
      <p:sp>
        <p:nvSpPr>
          <p:cNvPr id="6" name="Text 4"/>
          <p:cNvSpPr/>
          <p:nvPr/>
        </p:nvSpPr>
        <p:spPr>
          <a:xfrm>
            <a:off x="896112" y="1828800"/>
            <a:ext cx="2103120" cy="210312"/>
          </a:xfrm>
          <a:prstGeom prst="rect">
            <a:avLst/>
          </a:prstGeom>
          <a:noFill/>
          <a:ln/>
        </p:spPr>
        <p:txBody>
          <a:bodyPr wrap="square" lIns="0" tIns="0" rIns="0" bIns="0" rtlCol="0" anchor="ctr"/>
          <a:lstStyle/>
          <a:p>
            <a:pPr indent="0" marL="0">
              <a:buNone/>
            </a:pPr>
            <a:r>
              <a:rPr lang="en-US" sz="800" b="1" spc="130" kern="0" dirty="0">
                <a:solidFill>
                  <a:srgbClr val="FEC82F"/>
                </a:solidFill>
              </a:rPr>
              <a:t>DATASET PRINCIPAL</a:t>
            </a:r>
            <a:endParaRPr lang="en-US" sz="800" dirty="0"/>
          </a:p>
        </p:txBody>
      </p:sp>
      <p:sp>
        <p:nvSpPr>
          <p:cNvPr id="7" name="Text 5"/>
          <p:cNvSpPr/>
          <p:nvPr/>
        </p:nvSpPr>
        <p:spPr>
          <a:xfrm>
            <a:off x="896112" y="2194560"/>
            <a:ext cx="3063240" cy="804672"/>
          </a:xfrm>
          <a:prstGeom prst="rect">
            <a:avLst/>
          </a:prstGeom>
          <a:noFill/>
          <a:ln/>
        </p:spPr>
        <p:txBody>
          <a:bodyPr wrap="square" lIns="0" tIns="0" rIns="0" bIns="0" rtlCol="0" anchor="ctr"/>
          <a:lstStyle/>
          <a:p>
            <a:pPr indent="0" marL="0">
              <a:buNone/>
            </a:pPr>
            <a:r>
              <a:rPr lang="en-US" sz="2300" b="1" dirty="0">
                <a:solidFill>
                  <a:srgbClr val="FFFFFF"/>
                </a:solidFill>
              </a:rPr>
              <a:t>SECOP II —</a:t>
            </a:r>
            <a:endParaRPr lang="en-US" sz="2300" dirty="0"/>
          </a:p>
          <a:p>
            <a:pPr indent="0" marL="0">
              <a:buNone/>
            </a:pPr>
            <a:r>
              <a:rPr lang="en-US" sz="2300" b="1" dirty="0">
                <a:solidFill>
                  <a:srgbClr val="FFFFFF"/>
                </a:solidFill>
              </a:rPr>
              <a:t>Contratos Electrónicos</a:t>
            </a:r>
            <a:endParaRPr lang="en-US" sz="2300" dirty="0"/>
          </a:p>
        </p:txBody>
      </p:sp>
      <p:sp>
        <p:nvSpPr>
          <p:cNvPr id="8" name="Text 6"/>
          <p:cNvSpPr/>
          <p:nvPr/>
        </p:nvSpPr>
        <p:spPr>
          <a:xfrm>
            <a:off x="896112" y="3182112"/>
            <a:ext cx="2926080" cy="1298448"/>
          </a:xfrm>
          <a:prstGeom prst="rect">
            <a:avLst/>
          </a:prstGeom>
          <a:noFill/>
          <a:ln/>
        </p:spPr>
        <p:txBody>
          <a:bodyPr wrap="square" lIns="0" tIns="0" rIns="0" bIns="0" rtlCol="0" anchor="ctr"/>
          <a:lstStyle/>
          <a:p>
            <a:pPr indent="0" marL="0">
              <a:buNone/>
            </a:pPr>
            <a:r>
              <a:rPr lang="en-US" sz="1100" dirty="0">
                <a:solidFill>
                  <a:srgbClr val="DCE7F3"/>
                </a:solidFill>
              </a:rPr>
              <a:t>ID: jbjy-vk9h</a:t>
            </a:r>
            <a:endParaRPr lang="en-US" sz="1100" dirty="0"/>
          </a:p>
          <a:p>
            <a:pPr indent="0" marL="0">
              <a:buNone/>
            </a:pPr>
            <a:r>
              <a:rPr lang="en-US" sz="1100" dirty="0">
                <a:solidFill>
                  <a:srgbClr val="DCE7F3"/>
                </a:solidFill>
              </a:rPr>
              <a:t>Entidad: Colombia Compra Eficiente</a:t>
            </a:r>
            <a:endParaRPr lang="en-US" sz="1100" dirty="0"/>
          </a:p>
          <a:p>
            <a:pPr indent="0" marL="0">
              <a:buNone/>
            </a:pPr>
            <a:r>
              <a:rPr lang="en-US" sz="1100" dirty="0">
                <a:solidFill>
                  <a:srgbClr val="DCE7F3"/>
                </a:solidFill>
              </a:rPr>
              <a:t>Cobertura: nacional</a:t>
            </a:r>
            <a:endParaRPr lang="en-US" sz="1100" dirty="0"/>
          </a:p>
          <a:p>
            <a:pPr indent="0" marL="0">
              <a:buNone/>
            </a:pPr>
            <a:r>
              <a:rPr lang="en-US" sz="1100" dirty="0">
                <a:solidFill>
                  <a:srgbClr val="DCE7F3"/>
                </a:solidFill>
              </a:rPr>
              <a:t>Actualización: diaria</a:t>
            </a:r>
            <a:endParaRPr lang="en-US" sz="1100" dirty="0"/>
          </a:p>
          <a:p>
            <a:pPr indent="0" marL="0">
              <a:buNone/>
            </a:pPr>
            <a:r>
              <a:rPr lang="en-US" sz="1100" dirty="0">
                <a:solidFill>
                  <a:srgbClr val="DCE7F3"/>
                </a:solidFill>
              </a:rPr>
              <a:t>Consulta: API Socrata</a:t>
            </a:r>
            <a:endParaRPr lang="en-US" sz="1100" dirty="0"/>
          </a:p>
        </p:txBody>
      </p:sp>
      <p:sp>
        <p:nvSpPr>
          <p:cNvPr id="9" name="Text 7"/>
          <p:cNvSpPr/>
          <p:nvPr/>
        </p:nvSpPr>
        <p:spPr>
          <a:xfrm>
            <a:off x="896112" y="4892040"/>
            <a:ext cx="2971800" cy="566928"/>
          </a:xfrm>
          <a:prstGeom prst="rect">
            <a:avLst/>
          </a:prstGeom>
          <a:noFill/>
          <a:ln/>
        </p:spPr>
        <p:txBody>
          <a:bodyPr wrap="square" lIns="0" tIns="0" rIns="0" bIns="0" rtlCol="0" anchor="ctr"/>
          <a:lstStyle/>
          <a:p>
            <a:pPr indent="0" marL="0">
              <a:buNone/>
            </a:pPr>
            <a:r>
              <a:rPr lang="en-US" sz="1300" b="1" dirty="0">
                <a:solidFill>
                  <a:srgbClr val="FEC82F"/>
                </a:solidFill>
              </a:rPr>
              <a:t>5,70 M contratos visibles</a:t>
            </a:r>
            <a:endParaRPr lang="en-US" sz="1300" dirty="0"/>
          </a:p>
          <a:p>
            <a:pPr indent="0" marL="0">
              <a:buNone/>
            </a:pPr>
            <a:r>
              <a:rPr lang="en-US" sz="1300" b="1" dirty="0">
                <a:solidFill>
                  <a:srgbClr val="FEC82F"/>
                </a:solidFill>
              </a:rPr>
              <a:t>en la captura del 16/07/2026</a:t>
            </a:r>
            <a:endParaRPr lang="en-US" sz="1300" dirty="0"/>
          </a:p>
        </p:txBody>
      </p:sp>
      <p:sp>
        <p:nvSpPr>
          <p:cNvPr id="10" name="Shape 8"/>
          <p:cNvSpPr/>
          <p:nvPr/>
        </p:nvSpPr>
        <p:spPr>
          <a:xfrm>
            <a:off x="4617720" y="1536192"/>
            <a:ext cx="3154680" cy="1874520"/>
          </a:xfrm>
          <a:prstGeom prst="roundRect">
            <a:avLst>
              <a:gd name="adj" fmla="val 3902"/>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1" name="Shape 9"/>
          <p:cNvSpPr/>
          <p:nvPr/>
        </p:nvSpPr>
        <p:spPr>
          <a:xfrm>
            <a:off x="4617720" y="1536192"/>
            <a:ext cx="64008" cy="1874520"/>
          </a:xfrm>
          <a:prstGeom prst="rect">
            <a:avLst/>
          </a:prstGeom>
          <a:solidFill>
            <a:srgbClr val="004884"/>
          </a:solidFill>
          <a:ln w="12700">
            <a:solidFill>
              <a:srgbClr val="004884"/>
            </a:solidFill>
            <a:prstDash val="solid"/>
          </a:ln>
        </p:spPr>
      </p:sp>
      <p:sp>
        <p:nvSpPr>
          <p:cNvPr id="12" name="Text 10"/>
          <p:cNvSpPr/>
          <p:nvPr/>
        </p:nvSpPr>
        <p:spPr>
          <a:xfrm>
            <a:off x="4818888" y="1700784"/>
            <a:ext cx="2788920" cy="292608"/>
          </a:xfrm>
          <a:prstGeom prst="rect">
            <a:avLst/>
          </a:prstGeom>
          <a:noFill/>
          <a:ln/>
        </p:spPr>
        <p:txBody>
          <a:bodyPr wrap="square" lIns="0" tIns="0" rIns="0" bIns="0" rtlCol="0" anchor="ctr"/>
          <a:lstStyle/>
          <a:p>
            <a:pPr indent="0" marL="0">
              <a:buNone/>
            </a:pPr>
            <a:r>
              <a:rPr lang="en-US" sz="1120" b="1" dirty="0">
                <a:solidFill>
                  <a:srgbClr val="002D58"/>
                </a:solidFill>
                <a:latin typeface="Montserrat" pitchFamily="34" charset="0"/>
                <a:ea typeface="Montserrat" pitchFamily="34" charset="-122"/>
                <a:cs typeface="Montserrat" pitchFamily="34" charset="-120"/>
              </a:rPr>
              <a:t>Fuentes integradas por API propia</a:t>
            </a:r>
            <a:endParaRPr lang="en-US" sz="1120" dirty="0"/>
          </a:p>
        </p:txBody>
      </p:sp>
      <p:sp>
        <p:nvSpPr>
          <p:cNvPr id="13" name="Text 11"/>
          <p:cNvSpPr/>
          <p:nvPr/>
        </p:nvSpPr>
        <p:spPr>
          <a:xfrm>
            <a:off x="4818888" y="2066544"/>
            <a:ext cx="2788920" cy="1216152"/>
          </a:xfrm>
          <a:prstGeom prst="rect">
            <a:avLst/>
          </a:prstGeom>
          <a:noFill/>
          <a:ln/>
        </p:spPr>
        <p:txBody>
          <a:bodyPr wrap="square" lIns="0" tIns="0" rIns="0" bIns="0" rtlCol="0" anchor="t">
            <a:normAutofit/>
          </a:bodyPr>
          <a:lstStyle/>
          <a:p>
            <a:pPr indent="0" marL="0">
              <a:buNone/>
            </a:pPr>
            <a:r>
              <a:rPr lang="en-US" sz="900" dirty="0">
                <a:solidFill>
                  <a:srgbClr val="172033"/>
                </a:solidFill>
                <a:latin typeface="Montserrat" pitchFamily="34" charset="0"/>
                <a:ea typeface="Montserrat" pitchFamily="34" charset="-122"/>
                <a:cs typeface="Montserrat" pitchFamily="34" charset="-120"/>
              </a:rPr>
              <a:t>Procuraduría / SIRI</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Responsabilidades fiscales CGR</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Sanciones penales FGN</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Multas SECOP</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Obras inconclusas</a:t>
            </a:r>
            <a:endParaRPr lang="en-US" sz="900" dirty="0"/>
          </a:p>
        </p:txBody>
      </p:sp>
      <p:sp>
        <p:nvSpPr>
          <p:cNvPr id="14" name="Shape 12"/>
          <p:cNvSpPr/>
          <p:nvPr/>
        </p:nvSpPr>
        <p:spPr>
          <a:xfrm>
            <a:off x="8001000" y="1536192"/>
            <a:ext cx="3611880" cy="1874520"/>
          </a:xfrm>
          <a:prstGeom prst="roundRect">
            <a:avLst>
              <a:gd name="adj" fmla="val 3902"/>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5" name="Shape 13"/>
          <p:cNvSpPr/>
          <p:nvPr/>
        </p:nvSpPr>
        <p:spPr>
          <a:xfrm>
            <a:off x="8001000" y="1536192"/>
            <a:ext cx="64008" cy="1874520"/>
          </a:xfrm>
          <a:prstGeom prst="rect">
            <a:avLst/>
          </a:prstGeom>
          <a:solidFill>
            <a:srgbClr val="CE1126"/>
          </a:solidFill>
          <a:ln w="12700">
            <a:solidFill>
              <a:srgbClr val="CE1126"/>
            </a:solidFill>
            <a:prstDash val="solid"/>
          </a:ln>
        </p:spPr>
      </p:sp>
      <p:sp>
        <p:nvSpPr>
          <p:cNvPr id="16" name="Text 14"/>
          <p:cNvSpPr/>
          <p:nvPr/>
        </p:nvSpPr>
        <p:spPr>
          <a:xfrm>
            <a:off x="8202168" y="1700784"/>
            <a:ext cx="3246120" cy="292608"/>
          </a:xfrm>
          <a:prstGeom prst="rect">
            <a:avLst/>
          </a:prstGeom>
          <a:noFill/>
          <a:ln/>
        </p:spPr>
        <p:txBody>
          <a:bodyPr wrap="square" lIns="0" tIns="0" rIns="0" bIns="0" rtlCol="0" anchor="ctr"/>
          <a:lstStyle/>
          <a:p>
            <a:pPr indent="0" marL="0">
              <a:buNone/>
            </a:pPr>
            <a:r>
              <a:rPr lang="en-US" sz="1200" b="1" dirty="0">
                <a:solidFill>
                  <a:srgbClr val="002D58"/>
                </a:solidFill>
                <a:latin typeface="Montserrat" pitchFamily="34" charset="0"/>
                <a:ea typeface="Montserrat" pitchFamily="34" charset="-122"/>
                <a:cs typeface="Montserrat" pitchFamily="34" charset="-120"/>
              </a:rPr>
              <a:t>Problemas de calidad</a:t>
            </a:r>
            <a:endParaRPr lang="en-US" sz="1200" dirty="0"/>
          </a:p>
        </p:txBody>
      </p:sp>
      <p:sp>
        <p:nvSpPr>
          <p:cNvPr id="17" name="Text 15"/>
          <p:cNvSpPr/>
          <p:nvPr/>
        </p:nvSpPr>
        <p:spPr>
          <a:xfrm>
            <a:off x="8202168" y="2066544"/>
            <a:ext cx="3246120" cy="1216152"/>
          </a:xfrm>
          <a:prstGeom prst="rect">
            <a:avLst/>
          </a:prstGeom>
          <a:noFill/>
          <a:ln/>
        </p:spPr>
        <p:txBody>
          <a:bodyPr wrap="square" lIns="0" tIns="0" rIns="0" bIns="0" rtlCol="0" anchor="t">
            <a:normAutofit/>
          </a:bodyPr>
          <a:lstStyle/>
          <a:p>
            <a:pPr indent="0" marL="0">
              <a:buNone/>
            </a:pPr>
            <a:r>
              <a:rPr lang="en-US" sz="900" dirty="0">
                <a:solidFill>
                  <a:srgbClr val="172033"/>
                </a:solidFill>
                <a:latin typeface="Montserrat" pitchFamily="34" charset="0"/>
                <a:ea typeface="Montserrat" pitchFamily="34" charset="-122"/>
                <a:cs typeface="Montserrat" pitchFamily="34" charset="-120"/>
              </a:rPr>
              <a:t>Identificadores heterogéneos</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Fechas y valores inconsistentes</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Nulos y estados contractuales ambiguos</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Fuentes con ciclos distintos</a:t>
            </a:r>
            <a:endParaRPr lang="en-US" sz="900" dirty="0"/>
          </a:p>
        </p:txBody>
      </p:sp>
      <p:sp>
        <p:nvSpPr>
          <p:cNvPr id="18" name="Shape 16"/>
          <p:cNvSpPr/>
          <p:nvPr/>
        </p:nvSpPr>
        <p:spPr>
          <a:xfrm>
            <a:off x="4617720" y="3675888"/>
            <a:ext cx="6995160" cy="2176272"/>
          </a:xfrm>
          <a:prstGeom prst="roundRect">
            <a:avLst>
              <a:gd name="adj" fmla="val 336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9" name="Shape 17"/>
          <p:cNvSpPr/>
          <p:nvPr/>
        </p:nvSpPr>
        <p:spPr>
          <a:xfrm>
            <a:off x="4617720" y="3675888"/>
            <a:ext cx="64008" cy="2176272"/>
          </a:xfrm>
          <a:prstGeom prst="rect">
            <a:avLst/>
          </a:prstGeom>
          <a:solidFill>
            <a:srgbClr val="16865A"/>
          </a:solidFill>
          <a:ln w="12700">
            <a:solidFill>
              <a:srgbClr val="16865A"/>
            </a:solidFill>
            <a:prstDash val="solid"/>
          </a:ln>
        </p:spPr>
      </p:sp>
      <p:sp>
        <p:nvSpPr>
          <p:cNvPr id="20" name="Text 18"/>
          <p:cNvSpPr/>
          <p:nvPr/>
        </p:nvSpPr>
        <p:spPr>
          <a:xfrm>
            <a:off x="4818888" y="3840480"/>
            <a:ext cx="6629400" cy="292608"/>
          </a:xfrm>
          <a:prstGeom prst="rect">
            <a:avLst/>
          </a:prstGeom>
          <a:noFill/>
          <a:ln/>
        </p:spPr>
        <p:txBody>
          <a:bodyPr wrap="square" lIns="0" tIns="0" rIns="0" bIns="0" rtlCol="0" anchor="ctr"/>
          <a:lstStyle/>
          <a:p>
            <a:pPr indent="0" marL="0">
              <a:buNone/>
            </a:pPr>
            <a:r>
              <a:rPr lang="en-US" sz="1200" b="1" dirty="0">
                <a:solidFill>
                  <a:srgbClr val="002D58"/>
                </a:solidFill>
                <a:latin typeface="Montserrat" pitchFamily="34" charset="0"/>
                <a:ea typeface="Montserrat" pitchFamily="34" charset="-122"/>
                <a:cs typeface="Montserrat" pitchFamily="34" charset="-120"/>
              </a:rPr>
              <a:t>Transformación aplicada</a:t>
            </a:r>
            <a:endParaRPr lang="en-US" sz="1200" dirty="0"/>
          </a:p>
        </p:txBody>
      </p:sp>
      <p:sp>
        <p:nvSpPr>
          <p:cNvPr id="21" name="Text 19"/>
          <p:cNvSpPr/>
          <p:nvPr/>
        </p:nvSpPr>
        <p:spPr>
          <a:xfrm>
            <a:off x="4818888" y="4206240"/>
            <a:ext cx="6629400" cy="1517904"/>
          </a:xfrm>
          <a:prstGeom prst="rect">
            <a:avLst/>
          </a:prstGeom>
          <a:noFill/>
          <a:ln/>
        </p:spPr>
        <p:txBody>
          <a:bodyPr wrap="square" lIns="0" tIns="0" rIns="0" bIns="0" rtlCol="0" anchor="t">
            <a:normAutofit/>
          </a:bodyPr>
          <a:lstStyle/>
          <a:p>
            <a:pPr indent="0" marL="0">
              <a:buNone/>
            </a:pPr>
            <a:r>
              <a:rPr lang="en-US" sz="1100" dirty="0">
                <a:solidFill>
                  <a:srgbClr val="172033"/>
                </a:solidFill>
                <a:latin typeface="Montserrat" pitchFamily="34" charset="0"/>
                <a:ea typeface="Montserrat" pitchFamily="34" charset="-122"/>
                <a:cs typeface="Montserrat" pitchFamily="34" charset="-120"/>
              </a:rPr>
              <a:t>Normalizamos NIT, fechas, monedas y estados. Derivamos variables de vencimiento, ejecución, concentración y adiciones. Guardamos caché y evidencia original para reproducir cada score, responder si una fuente se degrada y evitar consultas innecesarias.</a:t>
            </a:r>
            <a:endParaRPr lang="en-US" sz="1100" dirty="0"/>
          </a:p>
        </p:txBody>
      </p:sp>
      <p:sp>
        <p:nvSpPr>
          <p:cNvPr id="22" name="Text 20">
            <a:hlinkClick r:id="rId1" tooltip=""/>
          </p:cNvPr>
          <p:cNvSpPr/>
          <p:nvPr/>
        </p:nvSpPr>
        <p:spPr>
          <a:xfrm>
            <a:off x="4663440" y="6016752"/>
            <a:ext cx="6903720" cy="164592"/>
          </a:xfrm>
          <a:prstGeom prst="rect">
            <a:avLst/>
          </a:prstGeom>
          <a:noFill/>
          <a:ln/>
        </p:spPr>
        <p:txBody>
          <a:bodyPr wrap="square" lIns="0" tIns="0" rIns="0" bIns="0" rtlCol="0" anchor="ctr"/>
          <a:lstStyle/>
          <a:p>
            <a:pPr indent="0" marL="0">
              <a:buNone/>
            </a:pPr>
            <a:r>
              <a:rPr lang="en-US" sz="580" u="sng" dirty="0">
                <a:solidFill>
                  <a:srgbClr val="5A677D"/>
                </a:solidFill>
                <a:hlinkClick r:id="rId1" invalidUrl="" action="" tgtFrame="" tooltip="" history="1" highlightClick="0" endSnd="0">
                  <a:extLst>
                    <a:ext uri="{A12FA001-AC4F-418D-AE19-62706E023703}">
                      <ahyp:hlinkClr xmlns:ahyp="http://schemas.microsoft.com/office/drawing/2018/hyperlinkcolor" val="tx"/>
                    </a:ext>
                  </a:extLst>
                </a:hlinkClick>
              </a:rPr>
              <a:t>Fuente: datos.gov.co/Gastos-Gubernamentales/SECOP-II-Contratos-Electr-nicos/jbjy-vk9h</a:t>
            </a:r>
            <a:endParaRPr lang="en-US" sz="58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PRODUCTO DE DATOS</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API Anticorrupción Colombia: un perfil, cinco dominios</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Una capa propia normaliza y expone registros institucionales para la aplicación, el agente y otros consumidores.</a:t>
            </a:r>
            <a:endParaRPr lang="en-US" sz="950" dirty="0"/>
          </a:p>
        </p:txBody>
      </p:sp>
      <p:sp>
        <p:nvSpPr>
          <p:cNvPr id="5" name="Shape 3"/>
          <p:cNvSpPr/>
          <p:nvPr/>
        </p:nvSpPr>
        <p:spPr>
          <a:xfrm>
            <a:off x="566928" y="1481328"/>
            <a:ext cx="2743200" cy="566928"/>
          </a:xfrm>
          <a:prstGeom prst="roundRect">
            <a:avLst>
              <a:gd name="adj" fmla="val 6452"/>
            </a:avLst>
          </a:prstGeom>
          <a:solidFill>
            <a:srgbClr val="FFFFFF"/>
          </a:solidFill>
          <a:ln w="12700">
            <a:solidFill>
              <a:srgbClr val="D8E1EC"/>
            </a:solidFill>
            <a:prstDash val="solid"/>
          </a:ln>
        </p:spPr>
      </p:sp>
      <p:sp>
        <p:nvSpPr>
          <p:cNvPr id="6" name="Shape 4"/>
          <p:cNvSpPr/>
          <p:nvPr/>
        </p:nvSpPr>
        <p:spPr>
          <a:xfrm>
            <a:off x="566928" y="1481328"/>
            <a:ext cx="64008" cy="566928"/>
          </a:xfrm>
          <a:prstGeom prst="rect">
            <a:avLst/>
          </a:prstGeom>
          <a:solidFill>
            <a:srgbClr val="CE1126"/>
          </a:solidFill>
          <a:ln w="12700">
            <a:solidFill>
              <a:srgbClr val="CE1126"/>
            </a:solidFill>
            <a:prstDash val="solid"/>
          </a:ln>
        </p:spPr>
      </p:sp>
      <p:sp>
        <p:nvSpPr>
          <p:cNvPr id="7" name="Text 5"/>
          <p:cNvSpPr/>
          <p:nvPr/>
        </p:nvSpPr>
        <p:spPr>
          <a:xfrm>
            <a:off x="768096" y="1609344"/>
            <a:ext cx="658368" cy="164592"/>
          </a:xfrm>
          <a:prstGeom prst="rect">
            <a:avLst/>
          </a:prstGeom>
          <a:noFill/>
          <a:ln/>
        </p:spPr>
        <p:txBody>
          <a:bodyPr wrap="square" lIns="0" tIns="0" rIns="0" bIns="0" rtlCol="0" anchor="ctr"/>
          <a:lstStyle/>
          <a:p>
            <a:pPr indent="0" marL="0">
              <a:buNone/>
            </a:pPr>
            <a:r>
              <a:rPr lang="en-US" sz="800" b="1" spc="70" kern="0" dirty="0">
                <a:solidFill>
                  <a:srgbClr val="CE1126"/>
                </a:solidFill>
              </a:rPr>
              <a:t>CGR</a:t>
            </a:r>
            <a:endParaRPr lang="en-US" sz="800" dirty="0"/>
          </a:p>
        </p:txBody>
      </p:sp>
      <p:sp>
        <p:nvSpPr>
          <p:cNvPr id="8" name="Text 6"/>
          <p:cNvSpPr/>
          <p:nvPr/>
        </p:nvSpPr>
        <p:spPr>
          <a:xfrm>
            <a:off x="1371600" y="1600200"/>
            <a:ext cx="1737360" cy="228600"/>
          </a:xfrm>
          <a:prstGeom prst="rect">
            <a:avLst/>
          </a:prstGeom>
          <a:noFill/>
          <a:ln/>
        </p:spPr>
        <p:txBody>
          <a:bodyPr wrap="square" lIns="0" tIns="0" rIns="0" bIns="0" rtlCol="0" anchor="ctr">
            <a:normAutofit/>
          </a:bodyPr>
          <a:lstStyle/>
          <a:p>
            <a:pPr indent="0" marL="0">
              <a:buNone/>
            </a:pPr>
            <a:r>
              <a:rPr lang="en-US" sz="820" b="1" dirty="0">
                <a:solidFill>
                  <a:srgbClr val="172033"/>
                </a:solidFill>
              </a:rPr>
              <a:t>Responsabilidades fiscales</a:t>
            </a:r>
            <a:endParaRPr lang="en-US" sz="820" dirty="0"/>
          </a:p>
        </p:txBody>
      </p:sp>
      <p:sp>
        <p:nvSpPr>
          <p:cNvPr id="9" name="Shape 7"/>
          <p:cNvSpPr/>
          <p:nvPr/>
        </p:nvSpPr>
        <p:spPr>
          <a:xfrm>
            <a:off x="3456432" y="1591056"/>
            <a:ext cx="347472" cy="329184"/>
          </a:xfrm>
          <a:prstGeom prst="chevron">
            <a:avLst/>
          </a:prstGeom>
          <a:solidFill>
            <a:srgbClr val="FEC82F"/>
          </a:solidFill>
          <a:ln w="12700">
            <a:solidFill>
              <a:srgbClr val="FEC82F"/>
            </a:solidFill>
            <a:prstDash val="solid"/>
          </a:ln>
        </p:spPr>
      </p:sp>
      <p:sp>
        <p:nvSpPr>
          <p:cNvPr id="10" name="Shape 8"/>
          <p:cNvSpPr/>
          <p:nvPr/>
        </p:nvSpPr>
        <p:spPr>
          <a:xfrm>
            <a:off x="566928" y="2304288"/>
            <a:ext cx="2743200" cy="566928"/>
          </a:xfrm>
          <a:prstGeom prst="roundRect">
            <a:avLst>
              <a:gd name="adj" fmla="val 6452"/>
            </a:avLst>
          </a:prstGeom>
          <a:solidFill>
            <a:srgbClr val="FFFFFF"/>
          </a:solidFill>
          <a:ln w="12700">
            <a:solidFill>
              <a:srgbClr val="D8E1EC"/>
            </a:solidFill>
            <a:prstDash val="solid"/>
          </a:ln>
        </p:spPr>
      </p:sp>
      <p:sp>
        <p:nvSpPr>
          <p:cNvPr id="11" name="Shape 9"/>
          <p:cNvSpPr/>
          <p:nvPr/>
        </p:nvSpPr>
        <p:spPr>
          <a:xfrm>
            <a:off x="566928" y="2304288"/>
            <a:ext cx="64008" cy="566928"/>
          </a:xfrm>
          <a:prstGeom prst="rect">
            <a:avLst/>
          </a:prstGeom>
          <a:solidFill>
            <a:srgbClr val="004884"/>
          </a:solidFill>
          <a:ln w="12700">
            <a:solidFill>
              <a:srgbClr val="004884"/>
            </a:solidFill>
            <a:prstDash val="solid"/>
          </a:ln>
        </p:spPr>
      </p:sp>
      <p:sp>
        <p:nvSpPr>
          <p:cNvPr id="12" name="Text 10"/>
          <p:cNvSpPr/>
          <p:nvPr/>
        </p:nvSpPr>
        <p:spPr>
          <a:xfrm>
            <a:off x="768096" y="2432304"/>
            <a:ext cx="658368" cy="164592"/>
          </a:xfrm>
          <a:prstGeom prst="rect">
            <a:avLst/>
          </a:prstGeom>
          <a:noFill/>
          <a:ln/>
        </p:spPr>
        <p:txBody>
          <a:bodyPr wrap="square" lIns="0" tIns="0" rIns="0" bIns="0" rtlCol="0" anchor="ctr"/>
          <a:lstStyle/>
          <a:p>
            <a:pPr indent="0" marL="0">
              <a:buNone/>
            </a:pPr>
            <a:r>
              <a:rPr lang="en-US" sz="800" b="1" spc="70" kern="0" dirty="0">
                <a:solidFill>
                  <a:srgbClr val="004884"/>
                </a:solidFill>
              </a:rPr>
              <a:t>SIRI</a:t>
            </a:r>
            <a:endParaRPr lang="en-US" sz="800" dirty="0"/>
          </a:p>
        </p:txBody>
      </p:sp>
      <p:sp>
        <p:nvSpPr>
          <p:cNvPr id="13" name="Text 11"/>
          <p:cNvSpPr/>
          <p:nvPr/>
        </p:nvSpPr>
        <p:spPr>
          <a:xfrm>
            <a:off x="1371600" y="2423160"/>
            <a:ext cx="1737360" cy="228600"/>
          </a:xfrm>
          <a:prstGeom prst="rect">
            <a:avLst/>
          </a:prstGeom>
          <a:noFill/>
          <a:ln/>
        </p:spPr>
        <p:txBody>
          <a:bodyPr wrap="square" lIns="0" tIns="0" rIns="0" bIns="0" rtlCol="0" anchor="ctr">
            <a:normAutofit/>
          </a:bodyPr>
          <a:lstStyle/>
          <a:p>
            <a:pPr indent="0" marL="0">
              <a:buNone/>
            </a:pPr>
            <a:r>
              <a:rPr lang="en-US" sz="820" b="1" dirty="0">
                <a:solidFill>
                  <a:srgbClr val="172033"/>
                </a:solidFill>
              </a:rPr>
              <a:t>Antecedentes disciplinarios</a:t>
            </a:r>
            <a:endParaRPr lang="en-US" sz="820" dirty="0"/>
          </a:p>
        </p:txBody>
      </p:sp>
      <p:sp>
        <p:nvSpPr>
          <p:cNvPr id="14" name="Shape 12"/>
          <p:cNvSpPr/>
          <p:nvPr/>
        </p:nvSpPr>
        <p:spPr>
          <a:xfrm>
            <a:off x="3456432" y="2414016"/>
            <a:ext cx="347472" cy="329184"/>
          </a:xfrm>
          <a:prstGeom prst="chevron">
            <a:avLst/>
          </a:prstGeom>
          <a:solidFill>
            <a:srgbClr val="FEC82F"/>
          </a:solidFill>
          <a:ln w="12700">
            <a:solidFill>
              <a:srgbClr val="FEC82F"/>
            </a:solidFill>
            <a:prstDash val="solid"/>
          </a:ln>
        </p:spPr>
      </p:sp>
      <p:sp>
        <p:nvSpPr>
          <p:cNvPr id="15" name="Shape 13"/>
          <p:cNvSpPr/>
          <p:nvPr/>
        </p:nvSpPr>
        <p:spPr>
          <a:xfrm>
            <a:off x="566928" y="3127248"/>
            <a:ext cx="2743200" cy="566928"/>
          </a:xfrm>
          <a:prstGeom prst="roundRect">
            <a:avLst>
              <a:gd name="adj" fmla="val 6452"/>
            </a:avLst>
          </a:prstGeom>
          <a:solidFill>
            <a:srgbClr val="FFFFFF"/>
          </a:solidFill>
          <a:ln w="12700">
            <a:solidFill>
              <a:srgbClr val="D8E1EC"/>
            </a:solidFill>
            <a:prstDash val="solid"/>
          </a:ln>
        </p:spPr>
      </p:sp>
      <p:sp>
        <p:nvSpPr>
          <p:cNvPr id="16" name="Shape 14"/>
          <p:cNvSpPr/>
          <p:nvPr/>
        </p:nvSpPr>
        <p:spPr>
          <a:xfrm>
            <a:off x="566928" y="3127248"/>
            <a:ext cx="64008" cy="566928"/>
          </a:xfrm>
          <a:prstGeom prst="rect">
            <a:avLst/>
          </a:prstGeom>
          <a:solidFill>
            <a:srgbClr val="FEC82F"/>
          </a:solidFill>
          <a:ln w="12700">
            <a:solidFill>
              <a:srgbClr val="FEC82F"/>
            </a:solidFill>
            <a:prstDash val="solid"/>
          </a:ln>
        </p:spPr>
      </p:sp>
      <p:sp>
        <p:nvSpPr>
          <p:cNvPr id="17" name="Text 15"/>
          <p:cNvSpPr/>
          <p:nvPr/>
        </p:nvSpPr>
        <p:spPr>
          <a:xfrm>
            <a:off x="768096" y="3255264"/>
            <a:ext cx="658368" cy="164592"/>
          </a:xfrm>
          <a:prstGeom prst="rect">
            <a:avLst/>
          </a:prstGeom>
          <a:noFill/>
          <a:ln/>
        </p:spPr>
        <p:txBody>
          <a:bodyPr wrap="square" lIns="0" tIns="0" rIns="0" bIns="0" rtlCol="0" anchor="ctr"/>
          <a:lstStyle/>
          <a:p>
            <a:pPr indent="0" marL="0">
              <a:buNone/>
            </a:pPr>
            <a:r>
              <a:rPr lang="en-US" sz="800" b="1" spc="70" kern="0" dirty="0">
                <a:solidFill>
                  <a:srgbClr val="FEC82F"/>
                </a:solidFill>
              </a:rPr>
              <a:t>FGN</a:t>
            </a:r>
            <a:endParaRPr lang="en-US" sz="800" dirty="0"/>
          </a:p>
        </p:txBody>
      </p:sp>
      <p:sp>
        <p:nvSpPr>
          <p:cNvPr id="18" name="Text 16"/>
          <p:cNvSpPr/>
          <p:nvPr/>
        </p:nvSpPr>
        <p:spPr>
          <a:xfrm>
            <a:off x="1371600" y="3246120"/>
            <a:ext cx="1737360" cy="228600"/>
          </a:xfrm>
          <a:prstGeom prst="rect">
            <a:avLst/>
          </a:prstGeom>
          <a:noFill/>
          <a:ln/>
        </p:spPr>
        <p:txBody>
          <a:bodyPr wrap="square" lIns="0" tIns="0" rIns="0" bIns="0" rtlCol="0" anchor="ctr">
            <a:normAutofit/>
          </a:bodyPr>
          <a:lstStyle/>
          <a:p>
            <a:pPr indent="0" marL="0">
              <a:buNone/>
            </a:pPr>
            <a:r>
              <a:rPr lang="en-US" sz="820" b="1" dirty="0">
                <a:solidFill>
                  <a:srgbClr val="172033"/>
                </a:solidFill>
              </a:rPr>
              <a:t>Sanciones penales</a:t>
            </a:r>
            <a:endParaRPr lang="en-US" sz="820" dirty="0"/>
          </a:p>
        </p:txBody>
      </p:sp>
      <p:sp>
        <p:nvSpPr>
          <p:cNvPr id="19" name="Shape 17"/>
          <p:cNvSpPr/>
          <p:nvPr/>
        </p:nvSpPr>
        <p:spPr>
          <a:xfrm>
            <a:off x="3456432" y="3236976"/>
            <a:ext cx="347472" cy="329184"/>
          </a:xfrm>
          <a:prstGeom prst="chevron">
            <a:avLst/>
          </a:prstGeom>
          <a:solidFill>
            <a:srgbClr val="FEC82F"/>
          </a:solidFill>
          <a:ln w="12700">
            <a:solidFill>
              <a:srgbClr val="FEC82F"/>
            </a:solidFill>
            <a:prstDash val="solid"/>
          </a:ln>
        </p:spPr>
      </p:sp>
      <p:sp>
        <p:nvSpPr>
          <p:cNvPr id="20" name="Shape 18"/>
          <p:cNvSpPr/>
          <p:nvPr/>
        </p:nvSpPr>
        <p:spPr>
          <a:xfrm>
            <a:off x="566928" y="3950208"/>
            <a:ext cx="2743200" cy="566928"/>
          </a:xfrm>
          <a:prstGeom prst="roundRect">
            <a:avLst>
              <a:gd name="adj" fmla="val 6452"/>
            </a:avLst>
          </a:prstGeom>
          <a:solidFill>
            <a:srgbClr val="FFFFFF"/>
          </a:solidFill>
          <a:ln w="12700">
            <a:solidFill>
              <a:srgbClr val="D8E1EC"/>
            </a:solidFill>
            <a:prstDash val="solid"/>
          </a:ln>
        </p:spPr>
      </p:sp>
      <p:sp>
        <p:nvSpPr>
          <p:cNvPr id="21" name="Shape 19"/>
          <p:cNvSpPr/>
          <p:nvPr/>
        </p:nvSpPr>
        <p:spPr>
          <a:xfrm>
            <a:off x="566928" y="3950208"/>
            <a:ext cx="64008" cy="566928"/>
          </a:xfrm>
          <a:prstGeom prst="rect">
            <a:avLst/>
          </a:prstGeom>
          <a:solidFill>
            <a:srgbClr val="16865A"/>
          </a:solidFill>
          <a:ln w="12700">
            <a:solidFill>
              <a:srgbClr val="16865A"/>
            </a:solidFill>
            <a:prstDash val="solid"/>
          </a:ln>
        </p:spPr>
      </p:sp>
      <p:sp>
        <p:nvSpPr>
          <p:cNvPr id="22" name="Text 20"/>
          <p:cNvSpPr/>
          <p:nvPr/>
        </p:nvSpPr>
        <p:spPr>
          <a:xfrm>
            <a:off x="768096" y="4078224"/>
            <a:ext cx="658368" cy="164592"/>
          </a:xfrm>
          <a:prstGeom prst="rect">
            <a:avLst/>
          </a:prstGeom>
          <a:noFill/>
          <a:ln/>
        </p:spPr>
        <p:txBody>
          <a:bodyPr wrap="square" lIns="0" tIns="0" rIns="0" bIns="0" rtlCol="0" anchor="ctr"/>
          <a:lstStyle/>
          <a:p>
            <a:pPr indent="0" marL="0">
              <a:buNone/>
            </a:pPr>
            <a:r>
              <a:rPr lang="en-US" sz="800" b="1" spc="70" kern="0" dirty="0">
                <a:solidFill>
                  <a:srgbClr val="16865A"/>
                </a:solidFill>
              </a:rPr>
              <a:t>SECOP</a:t>
            </a:r>
            <a:endParaRPr lang="en-US" sz="800" dirty="0"/>
          </a:p>
        </p:txBody>
      </p:sp>
      <p:sp>
        <p:nvSpPr>
          <p:cNvPr id="23" name="Text 21"/>
          <p:cNvSpPr/>
          <p:nvPr/>
        </p:nvSpPr>
        <p:spPr>
          <a:xfrm>
            <a:off x="1371600" y="4069080"/>
            <a:ext cx="1737360" cy="228600"/>
          </a:xfrm>
          <a:prstGeom prst="rect">
            <a:avLst/>
          </a:prstGeom>
          <a:noFill/>
          <a:ln/>
        </p:spPr>
        <p:txBody>
          <a:bodyPr wrap="square" lIns="0" tIns="0" rIns="0" bIns="0" rtlCol="0" anchor="ctr">
            <a:normAutofit/>
          </a:bodyPr>
          <a:lstStyle/>
          <a:p>
            <a:pPr indent="0" marL="0">
              <a:buNone/>
            </a:pPr>
            <a:r>
              <a:rPr lang="en-US" sz="820" b="1" dirty="0">
                <a:solidFill>
                  <a:srgbClr val="172033"/>
                </a:solidFill>
              </a:rPr>
              <a:t>Multas contractuales</a:t>
            </a:r>
            <a:endParaRPr lang="en-US" sz="820" dirty="0"/>
          </a:p>
        </p:txBody>
      </p:sp>
      <p:sp>
        <p:nvSpPr>
          <p:cNvPr id="24" name="Shape 22"/>
          <p:cNvSpPr/>
          <p:nvPr/>
        </p:nvSpPr>
        <p:spPr>
          <a:xfrm>
            <a:off x="3456432" y="4059936"/>
            <a:ext cx="347472" cy="329184"/>
          </a:xfrm>
          <a:prstGeom prst="chevron">
            <a:avLst/>
          </a:prstGeom>
          <a:solidFill>
            <a:srgbClr val="FEC82F"/>
          </a:solidFill>
          <a:ln w="12700">
            <a:solidFill>
              <a:srgbClr val="FEC82F"/>
            </a:solidFill>
            <a:prstDash val="solid"/>
          </a:ln>
        </p:spPr>
      </p:sp>
      <p:sp>
        <p:nvSpPr>
          <p:cNvPr id="25" name="Shape 23"/>
          <p:cNvSpPr/>
          <p:nvPr/>
        </p:nvSpPr>
        <p:spPr>
          <a:xfrm>
            <a:off x="566928" y="4773168"/>
            <a:ext cx="2743200" cy="566928"/>
          </a:xfrm>
          <a:prstGeom prst="roundRect">
            <a:avLst>
              <a:gd name="adj" fmla="val 6452"/>
            </a:avLst>
          </a:prstGeom>
          <a:solidFill>
            <a:srgbClr val="FFFFFF"/>
          </a:solidFill>
          <a:ln w="12700">
            <a:solidFill>
              <a:srgbClr val="D8E1EC"/>
            </a:solidFill>
            <a:prstDash val="solid"/>
          </a:ln>
        </p:spPr>
      </p:sp>
      <p:sp>
        <p:nvSpPr>
          <p:cNvPr id="26" name="Shape 24"/>
          <p:cNvSpPr/>
          <p:nvPr/>
        </p:nvSpPr>
        <p:spPr>
          <a:xfrm>
            <a:off x="566928" y="4773168"/>
            <a:ext cx="64008" cy="566928"/>
          </a:xfrm>
          <a:prstGeom prst="rect">
            <a:avLst/>
          </a:prstGeom>
          <a:solidFill>
            <a:srgbClr val="002D58"/>
          </a:solidFill>
          <a:ln w="12700">
            <a:solidFill>
              <a:srgbClr val="002D58"/>
            </a:solidFill>
            <a:prstDash val="solid"/>
          </a:ln>
        </p:spPr>
      </p:sp>
      <p:sp>
        <p:nvSpPr>
          <p:cNvPr id="27" name="Text 25"/>
          <p:cNvSpPr/>
          <p:nvPr/>
        </p:nvSpPr>
        <p:spPr>
          <a:xfrm>
            <a:off x="768096" y="4901184"/>
            <a:ext cx="658368" cy="164592"/>
          </a:xfrm>
          <a:prstGeom prst="rect">
            <a:avLst/>
          </a:prstGeom>
          <a:noFill/>
          <a:ln/>
        </p:spPr>
        <p:txBody>
          <a:bodyPr wrap="square" lIns="0" tIns="0" rIns="0" bIns="0" rtlCol="0" anchor="ctr"/>
          <a:lstStyle/>
          <a:p>
            <a:pPr indent="0" marL="0">
              <a:buNone/>
            </a:pPr>
            <a:r>
              <a:rPr lang="en-US" sz="800" b="1" spc="70" kern="0" dirty="0">
                <a:solidFill>
                  <a:srgbClr val="002D58"/>
                </a:solidFill>
              </a:rPr>
              <a:t>OBRAS</a:t>
            </a:r>
            <a:endParaRPr lang="en-US" sz="800" dirty="0"/>
          </a:p>
        </p:txBody>
      </p:sp>
      <p:sp>
        <p:nvSpPr>
          <p:cNvPr id="28" name="Text 26"/>
          <p:cNvSpPr/>
          <p:nvPr/>
        </p:nvSpPr>
        <p:spPr>
          <a:xfrm>
            <a:off x="1371600" y="4892040"/>
            <a:ext cx="1737360" cy="228600"/>
          </a:xfrm>
          <a:prstGeom prst="rect">
            <a:avLst/>
          </a:prstGeom>
          <a:noFill/>
          <a:ln/>
        </p:spPr>
        <p:txBody>
          <a:bodyPr wrap="square" lIns="0" tIns="0" rIns="0" bIns="0" rtlCol="0" anchor="ctr">
            <a:normAutofit/>
          </a:bodyPr>
          <a:lstStyle/>
          <a:p>
            <a:pPr indent="0" marL="0">
              <a:buNone/>
            </a:pPr>
            <a:r>
              <a:rPr lang="en-US" sz="820" b="1" dirty="0">
                <a:solidFill>
                  <a:srgbClr val="172033"/>
                </a:solidFill>
              </a:rPr>
              <a:t>Inconclusas o mal ejecutadas</a:t>
            </a:r>
            <a:endParaRPr lang="en-US" sz="820" dirty="0"/>
          </a:p>
        </p:txBody>
      </p:sp>
      <p:sp>
        <p:nvSpPr>
          <p:cNvPr id="29" name="Shape 27"/>
          <p:cNvSpPr/>
          <p:nvPr/>
        </p:nvSpPr>
        <p:spPr>
          <a:xfrm>
            <a:off x="3456432" y="4882896"/>
            <a:ext cx="347472" cy="329184"/>
          </a:xfrm>
          <a:prstGeom prst="chevron">
            <a:avLst/>
          </a:prstGeom>
          <a:solidFill>
            <a:srgbClr val="FEC82F"/>
          </a:solidFill>
          <a:ln w="12700">
            <a:solidFill>
              <a:srgbClr val="FEC82F"/>
            </a:solidFill>
            <a:prstDash val="solid"/>
          </a:ln>
        </p:spPr>
      </p:sp>
      <p:sp>
        <p:nvSpPr>
          <p:cNvPr id="30" name="Shape 28"/>
          <p:cNvSpPr/>
          <p:nvPr/>
        </p:nvSpPr>
        <p:spPr>
          <a:xfrm>
            <a:off x="4005072" y="1481328"/>
            <a:ext cx="3703320" cy="3877056"/>
          </a:xfrm>
          <a:prstGeom prst="roundRect">
            <a:avLst>
              <a:gd name="adj" fmla="val 1975"/>
            </a:avLst>
          </a:prstGeom>
          <a:solidFill>
            <a:srgbClr val="002D58"/>
          </a:solidFill>
          <a:ln w="12700">
            <a:solidFill>
              <a:srgbClr val="002D58"/>
            </a:solidFill>
            <a:prstDash val="solid"/>
          </a:ln>
        </p:spPr>
      </p:sp>
      <p:sp>
        <p:nvSpPr>
          <p:cNvPr id="31" name="Text 29"/>
          <p:cNvSpPr/>
          <p:nvPr/>
        </p:nvSpPr>
        <p:spPr>
          <a:xfrm>
            <a:off x="4370832" y="1810512"/>
            <a:ext cx="731520" cy="256032"/>
          </a:xfrm>
          <a:prstGeom prst="rect">
            <a:avLst/>
          </a:prstGeom>
          <a:noFill/>
          <a:ln/>
        </p:spPr>
        <p:txBody>
          <a:bodyPr wrap="square" lIns="0" tIns="0" rIns="0" bIns="0" rtlCol="0" anchor="ctr"/>
          <a:lstStyle/>
          <a:p>
            <a:pPr indent="0" marL="0">
              <a:buNone/>
            </a:pPr>
            <a:r>
              <a:rPr lang="en-US" sz="1200" b="1" spc="140" kern="0" dirty="0">
                <a:solidFill>
                  <a:srgbClr val="FEC82F"/>
                </a:solidFill>
              </a:rPr>
              <a:t>API</a:t>
            </a:r>
            <a:endParaRPr lang="en-US" sz="1200" dirty="0"/>
          </a:p>
        </p:txBody>
      </p:sp>
      <p:sp>
        <p:nvSpPr>
          <p:cNvPr id="32" name="Text 30"/>
          <p:cNvSpPr/>
          <p:nvPr/>
        </p:nvSpPr>
        <p:spPr>
          <a:xfrm>
            <a:off x="4370832" y="2212848"/>
            <a:ext cx="2880360" cy="786384"/>
          </a:xfrm>
          <a:prstGeom prst="rect">
            <a:avLst/>
          </a:prstGeom>
          <a:noFill/>
          <a:ln/>
        </p:spPr>
        <p:txBody>
          <a:bodyPr wrap="square" lIns="0" tIns="0" rIns="0" bIns="0" rtlCol="0" anchor="ctr"/>
          <a:lstStyle/>
          <a:p>
            <a:pPr indent="0" marL="0">
              <a:buNone/>
            </a:pPr>
            <a:r>
              <a:rPr lang="en-US" sz="2400" b="1" dirty="0">
                <a:solidFill>
                  <a:srgbClr val="FFFFFF"/>
                </a:solidFill>
              </a:rPr>
              <a:t>Anticorrupción</a:t>
            </a:r>
            <a:endParaRPr lang="en-US" sz="2400" dirty="0"/>
          </a:p>
          <a:p>
            <a:pPr indent="0" marL="0">
              <a:buNone/>
            </a:pPr>
            <a:r>
              <a:rPr lang="en-US" sz="2400" b="1" dirty="0">
                <a:solidFill>
                  <a:srgbClr val="FFFFFF"/>
                </a:solidFill>
              </a:rPr>
              <a:t>Colombia</a:t>
            </a:r>
            <a:endParaRPr lang="en-US" sz="2400" dirty="0"/>
          </a:p>
        </p:txBody>
      </p:sp>
      <p:sp>
        <p:nvSpPr>
          <p:cNvPr id="33" name="Text 31"/>
          <p:cNvSpPr/>
          <p:nvPr/>
        </p:nvSpPr>
        <p:spPr>
          <a:xfrm>
            <a:off x="4370832" y="3246120"/>
            <a:ext cx="2907792" cy="841248"/>
          </a:xfrm>
          <a:prstGeom prst="rect">
            <a:avLst/>
          </a:prstGeom>
          <a:noFill/>
          <a:ln/>
        </p:spPr>
        <p:txBody>
          <a:bodyPr wrap="square" lIns="0" tIns="0" rIns="0" bIns="0" rtlCol="0" anchor="ctr"/>
          <a:lstStyle/>
          <a:p>
            <a:pPr indent="0" marL="0">
              <a:buNone/>
            </a:pPr>
            <a:r>
              <a:rPr lang="en-US" sz="1000" dirty="0">
                <a:solidFill>
                  <a:srgbClr val="DCE7F3"/>
                </a:solidFill>
              </a:rPr>
              <a:t>Bun + Elysia · SQLite</a:t>
            </a:r>
            <a:endParaRPr lang="en-US" sz="1000" dirty="0"/>
          </a:p>
          <a:p>
            <a:pPr indent="0" marL="0">
              <a:buNone/>
            </a:pPr>
            <a:r>
              <a:rPr lang="en-US" sz="1000" dirty="0">
                <a:solidFill>
                  <a:srgbClr val="DCE7F3"/>
                </a:solidFill>
              </a:rPr>
              <a:t>Normalización · índices · búsqueda unificada</a:t>
            </a:r>
            <a:endParaRPr lang="en-US" sz="1000" dirty="0"/>
          </a:p>
          <a:p>
            <a:pPr indent="0" marL="0">
              <a:buNone/>
            </a:pPr>
            <a:r>
              <a:rPr lang="en-US" sz="1000" dirty="0">
                <a:solidFill>
                  <a:srgbClr val="DCE7F3"/>
                </a:solidFill>
              </a:rPr>
              <a:t>Documentación Swagger</a:t>
            </a:r>
            <a:endParaRPr lang="en-US" sz="1000" dirty="0"/>
          </a:p>
        </p:txBody>
      </p:sp>
      <p:sp>
        <p:nvSpPr>
          <p:cNvPr id="34" name="Shape 32"/>
          <p:cNvSpPr/>
          <p:nvPr/>
        </p:nvSpPr>
        <p:spPr>
          <a:xfrm>
            <a:off x="4572000" y="4462272"/>
            <a:ext cx="1325880" cy="310896"/>
          </a:xfrm>
          <a:prstGeom prst="roundRect">
            <a:avLst>
              <a:gd name="adj" fmla="val 23529"/>
            </a:avLst>
          </a:prstGeom>
          <a:solidFill>
            <a:srgbClr val="FFF9DF"/>
          </a:solidFill>
          <a:ln w="10160">
            <a:solidFill>
              <a:srgbClr val="FEC82F"/>
            </a:solidFill>
            <a:prstDash val="solid"/>
          </a:ln>
        </p:spPr>
      </p:sp>
      <p:sp>
        <p:nvSpPr>
          <p:cNvPr id="35" name="Text 33"/>
          <p:cNvSpPr/>
          <p:nvPr/>
        </p:nvSpPr>
        <p:spPr>
          <a:xfrm>
            <a:off x="4645152" y="4526280"/>
            <a:ext cx="1179576" cy="146304"/>
          </a:xfrm>
          <a:prstGeom prst="rect">
            <a:avLst/>
          </a:prstGeom>
          <a:noFill/>
          <a:ln/>
        </p:spPr>
        <p:txBody>
          <a:bodyPr wrap="square" lIns="0" tIns="0" rIns="0" bIns="0" rtlCol="0" anchor="ctr"/>
          <a:lstStyle/>
          <a:p>
            <a:pPr algn="ctr" indent="0" marL="0">
              <a:buNone/>
            </a:pPr>
            <a:r>
              <a:rPr lang="en-US" sz="680" b="1" dirty="0">
                <a:solidFill>
                  <a:srgbClr val="FEC82F"/>
                </a:solidFill>
                <a:latin typeface="Montserrat" pitchFamily="34" charset="0"/>
                <a:ea typeface="Montserrat" pitchFamily="34" charset="-122"/>
                <a:cs typeface="Montserrat" pitchFamily="34" charset="-120"/>
              </a:rPr>
              <a:t>REUTILIZABLE</a:t>
            </a:r>
            <a:endParaRPr lang="en-US" sz="680" dirty="0"/>
          </a:p>
        </p:txBody>
      </p:sp>
      <p:sp>
        <p:nvSpPr>
          <p:cNvPr id="36" name="Shape 34"/>
          <p:cNvSpPr/>
          <p:nvPr/>
        </p:nvSpPr>
        <p:spPr>
          <a:xfrm>
            <a:off x="6053328" y="4462272"/>
            <a:ext cx="1261872" cy="310896"/>
          </a:xfrm>
          <a:prstGeom prst="roundRect">
            <a:avLst>
              <a:gd name="adj" fmla="val 23529"/>
            </a:avLst>
          </a:prstGeom>
          <a:solidFill>
            <a:srgbClr val="EAF7F1"/>
          </a:solidFill>
          <a:ln w="10160">
            <a:solidFill>
              <a:srgbClr val="16865A"/>
            </a:solidFill>
            <a:prstDash val="solid"/>
          </a:ln>
        </p:spPr>
      </p:sp>
      <p:sp>
        <p:nvSpPr>
          <p:cNvPr id="37" name="Text 35"/>
          <p:cNvSpPr/>
          <p:nvPr/>
        </p:nvSpPr>
        <p:spPr>
          <a:xfrm>
            <a:off x="6126480" y="4526280"/>
            <a:ext cx="1115568" cy="146304"/>
          </a:xfrm>
          <a:prstGeom prst="rect">
            <a:avLst/>
          </a:prstGeom>
          <a:noFill/>
          <a:ln/>
        </p:spPr>
        <p:txBody>
          <a:bodyPr wrap="square" lIns="0" tIns="0" rIns="0" bIns="0" rtlCol="0" anchor="ctr"/>
          <a:lstStyle/>
          <a:p>
            <a:pPr algn="ctr" indent="0" marL="0">
              <a:buNone/>
            </a:pPr>
            <a:r>
              <a:rPr lang="en-US" sz="680" b="1" dirty="0">
                <a:solidFill>
                  <a:srgbClr val="16865A"/>
                </a:solidFill>
                <a:latin typeface="Montserrat" pitchFamily="34" charset="0"/>
                <a:ea typeface="Montserrat" pitchFamily="34" charset="-122"/>
                <a:cs typeface="Montserrat" pitchFamily="34" charset="-120"/>
              </a:rPr>
              <a:t>DESACOPLADA</a:t>
            </a:r>
            <a:endParaRPr lang="en-US" sz="680" dirty="0"/>
          </a:p>
        </p:txBody>
      </p:sp>
      <p:sp>
        <p:nvSpPr>
          <p:cNvPr id="38" name="Text 36"/>
          <p:cNvSpPr/>
          <p:nvPr/>
        </p:nvSpPr>
        <p:spPr>
          <a:xfrm>
            <a:off x="4407408" y="5010912"/>
            <a:ext cx="2880360" cy="182880"/>
          </a:xfrm>
          <a:prstGeom prst="rect">
            <a:avLst/>
          </a:prstGeom>
          <a:noFill/>
          <a:ln/>
        </p:spPr>
        <p:txBody>
          <a:bodyPr wrap="square" lIns="0" tIns="0" rIns="0" bIns="0" rtlCol="0" anchor="ctr"/>
          <a:lstStyle/>
          <a:p>
            <a:pPr algn="ctr" indent="0" marL="0">
              <a:buNone/>
            </a:pPr>
            <a:r>
              <a:rPr lang="en-US" sz="780" b="1" dirty="0">
                <a:solidFill>
                  <a:srgbClr val="FFFFFF"/>
                </a:solidFill>
              </a:rPr>
              <a:t>Un servicio independiente de la interfaz web</a:t>
            </a:r>
            <a:endParaRPr lang="en-US" sz="780" dirty="0"/>
          </a:p>
        </p:txBody>
      </p:sp>
      <p:sp>
        <p:nvSpPr>
          <p:cNvPr id="39" name="Shape 37"/>
          <p:cNvSpPr/>
          <p:nvPr/>
        </p:nvSpPr>
        <p:spPr>
          <a:xfrm>
            <a:off x="7891272" y="3200400"/>
            <a:ext cx="365760" cy="329184"/>
          </a:xfrm>
          <a:prstGeom prst="chevron">
            <a:avLst/>
          </a:prstGeom>
          <a:solidFill>
            <a:srgbClr val="FEC82F"/>
          </a:solidFill>
          <a:ln w="12700">
            <a:solidFill>
              <a:srgbClr val="FEC82F"/>
            </a:solidFill>
            <a:prstDash val="solid"/>
          </a:ln>
        </p:spPr>
      </p:sp>
      <p:sp>
        <p:nvSpPr>
          <p:cNvPr id="40" name="Shape 38"/>
          <p:cNvSpPr/>
          <p:nvPr/>
        </p:nvSpPr>
        <p:spPr>
          <a:xfrm>
            <a:off x="8430768" y="1481328"/>
            <a:ext cx="3154680" cy="1874520"/>
          </a:xfrm>
          <a:prstGeom prst="roundRect">
            <a:avLst>
              <a:gd name="adj" fmla="val 3902"/>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41" name="Shape 39"/>
          <p:cNvSpPr/>
          <p:nvPr/>
        </p:nvSpPr>
        <p:spPr>
          <a:xfrm>
            <a:off x="8430768" y="1481328"/>
            <a:ext cx="64008" cy="1874520"/>
          </a:xfrm>
          <a:prstGeom prst="rect">
            <a:avLst/>
          </a:prstGeom>
          <a:solidFill>
            <a:srgbClr val="004884"/>
          </a:solidFill>
          <a:ln w="12700">
            <a:solidFill>
              <a:srgbClr val="004884"/>
            </a:solidFill>
            <a:prstDash val="solid"/>
          </a:ln>
        </p:spPr>
      </p:sp>
      <p:sp>
        <p:nvSpPr>
          <p:cNvPr id="42" name="Text 40"/>
          <p:cNvSpPr/>
          <p:nvPr/>
        </p:nvSpPr>
        <p:spPr>
          <a:xfrm>
            <a:off x="8631936" y="1645920"/>
            <a:ext cx="2788920" cy="292608"/>
          </a:xfrm>
          <a:prstGeom prst="rect">
            <a:avLst/>
          </a:prstGeom>
          <a:noFill/>
          <a:ln/>
        </p:spPr>
        <p:txBody>
          <a:bodyPr wrap="square" lIns="0" tIns="0" rIns="0" bIns="0" rtlCol="0" anchor="ctr"/>
          <a:lstStyle/>
          <a:p>
            <a:pPr indent="0" marL="0">
              <a:buNone/>
            </a:pPr>
            <a:r>
              <a:rPr lang="en-US" sz="1150" b="1" dirty="0">
                <a:solidFill>
                  <a:srgbClr val="002D58"/>
                </a:solidFill>
                <a:latin typeface="Montserrat" pitchFamily="34" charset="0"/>
                <a:ea typeface="Montserrat" pitchFamily="34" charset="-122"/>
                <a:cs typeface="Montserrat" pitchFamily="34" charset="-120"/>
              </a:rPr>
              <a:t>Endpoints principales</a:t>
            </a:r>
            <a:endParaRPr lang="en-US" sz="1150" dirty="0"/>
          </a:p>
        </p:txBody>
      </p:sp>
      <p:sp>
        <p:nvSpPr>
          <p:cNvPr id="43" name="Text 41"/>
          <p:cNvSpPr/>
          <p:nvPr/>
        </p:nvSpPr>
        <p:spPr>
          <a:xfrm>
            <a:off x="8631936" y="2011680"/>
            <a:ext cx="2788920" cy="1216152"/>
          </a:xfrm>
          <a:prstGeom prst="rect">
            <a:avLst/>
          </a:prstGeom>
          <a:noFill/>
          <a:ln/>
        </p:spPr>
        <p:txBody>
          <a:bodyPr wrap="square" lIns="0" tIns="0" rIns="0" bIns="0" rtlCol="0" anchor="t">
            <a:normAutofit/>
          </a:bodyPr>
          <a:lstStyle/>
          <a:p>
            <a:pPr indent="0" marL="0">
              <a:buNone/>
            </a:pPr>
            <a:r>
              <a:rPr lang="en-US" sz="820" dirty="0">
                <a:solidFill>
                  <a:srgbClr val="172033"/>
                </a:solidFill>
                <a:latin typeface="Montserrat" pitchFamily="34" charset="0"/>
                <a:ea typeface="Montserrat" pitchFamily="34" charset="-122"/>
                <a:cs typeface="Montserrat" pitchFamily="34" charset="-120"/>
              </a:rPr>
              <a:t>/search — búsqueda en todas las bases</a:t>
            </a:r>
            <a:endParaRPr lang="en-US" sz="820" dirty="0"/>
          </a:p>
          <a:p>
            <a:pPr indent="0" marL="0">
              <a:buNone/>
            </a:pPr>
            <a:r>
              <a:rPr lang="en-US" sz="820" dirty="0">
                <a:solidFill>
                  <a:srgbClr val="172033"/>
                </a:solidFill>
                <a:latin typeface="Montserrat" pitchFamily="34" charset="0"/>
                <a:ea typeface="Montserrat" pitchFamily="34" charset="-122"/>
                <a:cs typeface="Montserrat" pitchFamily="34" charset="-120"/>
              </a:rPr>
              <a:t>/persona/:documento — perfil integral</a:t>
            </a:r>
            <a:endParaRPr lang="en-US" sz="820" dirty="0"/>
          </a:p>
          <a:p>
            <a:pPr indent="0" marL="0">
              <a:buNone/>
            </a:pPr>
            <a:r>
              <a:rPr lang="en-US" sz="820" dirty="0">
                <a:solidFill>
                  <a:srgbClr val="172033"/>
                </a:solidFill>
                <a:latin typeface="Montserrat" pitchFamily="34" charset="0"/>
                <a:ea typeface="Montserrat" pitchFamily="34" charset="-122"/>
                <a:cs typeface="Montserrat" pitchFamily="34" charset="-120"/>
              </a:rPr>
              <a:t>/stats — indicadores consolidados</a:t>
            </a:r>
            <a:endParaRPr lang="en-US" sz="820" dirty="0"/>
          </a:p>
          <a:p>
            <a:pPr indent="0" marL="0">
              <a:buNone/>
            </a:pPr>
            <a:r>
              <a:rPr lang="en-US" sz="820" dirty="0">
                <a:solidFill>
                  <a:srgbClr val="172033"/>
                </a:solidFill>
                <a:latin typeface="Montserrat" pitchFamily="34" charset="0"/>
                <a:ea typeface="Montserrat" pitchFamily="34" charset="-122"/>
                <a:cs typeface="Montserrat" pitchFamily="34" charset="-120"/>
              </a:rPr>
              <a:t>/rutas especializadas — fiscal, disciplinario, penal, multas y obras</a:t>
            </a:r>
            <a:endParaRPr lang="en-US" sz="820" dirty="0"/>
          </a:p>
        </p:txBody>
      </p:sp>
      <p:sp>
        <p:nvSpPr>
          <p:cNvPr id="44" name="Shape 42"/>
          <p:cNvSpPr/>
          <p:nvPr/>
        </p:nvSpPr>
        <p:spPr>
          <a:xfrm>
            <a:off x="8430768" y="3639312"/>
            <a:ext cx="3154680" cy="1719072"/>
          </a:xfrm>
          <a:prstGeom prst="roundRect">
            <a:avLst>
              <a:gd name="adj" fmla="val 425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45" name="Shape 43"/>
          <p:cNvSpPr/>
          <p:nvPr/>
        </p:nvSpPr>
        <p:spPr>
          <a:xfrm>
            <a:off x="8430768" y="3639312"/>
            <a:ext cx="64008" cy="1719072"/>
          </a:xfrm>
          <a:prstGeom prst="rect">
            <a:avLst/>
          </a:prstGeom>
          <a:solidFill>
            <a:srgbClr val="16865A"/>
          </a:solidFill>
          <a:ln w="12700">
            <a:solidFill>
              <a:srgbClr val="16865A"/>
            </a:solidFill>
            <a:prstDash val="solid"/>
          </a:ln>
        </p:spPr>
      </p:sp>
      <p:sp>
        <p:nvSpPr>
          <p:cNvPr id="46" name="Text 44"/>
          <p:cNvSpPr/>
          <p:nvPr/>
        </p:nvSpPr>
        <p:spPr>
          <a:xfrm>
            <a:off x="8631936" y="3803904"/>
            <a:ext cx="2788920" cy="292608"/>
          </a:xfrm>
          <a:prstGeom prst="rect">
            <a:avLst/>
          </a:prstGeom>
          <a:noFill/>
          <a:ln/>
        </p:spPr>
        <p:txBody>
          <a:bodyPr wrap="square" lIns="0" tIns="0" rIns="0" bIns="0" rtlCol="0" anchor="ctr"/>
          <a:lstStyle/>
          <a:p>
            <a:pPr indent="0" marL="0">
              <a:buNone/>
            </a:pPr>
            <a:r>
              <a:rPr lang="en-US" sz="1150" b="1" dirty="0">
                <a:solidFill>
                  <a:srgbClr val="002D58"/>
                </a:solidFill>
                <a:latin typeface="Montserrat" pitchFamily="34" charset="0"/>
                <a:ea typeface="Montserrat" pitchFamily="34" charset="-122"/>
                <a:cs typeface="Montserrat" pitchFamily="34" charset="-120"/>
              </a:rPr>
              <a:t>Consumidores</a:t>
            </a:r>
            <a:endParaRPr lang="en-US" sz="1150" dirty="0"/>
          </a:p>
        </p:txBody>
      </p:sp>
      <p:sp>
        <p:nvSpPr>
          <p:cNvPr id="47" name="Text 45"/>
          <p:cNvSpPr/>
          <p:nvPr/>
        </p:nvSpPr>
        <p:spPr>
          <a:xfrm>
            <a:off x="8631936" y="4169664"/>
            <a:ext cx="2788920" cy="1060704"/>
          </a:xfrm>
          <a:prstGeom prst="rect">
            <a:avLst/>
          </a:prstGeom>
          <a:noFill/>
          <a:ln/>
        </p:spPr>
        <p:txBody>
          <a:bodyPr wrap="square" lIns="0" tIns="0" rIns="0" bIns="0" rtlCol="0" anchor="t">
            <a:normAutofit/>
          </a:bodyPr>
          <a:lstStyle/>
          <a:p>
            <a:pPr indent="0" marL="0">
              <a:buNone/>
            </a:pPr>
            <a:r>
              <a:rPr lang="en-US" sz="900" dirty="0">
                <a:solidFill>
                  <a:srgbClr val="172033"/>
                </a:solidFill>
                <a:latin typeface="Montserrat" pitchFamily="34" charset="0"/>
                <a:ea typeface="Montserrat" pitchFamily="34" charset="-122"/>
                <a:cs typeface="Montserrat" pitchFamily="34" charset="-120"/>
              </a:rPr>
              <a:t>Dashboard ciudadano</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Score de riesgo</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Asistente Hive Agents</a:t>
            </a:r>
            <a:endParaRPr lang="en-US" sz="900" dirty="0"/>
          </a:p>
          <a:p>
            <a:pPr indent="0" marL="0">
              <a:buNone/>
            </a:pPr>
            <a:r>
              <a:rPr lang="en-US" sz="900" dirty="0">
                <a:solidFill>
                  <a:srgbClr val="172033"/>
                </a:solidFill>
                <a:latin typeface="Montserrat" pitchFamily="34" charset="0"/>
                <a:ea typeface="Montserrat" pitchFamily="34" charset="-122"/>
                <a:cs typeface="Montserrat" pitchFamily="34" charset="-120"/>
              </a:rPr>
              <a:t>Entidades y aplicaciones externas</a:t>
            </a:r>
            <a:endParaRPr lang="en-US" sz="900" dirty="0"/>
          </a:p>
        </p:txBody>
      </p:sp>
      <p:sp>
        <p:nvSpPr>
          <p:cNvPr id="48" name="Shape 46"/>
          <p:cNvSpPr/>
          <p:nvPr/>
        </p:nvSpPr>
        <p:spPr>
          <a:xfrm>
            <a:off x="1024128" y="5687568"/>
            <a:ext cx="10195560" cy="493776"/>
          </a:xfrm>
          <a:prstGeom prst="roundRect">
            <a:avLst>
              <a:gd name="adj" fmla="val 7407"/>
            </a:avLst>
          </a:prstGeom>
          <a:solidFill>
            <a:srgbClr val="EDF3F8"/>
          </a:solidFill>
          <a:ln w="12700">
            <a:solidFill>
              <a:srgbClr val="D8E1EC"/>
            </a:solidFill>
            <a:prstDash val="solid"/>
          </a:ln>
        </p:spPr>
      </p:sp>
      <p:sp>
        <p:nvSpPr>
          <p:cNvPr id="49" name="Text 47"/>
          <p:cNvSpPr/>
          <p:nvPr/>
        </p:nvSpPr>
        <p:spPr>
          <a:xfrm>
            <a:off x="1298448" y="5852160"/>
            <a:ext cx="9646920" cy="164592"/>
          </a:xfrm>
          <a:prstGeom prst="rect">
            <a:avLst/>
          </a:prstGeom>
          <a:noFill/>
          <a:ln/>
        </p:spPr>
        <p:txBody>
          <a:bodyPr wrap="square" lIns="0" tIns="0" rIns="0" bIns="0" rtlCol="0" anchor="ctr"/>
          <a:lstStyle/>
          <a:p>
            <a:pPr algn="ctr" indent="0" marL="0">
              <a:buNone/>
            </a:pPr>
            <a:r>
              <a:rPr lang="en-US" sz="820" b="1" dirty="0">
                <a:solidFill>
                  <a:srgbClr val="002D58"/>
                </a:solidFill>
              </a:rPr>
              <a:t>VALOR AGREGADO · Una sola consulta devuelve antecedentes cruzados y evidencia estructurada, sin obligar al consumidor a integrar cinco fuentes.</a:t>
            </a:r>
            <a:endParaRPr lang="en-US" sz="82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PROPUESTA DE VALOR</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No entregamos otra tabla: entregamos contexto para actuar</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La ventaja está en combinar integración, explicación, anomalías y conversación en una sola experiencia.</a:t>
            </a:r>
            <a:endParaRPr lang="en-US" sz="950" dirty="0"/>
          </a:p>
        </p:txBody>
      </p:sp>
      <p:sp>
        <p:nvSpPr>
          <p:cNvPr id="5" name="Text 3"/>
          <p:cNvSpPr/>
          <p:nvPr/>
        </p:nvSpPr>
        <p:spPr>
          <a:xfrm>
            <a:off x="658368" y="1554480"/>
            <a:ext cx="1920240" cy="274320"/>
          </a:xfrm>
          <a:prstGeom prst="rect">
            <a:avLst/>
          </a:prstGeom>
          <a:noFill/>
          <a:ln/>
        </p:spPr>
        <p:txBody>
          <a:bodyPr wrap="square" lIns="0" tIns="0" rIns="0" bIns="0" rtlCol="0" anchor="ctr"/>
          <a:lstStyle/>
          <a:p>
            <a:pPr indent="0" marL="0">
              <a:buNone/>
            </a:pPr>
            <a:r>
              <a:rPr lang="en-US" sz="1100" b="1" spc="130" kern="0" dirty="0">
                <a:solidFill>
                  <a:srgbClr val="CE1126"/>
                </a:solidFill>
              </a:rPr>
              <a:t>ANTES</a:t>
            </a:r>
            <a:endParaRPr lang="en-US" sz="1100" dirty="0"/>
          </a:p>
        </p:txBody>
      </p:sp>
      <p:sp>
        <p:nvSpPr>
          <p:cNvPr id="6" name="Text 4"/>
          <p:cNvSpPr/>
          <p:nvPr/>
        </p:nvSpPr>
        <p:spPr>
          <a:xfrm>
            <a:off x="6355080" y="1554480"/>
            <a:ext cx="2926080" cy="274320"/>
          </a:xfrm>
          <a:prstGeom prst="rect">
            <a:avLst/>
          </a:prstGeom>
          <a:noFill/>
          <a:ln/>
        </p:spPr>
        <p:txBody>
          <a:bodyPr wrap="square" lIns="0" tIns="0" rIns="0" bIns="0" rtlCol="0" anchor="ctr"/>
          <a:lstStyle/>
          <a:p>
            <a:pPr indent="0" marL="0">
              <a:buNone/>
            </a:pPr>
            <a:r>
              <a:rPr lang="en-US" sz="1100" b="1" spc="130" kern="0" dirty="0">
                <a:solidFill>
                  <a:srgbClr val="16865A"/>
                </a:solidFill>
              </a:rPr>
              <a:t>CON EL OBSERVATORIO</a:t>
            </a:r>
            <a:endParaRPr lang="en-US" sz="1100" dirty="0"/>
          </a:p>
        </p:txBody>
      </p:sp>
      <p:sp>
        <p:nvSpPr>
          <p:cNvPr id="7" name="Shape 5"/>
          <p:cNvSpPr/>
          <p:nvPr/>
        </p:nvSpPr>
        <p:spPr>
          <a:xfrm>
            <a:off x="658368" y="2029968"/>
            <a:ext cx="4526280" cy="530352"/>
          </a:xfrm>
          <a:prstGeom prst="roundRect">
            <a:avLst>
              <a:gd name="adj" fmla="val 6897"/>
            </a:avLst>
          </a:prstGeom>
          <a:solidFill>
            <a:srgbClr val="FDEBEC"/>
          </a:solidFill>
          <a:ln w="12700">
            <a:solidFill>
              <a:srgbClr val="F5C4CA"/>
            </a:solidFill>
            <a:prstDash val="solid"/>
          </a:ln>
        </p:spPr>
      </p:sp>
      <p:sp>
        <p:nvSpPr>
          <p:cNvPr id="8" name="Text 6"/>
          <p:cNvSpPr/>
          <p:nvPr/>
        </p:nvSpPr>
        <p:spPr>
          <a:xfrm>
            <a:off x="896112" y="2194560"/>
            <a:ext cx="4023360" cy="164592"/>
          </a:xfrm>
          <a:prstGeom prst="rect">
            <a:avLst/>
          </a:prstGeom>
          <a:noFill/>
          <a:ln/>
        </p:spPr>
        <p:txBody>
          <a:bodyPr wrap="square" lIns="0" tIns="0" rIns="0" bIns="0" rtlCol="0" anchor="ctr"/>
          <a:lstStyle/>
          <a:p>
            <a:pPr indent="0" marL="0">
              <a:buNone/>
            </a:pPr>
            <a:r>
              <a:rPr lang="en-US" sz="1000" dirty="0">
                <a:solidFill>
                  <a:srgbClr val="172033"/>
                </a:solidFill>
              </a:rPr>
              <a:t>Buscar fuente por fuente</a:t>
            </a:r>
            <a:endParaRPr lang="en-US" sz="1000" dirty="0"/>
          </a:p>
        </p:txBody>
      </p:sp>
      <p:sp>
        <p:nvSpPr>
          <p:cNvPr id="9" name="Shape 7"/>
          <p:cNvSpPr/>
          <p:nvPr/>
        </p:nvSpPr>
        <p:spPr>
          <a:xfrm>
            <a:off x="5376672" y="2121408"/>
            <a:ext cx="566928" cy="329184"/>
          </a:xfrm>
          <a:prstGeom prst="chevron">
            <a:avLst/>
          </a:prstGeom>
          <a:solidFill>
            <a:srgbClr val="FEC82F"/>
          </a:solidFill>
          <a:ln w="12700">
            <a:solidFill>
              <a:srgbClr val="FEC82F"/>
            </a:solidFill>
            <a:prstDash val="solid"/>
          </a:ln>
        </p:spPr>
      </p:sp>
      <p:sp>
        <p:nvSpPr>
          <p:cNvPr id="10" name="Shape 8"/>
          <p:cNvSpPr/>
          <p:nvPr/>
        </p:nvSpPr>
        <p:spPr>
          <a:xfrm>
            <a:off x="6144768" y="2029968"/>
            <a:ext cx="5349240" cy="530352"/>
          </a:xfrm>
          <a:prstGeom prst="roundRect">
            <a:avLst>
              <a:gd name="adj" fmla="val 6897"/>
            </a:avLst>
          </a:prstGeom>
          <a:solidFill>
            <a:srgbClr val="EAF7F1"/>
          </a:solidFill>
          <a:ln w="12700">
            <a:solidFill>
              <a:srgbClr val="B8DEC9"/>
            </a:solidFill>
            <a:prstDash val="solid"/>
          </a:ln>
        </p:spPr>
      </p:sp>
      <p:sp>
        <p:nvSpPr>
          <p:cNvPr id="11" name="Text 9"/>
          <p:cNvSpPr/>
          <p:nvPr/>
        </p:nvSpPr>
        <p:spPr>
          <a:xfrm>
            <a:off x="6382512" y="2194560"/>
            <a:ext cx="4846320" cy="164592"/>
          </a:xfrm>
          <a:prstGeom prst="rect">
            <a:avLst/>
          </a:prstGeom>
          <a:noFill/>
          <a:ln/>
        </p:spPr>
        <p:txBody>
          <a:bodyPr wrap="square" lIns="0" tIns="0" rIns="0" bIns="0" rtlCol="0" anchor="ctr"/>
          <a:lstStyle/>
          <a:p>
            <a:pPr indent="0" marL="0">
              <a:buNone/>
            </a:pPr>
            <a:r>
              <a:rPr lang="en-US" sz="1000" b="1" dirty="0">
                <a:solidFill>
                  <a:srgbClr val="002D58"/>
                </a:solidFill>
              </a:rPr>
              <a:t>Consulta integrada por NIT, nombre o sector</a:t>
            </a:r>
            <a:endParaRPr lang="en-US" sz="1000" dirty="0"/>
          </a:p>
        </p:txBody>
      </p:sp>
      <p:sp>
        <p:nvSpPr>
          <p:cNvPr id="12" name="Shape 10"/>
          <p:cNvSpPr/>
          <p:nvPr/>
        </p:nvSpPr>
        <p:spPr>
          <a:xfrm>
            <a:off x="658368" y="2779776"/>
            <a:ext cx="4526280" cy="530352"/>
          </a:xfrm>
          <a:prstGeom prst="roundRect">
            <a:avLst>
              <a:gd name="adj" fmla="val 6897"/>
            </a:avLst>
          </a:prstGeom>
          <a:solidFill>
            <a:srgbClr val="FDEBEC"/>
          </a:solidFill>
          <a:ln w="12700">
            <a:solidFill>
              <a:srgbClr val="F5C4CA"/>
            </a:solidFill>
            <a:prstDash val="solid"/>
          </a:ln>
        </p:spPr>
      </p:sp>
      <p:sp>
        <p:nvSpPr>
          <p:cNvPr id="13" name="Text 11"/>
          <p:cNvSpPr/>
          <p:nvPr/>
        </p:nvSpPr>
        <p:spPr>
          <a:xfrm>
            <a:off x="896112" y="2944368"/>
            <a:ext cx="4023360" cy="164592"/>
          </a:xfrm>
          <a:prstGeom prst="rect">
            <a:avLst/>
          </a:prstGeom>
          <a:noFill/>
          <a:ln/>
        </p:spPr>
        <p:txBody>
          <a:bodyPr wrap="square" lIns="0" tIns="0" rIns="0" bIns="0" rtlCol="0" anchor="ctr"/>
          <a:lstStyle/>
          <a:p>
            <a:pPr indent="0" marL="0">
              <a:buNone/>
            </a:pPr>
            <a:r>
              <a:rPr lang="en-US" sz="1000" dirty="0">
                <a:solidFill>
                  <a:srgbClr val="172033"/>
                </a:solidFill>
              </a:rPr>
              <a:t>Interpretar códigos y columnas</a:t>
            </a:r>
            <a:endParaRPr lang="en-US" sz="1000" dirty="0"/>
          </a:p>
        </p:txBody>
      </p:sp>
      <p:sp>
        <p:nvSpPr>
          <p:cNvPr id="14" name="Shape 12"/>
          <p:cNvSpPr/>
          <p:nvPr/>
        </p:nvSpPr>
        <p:spPr>
          <a:xfrm>
            <a:off x="5376672" y="2871216"/>
            <a:ext cx="566928" cy="329184"/>
          </a:xfrm>
          <a:prstGeom prst="chevron">
            <a:avLst/>
          </a:prstGeom>
          <a:solidFill>
            <a:srgbClr val="FEC82F"/>
          </a:solidFill>
          <a:ln w="12700">
            <a:solidFill>
              <a:srgbClr val="FEC82F"/>
            </a:solidFill>
            <a:prstDash val="solid"/>
          </a:ln>
        </p:spPr>
      </p:sp>
      <p:sp>
        <p:nvSpPr>
          <p:cNvPr id="15" name="Shape 13"/>
          <p:cNvSpPr/>
          <p:nvPr/>
        </p:nvSpPr>
        <p:spPr>
          <a:xfrm>
            <a:off x="6144768" y="2779776"/>
            <a:ext cx="5349240" cy="530352"/>
          </a:xfrm>
          <a:prstGeom prst="roundRect">
            <a:avLst>
              <a:gd name="adj" fmla="val 6897"/>
            </a:avLst>
          </a:prstGeom>
          <a:solidFill>
            <a:srgbClr val="EAF7F1"/>
          </a:solidFill>
          <a:ln w="12700">
            <a:solidFill>
              <a:srgbClr val="B8DEC9"/>
            </a:solidFill>
            <a:prstDash val="solid"/>
          </a:ln>
        </p:spPr>
      </p:sp>
      <p:sp>
        <p:nvSpPr>
          <p:cNvPr id="16" name="Text 14"/>
          <p:cNvSpPr/>
          <p:nvPr/>
        </p:nvSpPr>
        <p:spPr>
          <a:xfrm>
            <a:off x="6382512" y="2944368"/>
            <a:ext cx="4846320" cy="164592"/>
          </a:xfrm>
          <a:prstGeom prst="rect">
            <a:avLst/>
          </a:prstGeom>
          <a:noFill/>
          <a:ln/>
        </p:spPr>
        <p:txBody>
          <a:bodyPr wrap="square" lIns="0" tIns="0" rIns="0" bIns="0" rtlCol="0" anchor="ctr"/>
          <a:lstStyle/>
          <a:p>
            <a:pPr indent="0" marL="0">
              <a:buNone/>
            </a:pPr>
            <a:r>
              <a:rPr lang="en-US" sz="1000" b="1" dirty="0">
                <a:solidFill>
                  <a:srgbClr val="002D58"/>
                </a:solidFill>
              </a:rPr>
              <a:t>Banderas legibles con puntos y evidencia</a:t>
            </a:r>
            <a:endParaRPr lang="en-US" sz="1000" dirty="0"/>
          </a:p>
        </p:txBody>
      </p:sp>
      <p:sp>
        <p:nvSpPr>
          <p:cNvPr id="17" name="Shape 15"/>
          <p:cNvSpPr/>
          <p:nvPr/>
        </p:nvSpPr>
        <p:spPr>
          <a:xfrm>
            <a:off x="658368" y="3529584"/>
            <a:ext cx="4526280" cy="530352"/>
          </a:xfrm>
          <a:prstGeom prst="roundRect">
            <a:avLst>
              <a:gd name="adj" fmla="val 6897"/>
            </a:avLst>
          </a:prstGeom>
          <a:solidFill>
            <a:srgbClr val="FDEBEC"/>
          </a:solidFill>
          <a:ln w="12700">
            <a:solidFill>
              <a:srgbClr val="F5C4CA"/>
            </a:solidFill>
            <a:prstDash val="solid"/>
          </a:ln>
        </p:spPr>
      </p:sp>
      <p:sp>
        <p:nvSpPr>
          <p:cNvPr id="18" name="Text 16"/>
          <p:cNvSpPr/>
          <p:nvPr/>
        </p:nvSpPr>
        <p:spPr>
          <a:xfrm>
            <a:off x="896112" y="3694176"/>
            <a:ext cx="4023360" cy="164592"/>
          </a:xfrm>
          <a:prstGeom prst="rect">
            <a:avLst/>
          </a:prstGeom>
          <a:noFill/>
          <a:ln/>
        </p:spPr>
        <p:txBody>
          <a:bodyPr wrap="square" lIns="0" tIns="0" rIns="0" bIns="0" rtlCol="0" anchor="ctr"/>
          <a:lstStyle/>
          <a:p>
            <a:pPr indent="0" marL="0">
              <a:buNone/>
            </a:pPr>
            <a:r>
              <a:rPr lang="en-US" sz="1000" dirty="0">
                <a:solidFill>
                  <a:srgbClr val="172033"/>
                </a:solidFill>
              </a:rPr>
              <a:t>Revisar sin prioridad</a:t>
            </a:r>
            <a:endParaRPr lang="en-US" sz="1000" dirty="0"/>
          </a:p>
        </p:txBody>
      </p:sp>
      <p:sp>
        <p:nvSpPr>
          <p:cNvPr id="19" name="Shape 17"/>
          <p:cNvSpPr/>
          <p:nvPr/>
        </p:nvSpPr>
        <p:spPr>
          <a:xfrm>
            <a:off x="5376672" y="3621024"/>
            <a:ext cx="566928" cy="329184"/>
          </a:xfrm>
          <a:prstGeom prst="chevron">
            <a:avLst/>
          </a:prstGeom>
          <a:solidFill>
            <a:srgbClr val="FEC82F"/>
          </a:solidFill>
          <a:ln w="12700">
            <a:solidFill>
              <a:srgbClr val="FEC82F"/>
            </a:solidFill>
            <a:prstDash val="solid"/>
          </a:ln>
        </p:spPr>
      </p:sp>
      <p:sp>
        <p:nvSpPr>
          <p:cNvPr id="20" name="Shape 18"/>
          <p:cNvSpPr/>
          <p:nvPr/>
        </p:nvSpPr>
        <p:spPr>
          <a:xfrm>
            <a:off x="6144768" y="3529584"/>
            <a:ext cx="5349240" cy="530352"/>
          </a:xfrm>
          <a:prstGeom prst="roundRect">
            <a:avLst>
              <a:gd name="adj" fmla="val 6897"/>
            </a:avLst>
          </a:prstGeom>
          <a:solidFill>
            <a:srgbClr val="EAF7F1"/>
          </a:solidFill>
          <a:ln w="12700">
            <a:solidFill>
              <a:srgbClr val="B8DEC9"/>
            </a:solidFill>
            <a:prstDash val="solid"/>
          </a:ln>
        </p:spPr>
      </p:sp>
      <p:sp>
        <p:nvSpPr>
          <p:cNvPr id="21" name="Text 19"/>
          <p:cNvSpPr/>
          <p:nvPr/>
        </p:nvSpPr>
        <p:spPr>
          <a:xfrm>
            <a:off x="6382512" y="3694176"/>
            <a:ext cx="4846320" cy="164592"/>
          </a:xfrm>
          <a:prstGeom prst="rect">
            <a:avLst/>
          </a:prstGeom>
          <a:noFill/>
          <a:ln/>
        </p:spPr>
        <p:txBody>
          <a:bodyPr wrap="square" lIns="0" tIns="0" rIns="0" bIns="0" rtlCol="0" anchor="ctr"/>
          <a:lstStyle/>
          <a:p>
            <a:pPr indent="0" marL="0">
              <a:buNone/>
            </a:pPr>
            <a:r>
              <a:rPr lang="en-US" sz="1000" b="1" dirty="0">
                <a:solidFill>
                  <a:srgbClr val="002D58"/>
                </a:solidFill>
              </a:rPr>
              <a:t>Semáforo para focalizar la revisión</a:t>
            </a:r>
            <a:endParaRPr lang="en-US" sz="1000" dirty="0"/>
          </a:p>
        </p:txBody>
      </p:sp>
      <p:sp>
        <p:nvSpPr>
          <p:cNvPr id="22" name="Shape 20"/>
          <p:cNvSpPr/>
          <p:nvPr/>
        </p:nvSpPr>
        <p:spPr>
          <a:xfrm>
            <a:off x="658368" y="4279392"/>
            <a:ext cx="4526280" cy="530352"/>
          </a:xfrm>
          <a:prstGeom prst="roundRect">
            <a:avLst>
              <a:gd name="adj" fmla="val 6897"/>
            </a:avLst>
          </a:prstGeom>
          <a:solidFill>
            <a:srgbClr val="FDEBEC"/>
          </a:solidFill>
          <a:ln w="12700">
            <a:solidFill>
              <a:srgbClr val="F5C4CA"/>
            </a:solidFill>
            <a:prstDash val="solid"/>
          </a:ln>
        </p:spPr>
      </p:sp>
      <p:sp>
        <p:nvSpPr>
          <p:cNvPr id="23" name="Text 21"/>
          <p:cNvSpPr/>
          <p:nvPr/>
        </p:nvSpPr>
        <p:spPr>
          <a:xfrm>
            <a:off x="896112" y="4443984"/>
            <a:ext cx="4023360" cy="164592"/>
          </a:xfrm>
          <a:prstGeom prst="rect">
            <a:avLst/>
          </a:prstGeom>
          <a:noFill/>
          <a:ln/>
        </p:spPr>
        <p:txBody>
          <a:bodyPr wrap="square" lIns="0" tIns="0" rIns="0" bIns="0" rtlCol="0" anchor="ctr"/>
          <a:lstStyle/>
          <a:p>
            <a:pPr indent="0" marL="0">
              <a:buNone/>
            </a:pPr>
            <a:r>
              <a:rPr lang="en-US" sz="1000" dirty="0">
                <a:solidFill>
                  <a:srgbClr val="172033"/>
                </a:solidFill>
              </a:rPr>
              <a:t>Necesitar lenguaje técnico</a:t>
            </a:r>
            <a:endParaRPr lang="en-US" sz="1000" dirty="0"/>
          </a:p>
        </p:txBody>
      </p:sp>
      <p:sp>
        <p:nvSpPr>
          <p:cNvPr id="24" name="Shape 22"/>
          <p:cNvSpPr/>
          <p:nvPr/>
        </p:nvSpPr>
        <p:spPr>
          <a:xfrm>
            <a:off x="5376672" y="4370832"/>
            <a:ext cx="566928" cy="329184"/>
          </a:xfrm>
          <a:prstGeom prst="chevron">
            <a:avLst/>
          </a:prstGeom>
          <a:solidFill>
            <a:srgbClr val="FEC82F"/>
          </a:solidFill>
          <a:ln w="12700">
            <a:solidFill>
              <a:srgbClr val="FEC82F"/>
            </a:solidFill>
            <a:prstDash val="solid"/>
          </a:ln>
        </p:spPr>
      </p:sp>
      <p:sp>
        <p:nvSpPr>
          <p:cNvPr id="25" name="Shape 23"/>
          <p:cNvSpPr/>
          <p:nvPr/>
        </p:nvSpPr>
        <p:spPr>
          <a:xfrm>
            <a:off x="6144768" y="4279392"/>
            <a:ext cx="5349240" cy="530352"/>
          </a:xfrm>
          <a:prstGeom prst="roundRect">
            <a:avLst>
              <a:gd name="adj" fmla="val 6897"/>
            </a:avLst>
          </a:prstGeom>
          <a:solidFill>
            <a:srgbClr val="EAF7F1"/>
          </a:solidFill>
          <a:ln w="12700">
            <a:solidFill>
              <a:srgbClr val="B8DEC9"/>
            </a:solidFill>
            <a:prstDash val="solid"/>
          </a:ln>
        </p:spPr>
      </p:sp>
      <p:sp>
        <p:nvSpPr>
          <p:cNvPr id="26" name="Text 24"/>
          <p:cNvSpPr/>
          <p:nvPr/>
        </p:nvSpPr>
        <p:spPr>
          <a:xfrm>
            <a:off x="6382512" y="4443984"/>
            <a:ext cx="4846320" cy="164592"/>
          </a:xfrm>
          <a:prstGeom prst="rect">
            <a:avLst/>
          </a:prstGeom>
          <a:noFill/>
          <a:ln/>
        </p:spPr>
        <p:txBody>
          <a:bodyPr wrap="square" lIns="0" tIns="0" rIns="0" bIns="0" rtlCol="0" anchor="ctr"/>
          <a:lstStyle/>
          <a:p>
            <a:pPr indent="0" marL="0">
              <a:buNone/>
            </a:pPr>
            <a:r>
              <a:rPr lang="en-US" sz="1000" b="1" dirty="0">
                <a:solidFill>
                  <a:srgbClr val="002D58"/>
                </a:solidFill>
              </a:rPr>
              <a:t>Preguntar en lenguaje natural</a:t>
            </a:r>
            <a:endParaRPr lang="en-US" sz="1000" dirty="0"/>
          </a:p>
        </p:txBody>
      </p:sp>
      <p:sp>
        <p:nvSpPr>
          <p:cNvPr id="27" name="Shape 25"/>
          <p:cNvSpPr/>
          <p:nvPr/>
        </p:nvSpPr>
        <p:spPr>
          <a:xfrm>
            <a:off x="658368" y="5285232"/>
            <a:ext cx="10835640" cy="658368"/>
          </a:xfrm>
          <a:prstGeom prst="roundRect">
            <a:avLst>
              <a:gd name="adj" fmla="val 6944"/>
            </a:avLst>
          </a:prstGeom>
          <a:solidFill>
            <a:srgbClr val="002D58"/>
          </a:solidFill>
          <a:ln w="12700">
            <a:solidFill>
              <a:srgbClr val="002D58"/>
            </a:solidFill>
            <a:prstDash val="solid"/>
          </a:ln>
        </p:spPr>
      </p:sp>
      <p:sp>
        <p:nvSpPr>
          <p:cNvPr id="28" name="Text 26"/>
          <p:cNvSpPr/>
          <p:nvPr/>
        </p:nvSpPr>
        <p:spPr>
          <a:xfrm>
            <a:off x="960120" y="5504688"/>
            <a:ext cx="10241280" cy="219456"/>
          </a:xfrm>
          <a:prstGeom prst="rect">
            <a:avLst/>
          </a:prstGeom>
          <a:noFill/>
          <a:ln/>
        </p:spPr>
        <p:txBody>
          <a:bodyPr wrap="square" lIns="0" tIns="0" rIns="0" bIns="0" rtlCol="0" anchor="ctr"/>
          <a:lstStyle/>
          <a:p>
            <a:pPr algn="ctr" indent="0" marL="0">
              <a:buNone/>
            </a:pPr>
            <a:r>
              <a:rPr lang="en-US" sz="1120" b="1" dirty="0">
                <a:solidFill>
                  <a:srgbClr val="FFFFFF"/>
                </a:solidFill>
              </a:rPr>
              <a:t>DIFERENCIAL: API reutilizable + reglas explicables + anomalías por sector + asistente con herramientas + trazabilidad</a:t>
            </a:r>
            <a:endParaRPr lang="en-US" sz="112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METODOLOGÍA</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CRISP-ML convirtió el prototipo en un proceso verificable</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El ciclo conecta la necesidad pública con datos, variables, evaluación y operación continua.</a:t>
            </a:r>
            <a:endParaRPr lang="en-US" sz="950" dirty="0"/>
          </a:p>
        </p:txBody>
      </p:sp>
      <p:sp>
        <p:nvSpPr>
          <p:cNvPr id="5" name="Shape 3"/>
          <p:cNvSpPr/>
          <p:nvPr/>
        </p:nvSpPr>
        <p:spPr>
          <a:xfrm>
            <a:off x="658368" y="1627632"/>
            <a:ext cx="3310128" cy="1417320"/>
          </a:xfrm>
          <a:prstGeom prst="roundRect">
            <a:avLst>
              <a:gd name="adj" fmla="val 3871"/>
            </a:avLst>
          </a:prstGeom>
          <a:solidFill>
            <a:srgbClr val="FFFFFF"/>
          </a:solidFill>
          <a:ln w="13970">
            <a:solidFill>
              <a:srgbClr val="D8E1EC"/>
            </a:solidFill>
            <a:prstDash val="solid"/>
          </a:ln>
        </p:spPr>
      </p:sp>
      <p:sp>
        <p:nvSpPr>
          <p:cNvPr id="6" name="Shape 4"/>
          <p:cNvSpPr/>
          <p:nvPr/>
        </p:nvSpPr>
        <p:spPr>
          <a:xfrm>
            <a:off x="859536" y="1856232"/>
            <a:ext cx="475488" cy="475488"/>
          </a:xfrm>
          <a:prstGeom prst="ellipse">
            <a:avLst/>
          </a:prstGeom>
          <a:solidFill>
            <a:srgbClr val="002D58"/>
          </a:solidFill>
          <a:ln w="12700">
            <a:solidFill>
              <a:srgbClr val="002D58"/>
            </a:solidFill>
            <a:prstDash val="solid"/>
          </a:ln>
        </p:spPr>
      </p:sp>
      <p:sp>
        <p:nvSpPr>
          <p:cNvPr id="7" name="Text 5"/>
          <p:cNvSpPr/>
          <p:nvPr/>
        </p:nvSpPr>
        <p:spPr>
          <a:xfrm>
            <a:off x="859536" y="2011680"/>
            <a:ext cx="475488" cy="109728"/>
          </a:xfrm>
          <a:prstGeom prst="rect">
            <a:avLst/>
          </a:prstGeom>
          <a:noFill/>
          <a:ln/>
        </p:spPr>
        <p:txBody>
          <a:bodyPr wrap="square" lIns="0" tIns="0" rIns="0" bIns="0" rtlCol="0" anchor="ctr"/>
          <a:lstStyle/>
          <a:p>
            <a:pPr algn="ctr" indent="0" marL="0">
              <a:buNone/>
            </a:pPr>
            <a:r>
              <a:rPr lang="en-US" sz="750" b="1" dirty="0">
                <a:solidFill>
                  <a:srgbClr val="FFFFFF"/>
                </a:solidFill>
              </a:rPr>
              <a:t>1</a:t>
            </a:r>
            <a:endParaRPr lang="en-US" sz="750" dirty="0"/>
          </a:p>
        </p:txBody>
      </p:sp>
      <p:sp>
        <p:nvSpPr>
          <p:cNvPr id="8" name="Text 6"/>
          <p:cNvSpPr/>
          <p:nvPr/>
        </p:nvSpPr>
        <p:spPr>
          <a:xfrm>
            <a:off x="1481328" y="1847088"/>
            <a:ext cx="2148840" cy="292608"/>
          </a:xfrm>
          <a:prstGeom prst="rect">
            <a:avLst/>
          </a:prstGeom>
          <a:noFill/>
          <a:ln/>
        </p:spPr>
        <p:txBody>
          <a:bodyPr wrap="square" lIns="0" tIns="0" rIns="0" bIns="0" rtlCol="0" anchor="ctr"/>
          <a:lstStyle/>
          <a:p>
            <a:pPr indent="0" marL="0">
              <a:buNone/>
            </a:pPr>
            <a:r>
              <a:rPr lang="en-US" sz="1300" b="1" dirty="0">
                <a:solidFill>
                  <a:srgbClr val="002D58"/>
                </a:solidFill>
              </a:rPr>
              <a:t>Comprender</a:t>
            </a:r>
            <a:endParaRPr lang="en-US" sz="1300" dirty="0"/>
          </a:p>
        </p:txBody>
      </p:sp>
      <p:sp>
        <p:nvSpPr>
          <p:cNvPr id="9" name="Text 7"/>
          <p:cNvSpPr/>
          <p:nvPr/>
        </p:nvSpPr>
        <p:spPr>
          <a:xfrm>
            <a:off x="859536" y="2468880"/>
            <a:ext cx="2907792" cy="310896"/>
          </a:xfrm>
          <a:prstGeom prst="rect">
            <a:avLst/>
          </a:prstGeom>
          <a:noFill/>
          <a:ln/>
        </p:spPr>
        <p:txBody>
          <a:bodyPr wrap="square" lIns="0" tIns="0" rIns="0" bIns="0" rtlCol="0" anchor="ctr"/>
          <a:lstStyle/>
          <a:p>
            <a:pPr algn="ctr" indent="0" marL="0">
              <a:buNone/>
            </a:pPr>
            <a:r>
              <a:rPr lang="en-US" sz="850" dirty="0">
                <a:solidFill>
                  <a:srgbClr val="5A677D"/>
                </a:solidFill>
              </a:rPr>
              <a:t>Reto, cliente y decisión</a:t>
            </a:r>
            <a:endParaRPr lang="en-US" sz="850" dirty="0"/>
          </a:p>
        </p:txBody>
      </p:sp>
      <p:sp>
        <p:nvSpPr>
          <p:cNvPr id="10" name="Shape 8"/>
          <p:cNvSpPr/>
          <p:nvPr/>
        </p:nvSpPr>
        <p:spPr>
          <a:xfrm>
            <a:off x="4041648" y="2157984"/>
            <a:ext cx="256032" cy="329184"/>
          </a:xfrm>
          <a:prstGeom prst="chevron">
            <a:avLst/>
          </a:prstGeom>
          <a:solidFill>
            <a:srgbClr val="FEC82F"/>
          </a:solidFill>
          <a:ln w="12700">
            <a:solidFill>
              <a:srgbClr val="FEC82F"/>
            </a:solidFill>
            <a:prstDash val="solid"/>
          </a:ln>
        </p:spPr>
      </p:sp>
      <p:sp>
        <p:nvSpPr>
          <p:cNvPr id="11" name="Shape 9"/>
          <p:cNvSpPr/>
          <p:nvPr/>
        </p:nvSpPr>
        <p:spPr>
          <a:xfrm>
            <a:off x="4453128" y="1627632"/>
            <a:ext cx="3310128" cy="1417320"/>
          </a:xfrm>
          <a:prstGeom prst="roundRect">
            <a:avLst>
              <a:gd name="adj" fmla="val 3871"/>
            </a:avLst>
          </a:prstGeom>
          <a:solidFill>
            <a:srgbClr val="FFFFFF"/>
          </a:solidFill>
          <a:ln w="13970">
            <a:solidFill>
              <a:srgbClr val="D8E1EC"/>
            </a:solidFill>
            <a:prstDash val="solid"/>
          </a:ln>
        </p:spPr>
      </p:sp>
      <p:sp>
        <p:nvSpPr>
          <p:cNvPr id="12" name="Shape 10"/>
          <p:cNvSpPr/>
          <p:nvPr/>
        </p:nvSpPr>
        <p:spPr>
          <a:xfrm>
            <a:off x="4654296" y="1856232"/>
            <a:ext cx="475488" cy="475488"/>
          </a:xfrm>
          <a:prstGeom prst="ellipse">
            <a:avLst/>
          </a:prstGeom>
          <a:solidFill>
            <a:srgbClr val="002D58"/>
          </a:solidFill>
          <a:ln w="12700">
            <a:solidFill>
              <a:srgbClr val="002D58"/>
            </a:solidFill>
            <a:prstDash val="solid"/>
          </a:ln>
        </p:spPr>
      </p:sp>
      <p:sp>
        <p:nvSpPr>
          <p:cNvPr id="13" name="Text 11"/>
          <p:cNvSpPr/>
          <p:nvPr/>
        </p:nvSpPr>
        <p:spPr>
          <a:xfrm>
            <a:off x="4654296" y="2011680"/>
            <a:ext cx="475488" cy="109728"/>
          </a:xfrm>
          <a:prstGeom prst="rect">
            <a:avLst/>
          </a:prstGeom>
          <a:noFill/>
          <a:ln/>
        </p:spPr>
        <p:txBody>
          <a:bodyPr wrap="square" lIns="0" tIns="0" rIns="0" bIns="0" rtlCol="0" anchor="ctr"/>
          <a:lstStyle/>
          <a:p>
            <a:pPr algn="ctr" indent="0" marL="0">
              <a:buNone/>
            </a:pPr>
            <a:r>
              <a:rPr lang="en-US" sz="750" b="1" dirty="0">
                <a:solidFill>
                  <a:srgbClr val="FFFFFF"/>
                </a:solidFill>
              </a:rPr>
              <a:t>2</a:t>
            </a:r>
            <a:endParaRPr lang="en-US" sz="750" dirty="0"/>
          </a:p>
        </p:txBody>
      </p:sp>
      <p:sp>
        <p:nvSpPr>
          <p:cNvPr id="14" name="Text 12"/>
          <p:cNvSpPr/>
          <p:nvPr/>
        </p:nvSpPr>
        <p:spPr>
          <a:xfrm>
            <a:off x="5276088" y="1847088"/>
            <a:ext cx="2148840" cy="292608"/>
          </a:xfrm>
          <a:prstGeom prst="rect">
            <a:avLst/>
          </a:prstGeom>
          <a:noFill/>
          <a:ln/>
        </p:spPr>
        <p:txBody>
          <a:bodyPr wrap="square" lIns="0" tIns="0" rIns="0" bIns="0" rtlCol="0" anchor="ctr"/>
          <a:lstStyle/>
          <a:p>
            <a:pPr indent="0" marL="0">
              <a:buNone/>
            </a:pPr>
            <a:r>
              <a:rPr lang="en-US" sz="1300" b="1" dirty="0">
                <a:solidFill>
                  <a:srgbClr val="002D58"/>
                </a:solidFill>
              </a:rPr>
              <a:t>Adquirir</a:t>
            </a:r>
            <a:endParaRPr lang="en-US" sz="1300" dirty="0"/>
          </a:p>
        </p:txBody>
      </p:sp>
      <p:sp>
        <p:nvSpPr>
          <p:cNvPr id="15" name="Text 13"/>
          <p:cNvSpPr/>
          <p:nvPr/>
        </p:nvSpPr>
        <p:spPr>
          <a:xfrm>
            <a:off x="4654296" y="2468880"/>
            <a:ext cx="2907792" cy="310896"/>
          </a:xfrm>
          <a:prstGeom prst="rect">
            <a:avLst/>
          </a:prstGeom>
          <a:noFill/>
          <a:ln/>
        </p:spPr>
        <p:txBody>
          <a:bodyPr wrap="square" lIns="0" tIns="0" rIns="0" bIns="0" rtlCol="0" anchor="ctr"/>
          <a:lstStyle/>
          <a:p>
            <a:pPr algn="ctr" indent="0" marL="0">
              <a:buNone/>
            </a:pPr>
            <a:r>
              <a:rPr lang="en-US" sz="850" dirty="0">
                <a:solidFill>
                  <a:srgbClr val="5A677D"/>
                </a:solidFill>
              </a:rPr>
              <a:t>Socrata + registros públicos</a:t>
            </a:r>
            <a:endParaRPr lang="en-US" sz="850" dirty="0"/>
          </a:p>
        </p:txBody>
      </p:sp>
      <p:sp>
        <p:nvSpPr>
          <p:cNvPr id="16" name="Shape 14"/>
          <p:cNvSpPr/>
          <p:nvPr/>
        </p:nvSpPr>
        <p:spPr>
          <a:xfrm>
            <a:off x="7836408" y="2157984"/>
            <a:ext cx="256032" cy="329184"/>
          </a:xfrm>
          <a:prstGeom prst="chevron">
            <a:avLst/>
          </a:prstGeom>
          <a:solidFill>
            <a:srgbClr val="FEC82F"/>
          </a:solidFill>
          <a:ln w="12700">
            <a:solidFill>
              <a:srgbClr val="FEC82F"/>
            </a:solidFill>
            <a:prstDash val="solid"/>
          </a:ln>
        </p:spPr>
      </p:sp>
      <p:sp>
        <p:nvSpPr>
          <p:cNvPr id="17" name="Shape 15"/>
          <p:cNvSpPr/>
          <p:nvPr/>
        </p:nvSpPr>
        <p:spPr>
          <a:xfrm>
            <a:off x="8247888" y="1627632"/>
            <a:ext cx="3310128" cy="1417320"/>
          </a:xfrm>
          <a:prstGeom prst="roundRect">
            <a:avLst>
              <a:gd name="adj" fmla="val 3871"/>
            </a:avLst>
          </a:prstGeom>
          <a:solidFill>
            <a:srgbClr val="FFFFFF"/>
          </a:solidFill>
          <a:ln w="13970">
            <a:solidFill>
              <a:srgbClr val="D8E1EC"/>
            </a:solidFill>
            <a:prstDash val="solid"/>
          </a:ln>
        </p:spPr>
      </p:sp>
      <p:sp>
        <p:nvSpPr>
          <p:cNvPr id="18" name="Shape 16"/>
          <p:cNvSpPr/>
          <p:nvPr/>
        </p:nvSpPr>
        <p:spPr>
          <a:xfrm>
            <a:off x="8449056" y="1856232"/>
            <a:ext cx="475488" cy="475488"/>
          </a:xfrm>
          <a:prstGeom prst="ellipse">
            <a:avLst/>
          </a:prstGeom>
          <a:solidFill>
            <a:srgbClr val="002D58"/>
          </a:solidFill>
          <a:ln w="12700">
            <a:solidFill>
              <a:srgbClr val="002D58"/>
            </a:solidFill>
            <a:prstDash val="solid"/>
          </a:ln>
        </p:spPr>
      </p:sp>
      <p:sp>
        <p:nvSpPr>
          <p:cNvPr id="19" name="Text 17"/>
          <p:cNvSpPr/>
          <p:nvPr/>
        </p:nvSpPr>
        <p:spPr>
          <a:xfrm>
            <a:off x="8449056" y="2011680"/>
            <a:ext cx="475488" cy="109728"/>
          </a:xfrm>
          <a:prstGeom prst="rect">
            <a:avLst/>
          </a:prstGeom>
          <a:noFill/>
          <a:ln/>
        </p:spPr>
        <p:txBody>
          <a:bodyPr wrap="square" lIns="0" tIns="0" rIns="0" bIns="0" rtlCol="0" anchor="ctr"/>
          <a:lstStyle/>
          <a:p>
            <a:pPr algn="ctr" indent="0" marL="0">
              <a:buNone/>
            </a:pPr>
            <a:r>
              <a:rPr lang="en-US" sz="750" b="1" dirty="0">
                <a:solidFill>
                  <a:srgbClr val="FFFFFF"/>
                </a:solidFill>
              </a:rPr>
              <a:t>3</a:t>
            </a:r>
            <a:endParaRPr lang="en-US" sz="750" dirty="0"/>
          </a:p>
        </p:txBody>
      </p:sp>
      <p:sp>
        <p:nvSpPr>
          <p:cNvPr id="20" name="Text 18"/>
          <p:cNvSpPr/>
          <p:nvPr/>
        </p:nvSpPr>
        <p:spPr>
          <a:xfrm>
            <a:off x="9070848" y="1847088"/>
            <a:ext cx="2148840" cy="292608"/>
          </a:xfrm>
          <a:prstGeom prst="rect">
            <a:avLst/>
          </a:prstGeom>
          <a:noFill/>
          <a:ln/>
        </p:spPr>
        <p:txBody>
          <a:bodyPr wrap="square" lIns="0" tIns="0" rIns="0" bIns="0" rtlCol="0" anchor="ctr"/>
          <a:lstStyle/>
          <a:p>
            <a:pPr indent="0" marL="0">
              <a:buNone/>
            </a:pPr>
            <a:r>
              <a:rPr lang="en-US" sz="1300" b="1" dirty="0">
                <a:solidFill>
                  <a:srgbClr val="002D58"/>
                </a:solidFill>
              </a:rPr>
              <a:t>Preparar</a:t>
            </a:r>
            <a:endParaRPr lang="en-US" sz="1300" dirty="0"/>
          </a:p>
        </p:txBody>
      </p:sp>
      <p:sp>
        <p:nvSpPr>
          <p:cNvPr id="21" name="Text 19"/>
          <p:cNvSpPr/>
          <p:nvPr/>
        </p:nvSpPr>
        <p:spPr>
          <a:xfrm>
            <a:off x="8449056" y="2468880"/>
            <a:ext cx="2907792" cy="310896"/>
          </a:xfrm>
          <a:prstGeom prst="rect">
            <a:avLst/>
          </a:prstGeom>
          <a:noFill/>
          <a:ln/>
        </p:spPr>
        <p:txBody>
          <a:bodyPr wrap="square" lIns="0" tIns="0" rIns="0" bIns="0" rtlCol="0" anchor="ctr"/>
          <a:lstStyle/>
          <a:p>
            <a:pPr algn="ctr" indent="0" marL="0">
              <a:buNone/>
            </a:pPr>
            <a:r>
              <a:rPr lang="en-US" sz="850" dirty="0">
                <a:solidFill>
                  <a:srgbClr val="5A677D"/>
                </a:solidFill>
              </a:rPr>
              <a:t>Limpiar, normalizar, estructurar</a:t>
            </a:r>
            <a:endParaRPr lang="en-US" sz="850" dirty="0"/>
          </a:p>
        </p:txBody>
      </p:sp>
      <p:sp>
        <p:nvSpPr>
          <p:cNvPr id="22" name="Shape 20"/>
          <p:cNvSpPr/>
          <p:nvPr/>
        </p:nvSpPr>
        <p:spPr>
          <a:xfrm>
            <a:off x="658368" y="3593592"/>
            <a:ext cx="3310128" cy="1417320"/>
          </a:xfrm>
          <a:prstGeom prst="roundRect">
            <a:avLst>
              <a:gd name="adj" fmla="val 3871"/>
            </a:avLst>
          </a:prstGeom>
          <a:solidFill>
            <a:srgbClr val="FFF9DF"/>
          </a:solidFill>
          <a:ln w="13970">
            <a:solidFill>
              <a:srgbClr val="FEC82F"/>
            </a:solidFill>
            <a:prstDash val="solid"/>
          </a:ln>
        </p:spPr>
      </p:sp>
      <p:sp>
        <p:nvSpPr>
          <p:cNvPr id="23" name="Shape 21"/>
          <p:cNvSpPr/>
          <p:nvPr/>
        </p:nvSpPr>
        <p:spPr>
          <a:xfrm>
            <a:off x="859536" y="3822192"/>
            <a:ext cx="475488" cy="475488"/>
          </a:xfrm>
          <a:prstGeom prst="ellipse">
            <a:avLst/>
          </a:prstGeom>
          <a:solidFill>
            <a:srgbClr val="FEC82F"/>
          </a:solidFill>
          <a:ln w="12700">
            <a:solidFill>
              <a:srgbClr val="FEC82F"/>
            </a:solidFill>
            <a:prstDash val="solid"/>
          </a:ln>
        </p:spPr>
      </p:sp>
      <p:sp>
        <p:nvSpPr>
          <p:cNvPr id="24" name="Text 22"/>
          <p:cNvSpPr/>
          <p:nvPr/>
        </p:nvSpPr>
        <p:spPr>
          <a:xfrm>
            <a:off x="859536" y="3977640"/>
            <a:ext cx="475488" cy="109728"/>
          </a:xfrm>
          <a:prstGeom prst="rect">
            <a:avLst/>
          </a:prstGeom>
          <a:noFill/>
          <a:ln/>
        </p:spPr>
        <p:txBody>
          <a:bodyPr wrap="square" lIns="0" tIns="0" rIns="0" bIns="0" rtlCol="0" anchor="ctr"/>
          <a:lstStyle/>
          <a:p>
            <a:pPr algn="ctr" indent="0" marL="0">
              <a:buNone/>
            </a:pPr>
            <a:r>
              <a:rPr lang="en-US" sz="750" b="1" dirty="0">
                <a:solidFill>
                  <a:srgbClr val="002D58"/>
                </a:solidFill>
              </a:rPr>
              <a:t>4</a:t>
            </a:r>
            <a:endParaRPr lang="en-US" sz="750" dirty="0"/>
          </a:p>
        </p:txBody>
      </p:sp>
      <p:sp>
        <p:nvSpPr>
          <p:cNvPr id="25" name="Text 23"/>
          <p:cNvSpPr/>
          <p:nvPr/>
        </p:nvSpPr>
        <p:spPr>
          <a:xfrm>
            <a:off x="1481328" y="3813048"/>
            <a:ext cx="2148840" cy="292608"/>
          </a:xfrm>
          <a:prstGeom prst="rect">
            <a:avLst/>
          </a:prstGeom>
          <a:noFill/>
          <a:ln/>
        </p:spPr>
        <p:txBody>
          <a:bodyPr wrap="square" lIns="0" tIns="0" rIns="0" bIns="0" rtlCol="0" anchor="ctr"/>
          <a:lstStyle/>
          <a:p>
            <a:pPr indent="0" marL="0">
              <a:buNone/>
            </a:pPr>
            <a:r>
              <a:rPr lang="en-US" sz="1300" b="1" dirty="0">
                <a:solidFill>
                  <a:srgbClr val="002D58"/>
                </a:solidFill>
              </a:rPr>
              <a:t>Modelar</a:t>
            </a:r>
            <a:endParaRPr lang="en-US" sz="1300" dirty="0"/>
          </a:p>
        </p:txBody>
      </p:sp>
      <p:sp>
        <p:nvSpPr>
          <p:cNvPr id="26" name="Text 24"/>
          <p:cNvSpPr/>
          <p:nvPr/>
        </p:nvSpPr>
        <p:spPr>
          <a:xfrm>
            <a:off x="859536" y="4434840"/>
            <a:ext cx="2907792" cy="310896"/>
          </a:xfrm>
          <a:prstGeom prst="rect">
            <a:avLst/>
          </a:prstGeom>
          <a:noFill/>
          <a:ln/>
        </p:spPr>
        <p:txBody>
          <a:bodyPr wrap="square" lIns="0" tIns="0" rIns="0" bIns="0" rtlCol="0" anchor="ctr"/>
          <a:lstStyle/>
          <a:p>
            <a:pPr algn="ctr" indent="0" marL="0">
              <a:buNone/>
            </a:pPr>
            <a:r>
              <a:rPr lang="en-US" sz="850" dirty="0">
                <a:solidFill>
                  <a:srgbClr val="5A677D"/>
                </a:solidFill>
              </a:rPr>
              <a:t>Reglas + Isolation Forest</a:t>
            </a:r>
            <a:endParaRPr lang="en-US" sz="850" dirty="0"/>
          </a:p>
        </p:txBody>
      </p:sp>
      <p:sp>
        <p:nvSpPr>
          <p:cNvPr id="27" name="Shape 25"/>
          <p:cNvSpPr/>
          <p:nvPr/>
        </p:nvSpPr>
        <p:spPr>
          <a:xfrm>
            <a:off x="4041648" y="4123944"/>
            <a:ext cx="256032" cy="329184"/>
          </a:xfrm>
          <a:prstGeom prst="chevron">
            <a:avLst/>
          </a:prstGeom>
          <a:solidFill>
            <a:srgbClr val="FEC82F"/>
          </a:solidFill>
          <a:ln w="12700">
            <a:solidFill>
              <a:srgbClr val="FEC82F"/>
            </a:solidFill>
            <a:prstDash val="solid"/>
          </a:ln>
        </p:spPr>
      </p:sp>
      <p:sp>
        <p:nvSpPr>
          <p:cNvPr id="28" name="Shape 26"/>
          <p:cNvSpPr/>
          <p:nvPr/>
        </p:nvSpPr>
        <p:spPr>
          <a:xfrm>
            <a:off x="4453128" y="3593592"/>
            <a:ext cx="3310128" cy="1417320"/>
          </a:xfrm>
          <a:prstGeom prst="roundRect">
            <a:avLst>
              <a:gd name="adj" fmla="val 3871"/>
            </a:avLst>
          </a:prstGeom>
          <a:solidFill>
            <a:srgbClr val="FFFFFF"/>
          </a:solidFill>
          <a:ln w="13970">
            <a:solidFill>
              <a:srgbClr val="D8E1EC"/>
            </a:solidFill>
            <a:prstDash val="solid"/>
          </a:ln>
        </p:spPr>
      </p:sp>
      <p:sp>
        <p:nvSpPr>
          <p:cNvPr id="29" name="Shape 27"/>
          <p:cNvSpPr/>
          <p:nvPr/>
        </p:nvSpPr>
        <p:spPr>
          <a:xfrm>
            <a:off x="4654296" y="3822192"/>
            <a:ext cx="475488" cy="475488"/>
          </a:xfrm>
          <a:prstGeom prst="ellipse">
            <a:avLst/>
          </a:prstGeom>
          <a:solidFill>
            <a:srgbClr val="002D58"/>
          </a:solidFill>
          <a:ln w="12700">
            <a:solidFill>
              <a:srgbClr val="002D58"/>
            </a:solidFill>
            <a:prstDash val="solid"/>
          </a:ln>
        </p:spPr>
      </p:sp>
      <p:sp>
        <p:nvSpPr>
          <p:cNvPr id="30" name="Text 28"/>
          <p:cNvSpPr/>
          <p:nvPr/>
        </p:nvSpPr>
        <p:spPr>
          <a:xfrm>
            <a:off x="4654296" y="3977640"/>
            <a:ext cx="475488" cy="109728"/>
          </a:xfrm>
          <a:prstGeom prst="rect">
            <a:avLst/>
          </a:prstGeom>
          <a:noFill/>
          <a:ln/>
        </p:spPr>
        <p:txBody>
          <a:bodyPr wrap="square" lIns="0" tIns="0" rIns="0" bIns="0" rtlCol="0" anchor="ctr"/>
          <a:lstStyle/>
          <a:p>
            <a:pPr algn="ctr" indent="0" marL="0">
              <a:buNone/>
            </a:pPr>
            <a:r>
              <a:rPr lang="en-US" sz="750" b="1" dirty="0">
                <a:solidFill>
                  <a:srgbClr val="FFFFFF"/>
                </a:solidFill>
              </a:rPr>
              <a:t>5</a:t>
            </a:r>
            <a:endParaRPr lang="en-US" sz="750" dirty="0"/>
          </a:p>
        </p:txBody>
      </p:sp>
      <p:sp>
        <p:nvSpPr>
          <p:cNvPr id="31" name="Text 29"/>
          <p:cNvSpPr/>
          <p:nvPr/>
        </p:nvSpPr>
        <p:spPr>
          <a:xfrm>
            <a:off x="5276088" y="3813048"/>
            <a:ext cx="2148840" cy="292608"/>
          </a:xfrm>
          <a:prstGeom prst="rect">
            <a:avLst/>
          </a:prstGeom>
          <a:noFill/>
          <a:ln/>
        </p:spPr>
        <p:txBody>
          <a:bodyPr wrap="square" lIns="0" tIns="0" rIns="0" bIns="0" rtlCol="0" anchor="ctr"/>
          <a:lstStyle/>
          <a:p>
            <a:pPr indent="0" marL="0">
              <a:buNone/>
            </a:pPr>
            <a:r>
              <a:rPr lang="en-US" sz="1300" b="1" dirty="0">
                <a:solidFill>
                  <a:srgbClr val="002D58"/>
                </a:solidFill>
              </a:rPr>
              <a:t>Evaluar</a:t>
            </a:r>
            <a:endParaRPr lang="en-US" sz="1300" dirty="0"/>
          </a:p>
        </p:txBody>
      </p:sp>
      <p:sp>
        <p:nvSpPr>
          <p:cNvPr id="32" name="Text 30"/>
          <p:cNvSpPr/>
          <p:nvPr/>
        </p:nvSpPr>
        <p:spPr>
          <a:xfrm>
            <a:off x="4654296" y="4434840"/>
            <a:ext cx="2907792" cy="310896"/>
          </a:xfrm>
          <a:prstGeom prst="rect">
            <a:avLst/>
          </a:prstGeom>
          <a:noFill/>
          <a:ln/>
        </p:spPr>
        <p:txBody>
          <a:bodyPr wrap="square" lIns="0" tIns="0" rIns="0" bIns="0" rtlCol="0" anchor="ctr"/>
          <a:lstStyle/>
          <a:p>
            <a:pPr algn="ctr" indent="0" marL="0">
              <a:buNone/>
            </a:pPr>
            <a:r>
              <a:rPr lang="en-US" sz="850" dirty="0">
                <a:solidFill>
                  <a:srgbClr val="5A677D"/>
                </a:solidFill>
              </a:rPr>
              <a:t>Tests, coherencia, estabilidad</a:t>
            </a:r>
            <a:endParaRPr lang="en-US" sz="850" dirty="0"/>
          </a:p>
        </p:txBody>
      </p:sp>
      <p:sp>
        <p:nvSpPr>
          <p:cNvPr id="33" name="Shape 31"/>
          <p:cNvSpPr/>
          <p:nvPr/>
        </p:nvSpPr>
        <p:spPr>
          <a:xfrm>
            <a:off x="7836408" y="4123944"/>
            <a:ext cx="256032" cy="329184"/>
          </a:xfrm>
          <a:prstGeom prst="chevron">
            <a:avLst/>
          </a:prstGeom>
          <a:solidFill>
            <a:srgbClr val="FEC82F"/>
          </a:solidFill>
          <a:ln w="12700">
            <a:solidFill>
              <a:srgbClr val="FEC82F"/>
            </a:solidFill>
            <a:prstDash val="solid"/>
          </a:ln>
        </p:spPr>
      </p:sp>
      <p:sp>
        <p:nvSpPr>
          <p:cNvPr id="34" name="Shape 32"/>
          <p:cNvSpPr/>
          <p:nvPr/>
        </p:nvSpPr>
        <p:spPr>
          <a:xfrm>
            <a:off x="8247888" y="3593592"/>
            <a:ext cx="3310128" cy="1417320"/>
          </a:xfrm>
          <a:prstGeom prst="roundRect">
            <a:avLst>
              <a:gd name="adj" fmla="val 3871"/>
            </a:avLst>
          </a:prstGeom>
          <a:solidFill>
            <a:srgbClr val="FFFFFF"/>
          </a:solidFill>
          <a:ln w="13970">
            <a:solidFill>
              <a:srgbClr val="D8E1EC"/>
            </a:solidFill>
            <a:prstDash val="solid"/>
          </a:ln>
        </p:spPr>
      </p:sp>
      <p:sp>
        <p:nvSpPr>
          <p:cNvPr id="35" name="Shape 33"/>
          <p:cNvSpPr/>
          <p:nvPr/>
        </p:nvSpPr>
        <p:spPr>
          <a:xfrm>
            <a:off x="8449056" y="3822192"/>
            <a:ext cx="475488" cy="475488"/>
          </a:xfrm>
          <a:prstGeom prst="ellipse">
            <a:avLst/>
          </a:prstGeom>
          <a:solidFill>
            <a:srgbClr val="002D58"/>
          </a:solidFill>
          <a:ln w="12700">
            <a:solidFill>
              <a:srgbClr val="002D58"/>
            </a:solidFill>
            <a:prstDash val="solid"/>
          </a:ln>
        </p:spPr>
      </p:sp>
      <p:sp>
        <p:nvSpPr>
          <p:cNvPr id="36" name="Text 34"/>
          <p:cNvSpPr/>
          <p:nvPr/>
        </p:nvSpPr>
        <p:spPr>
          <a:xfrm>
            <a:off x="8449056" y="3977640"/>
            <a:ext cx="475488" cy="109728"/>
          </a:xfrm>
          <a:prstGeom prst="rect">
            <a:avLst/>
          </a:prstGeom>
          <a:noFill/>
          <a:ln/>
        </p:spPr>
        <p:txBody>
          <a:bodyPr wrap="square" lIns="0" tIns="0" rIns="0" bIns="0" rtlCol="0" anchor="ctr"/>
          <a:lstStyle/>
          <a:p>
            <a:pPr algn="ctr" indent="0" marL="0">
              <a:buNone/>
            </a:pPr>
            <a:r>
              <a:rPr lang="en-US" sz="750" b="1" dirty="0">
                <a:solidFill>
                  <a:srgbClr val="FFFFFF"/>
                </a:solidFill>
              </a:rPr>
              <a:t>6</a:t>
            </a:r>
            <a:endParaRPr lang="en-US" sz="750" dirty="0"/>
          </a:p>
        </p:txBody>
      </p:sp>
      <p:sp>
        <p:nvSpPr>
          <p:cNvPr id="37" name="Text 35"/>
          <p:cNvSpPr/>
          <p:nvPr/>
        </p:nvSpPr>
        <p:spPr>
          <a:xfrm>
            <a:off x="9070848" y="3813048"/>
            <a:ext cx="2148840" cy="292608"/>
          </a:xfrm>
          <a:prstGeom prst="rect">
            <a:avLst/>
          </a:prstGeom>
          <a:noFill/>
          <a:ln/>
        </p:spPr>
        <p:txBody>
          <a:bodyPr wrap="square" lIns="0" tIns="0" rIns="0" bIns="0" rtlCol="0" anchor="ctr"/>
          <a:lstStyle/>
          <a:p>
            <a:pPr indent="0" marL="0">
              <a:buNone/>
            </a:pPr>
            <a:r>
              <a:rPr lang="en-US" sz="1300" b="1" dirty="0">
                <a:solidFill>
                  <a:srgbClr val="002D58"/>
                </a:solidFill>
              </a:rPr>
              <a:t>Desplegar</a:t>
            </a:r>
            <a:endParaRPr lang="en-US" sz="1300" dirty="0"/>
          </a:p>
        </p:txBody>
      </p:sp>
      <p:sp>
        <p:nvSpPr>
          <p:cNvPr id="38" name="Text 36"/>
          <p:cNvSpPr/>
          <p:nvPr/>
        </p:nvSpPr>
        <p:spPr>
          <a:xfrm>
            <a:off x="8449056" y="4434840"/>
            <a:ext cx="2907792" cy="310896"/>
          </a:xfrm>
          <a:prstGeom prst="rect">
            <a:avLst/>
          </a:prstGeom>
          <a:noFill/>
          <a:ln/>
        </p:spPr>
        <p:txBody>
          <a:bodyPr wrap="square" lIns="0" tIns="0" rIns="0" bIns="0" rtlCol="0" anchor="ctr"/>
          <a:lstStyle/>
          <a:p>
            <a:pPr algn="ctr" indent="0" marL="0">
              <a:buNone/>
            </a:pPr>
            <a:r>
              <a:rPr lang="en-US" sz="850" dirty="0">
                <a:solidFill>
                  <a:srgbClr val="5A677D"/>
                </a:solidFill>
              </a:rPr>
              <a:t>Docker, caché, monitoreo</a:t>
            </a:r>
            <a:endParaRPr lang="en-US" sz="850" dirty="0"/>
          </a:p>
        </p:txBody>
      </p:sp>
      <p:sp>
        <p:nvSpPr>
          <p:cNvPr id="39" name="Shape 37"/>
          <p:cNvSpPr/>
          <p:nvPr/>
        </p:nvSpPr>
        <p:spPr>
          <a:xfrm rot="5400000">
            <a:off x="10588752" y="2788920"/>
            <a:ext cx="566928" cy="1536192"/>
          </a:xfrm>
          <a:prstGeom prst="arc">
            <a:avLst/>
          </a:prstGeom>
          <a:solidFill>
            <a:srgbClr val="F7F9FC">
              <a:alpha val="0"/>
            </a:srgbClr>
          </a:solidFill>
          <a:ln w="27940">
            <a:solidFill>
              <a:srgbClr val="004884"/>
            </a:solidFill>
            <a:prstDash val="solid"/>
            <a:headEnd type="none"/>
            <a:tailEnd type="triangle"/>
          </a:ln>
        </p:spPr>
      </p:sp>
      <p:sp>
        <p:nvSpPr>
          <p:cNvPr id="40" name="Text 38"/>
          <p:cNvSpPr/>
          <p:nvPr/>
        </p:nvSpPr>
        <p:spPr>
          <a:xfrm>
            <a:off x="8549640" y="5468112"/>
            <a:ext cx="2377440" cy="201168"/>
          </a:xfrm>
          <a:prstGeom prst="rect">
            <a:avLst/>
          </a:prstGeom>
          <a:noFill/>
          <a:ln/>
        </p:spPr>
        <p:txBody>
          <a:bodyPr wrap="square" lIns="0" tIns="0" rIns="0" bIns="0" rtlCol="0" anchor="ctr"/>
          <a:lstStyle/>
          <a:p>
            <a:pPr algn="r" indent="0" marL="0">
              <a:buNone/>
            </a:pPr>
            <a:r>
              <a:rPr lang="en-US" sz="800" b="1" dirty="0">
                <a:solidFill>
                  <a:srgbClr val="16865A"/>
                </a:solidFill>
              </a:rPr>
              <a:t>Validación continua</a:t>
            </a:r>
            <a:endParaRPr lang="en-US" sz="800" dirty="0"/>
          </a:p>
        </p:txBody>
      </p:sp>
      <p:sp>
        <p:nvSpPr>
          <p:cNvPr id="41" name="Text 39"/>
          <p:cNvSpPr/>
          <p:nvPr/>
        </p:nvSpPr>
        <p:spPr>
          <a:xfrm>
            <a:off x="914400" y="5779008"/>
            <a:ext cx="10332720" cy="228600"/>
          </a:xfrm>
          <a:prstGeom prst="rect">
            <a:avLst/>
          </a:prstGeom>
          <a:noFill/>
          <a:ln/>
        </p:spPr>
        <p:txBody>
          <a:bodyPr wrap="square" lIns="0" tIns="0" rIns="0" bIns="0" rtlCol="0" anchor="ctr"/>
          <a:lstStyle/>
          <a:p>
            <a:pPr algn="ctr" indent="0" marL="0">
              <a:buNone/>
            </a:pPr>
            <a:r>
              <a:rPr lang="en-US" sz="950" b="1" dirty="0">
                <a:solidFill>
                  <a:srgbClr val="002D58"/>
                </a:solidFill>
              </a:rPr>
              <a:t>Aritmética de scores · contrato API/UI · persistencia · caché · pipeline ML · pruebas E2E con datos reales</a:t>
            </a:r>
            <a:endParaRPr lang="en-US" sz="95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ARQUITECTURA Y TECNOLOGÍA</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Cuatro capas separan fuente, inteligencia, servicios y experiencia</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El desacoplamiento permite sustituir fuentes, escalar consultas y conservar trazabilidad.</a:t>
            </a:r>
            <a:endParaRPr lang="en-US" sz="950" dirty="0"/>
          </a:p>
        </p:txBody>
      </p:sp>
      <p:sp>
        <p:nvSpPr>
          <p:cNvPr id="5" name="Shape 3"/>
          <p:cNvSpPr/>
          <p:nvPr/>
        </p:nvSpPr>
        <p:spPr>
          <a:xfrm>
            <a:off x="566928" y="1600200"/>
            <a:ext cx="2331720" cy="4187952"/>
          </a:xfrm>
          <a:prstGeom prst="roundRect">
            <a:avLst>
              <a:gd name="adj" fmla="val 2745"/>
            </a:avLst>
          </a:prstGeom>
          <a:solidFill>
            <a:srgbClr val="FFFFFF"/>
          </a:solidFill>
          <a:ln w="15240">
            <a:solidFill>
              <a:srgbClr val="004884"/>
            </a:solidFill>
            <a:prstDash val="solid"/>
          </a:ln>
        </p:spPr>
      </p:sp>
      <p:sp>
        <p:nvSpPr>
          <p:cNvPr id="6" name="Shape 4"/>
          <p:cNvSpPr/>
          <p:nvPr/>
        </p:nvSpPr>
        <p:spPr>
          <a:xfrm>
            <a:off x="566928" y="1600200"/>
            <a:ext cx="2331720" cy="502920"/>
          </a:xfrm>
          <a:prstGeom prst="rect">
            <a:avLst/>
          </a:prstGeom>
          <a:solidFill>
            <a:srgbClr val="004884"/>
          </a:solidFill>
          <a:ln w="12700">
            <a:solidFill>
              <a:srgbClr val="004884"/>
            </a:solidFill>
            <a:prstDash val="solid"/>
          </a:ln>
        </p:spPr>
      </p:sp>
      <p:sp>
        <p:nvSpPr>
          <p:cNvPr id="7" name="Text 5"/>
          <p:cNvSpPr/>
          <p:nvPr/>
        </p:nvSpPr>
        <p:spPr>
          <a:xfrm>
            <a:off x="676656" y="1773936"/>
            <a:ext cx="2112264" cy="146304"/>
          </a:xfrm>
          <a:prstGeom prst="rect">
            <a:avLst/>
          </a:prstGeom>
          <a:noFill/>
          <a:ln/>
        </p:spPr>
        <p:txBody>
          <a:bodyPr wrap="square" lIns="0" tIns="0" rIns="0" bIns="0" rtlCol="0" anchor="ctr"/>
          <a:lstStyle/>
          <a:p>
            <a:pPr algn="ctr" indent="0" marL="0">
              <a:buNone/>
            </a:pPr>
            <a:r>
              <a:rPr lang="en-US" sz="750" b="1" spc="100" kern="0" dirty="0">
                <a:solidFill>
                  <a:srgbClr val="FFFFFF"/>
                </a:solidFill>
              </a:rPr>
              <a:t>1 · FUENTES</a:t>
            </a:r>
            <a:endParaRPr lang="en-US" sz="750" dirty="0"/>
          </a:p>
        </p:txBody>
      </p:sp>
      <p:sp>
        <p:nvSpPr>
          <p:cNvPr id="8" name="Shape 6"/>
          <p:cNvSpPr/>
          <p:nvPr/>
        </p:nvSpPr>
        <p:spPr>
          <a:xfrm>
            <a:off x="795528" y="2496312"/>
            <a:ext cx="146304" cy="146304"/>
          </a:xfrm>
          <a:prstGeom prst="ellipse">
            <a:avLst/>
          </a:prstGeom>
          <a:solidFill>
            <a:srgbClr val="004884"/>
          </a:solidFill>
          <a:ln w="12700">
            <a:solidFill>
              <a:srgbClr val="004884"/>
            </a:solidFill>
            <a:prstDash val="solid"/>
          </a:ln>
        </p:spPr>
      </p:sp>
      <p:sp>
        <p:nvSpPr>
          <p:cNvPr id="9" name="Text 7"/>
          <p:cNvSpPr/>
          <p:nvPr/>
        </p:nvSpPr>
        <p:spPr>
          <a:xfrm>
            <a:off x="1042416" y="2450592"/>
            <a:ext cx="1636776" cy="256032"/>
          </a:xfrm>
          <a:prstGeom prst="rect">
            <a:avLst/>
          </a:prstGeom>
          <a:noFill/>
          <a:ln/>
        </p:spPr>
        <p:txBody>
          <a:bodyPr wrap="square" lIns="0" tIns="0" rIns="0" bIns="0" rtlCol="0" anchor="ctr">
            <a:normAutofit/>
          </a:bodyPr>
          <a:lstStyle/>
          <a:p>
            <a:pPr indent="0" marL="0">
              <a:buNone/>
            </a:pPr>
            <a:r>
              <a:rPr lang="en-US" sz="920" b="1" dirty="0">
                <a:solidFill>
                  <a:srgbClr val="172033"/>
                </a:solidFill>
              </a:rPr>
              <a:t>SECOP II · Socrata</a:t>
            </a:r>
            <a:endParaRPr lang="en-US" sz="920" dirty="0"/>
          </a:p>
        </p:txBody>
      </p:sp>
      <p:sp>
        <p:nvSpPr>
          <p:cNvPr id="10" name="Shape 8"/>
          <p:cNvSpPr/>
          <p:nvPr/>
        </p:nvSpPr>
        <p:spPr>
          <a:xfrm>
            <a:off x="795528" y="3154680"/>
            <a:ext cx="146304" cy="146304"/>
          </a:xfrm>
          <a:prstGeom prst="ellipse">
            <a:avLst/>
          </a:prstGeom>
          <a:solidFill>
            <a:srgbClr val="004884"/>
          </a:solidFill>
          <a:ln w="12700">
            <a:solidFill>
              <a:srgbClr val="004884"/>
            </a:solidFill>
            <a:prstDash val="solid"/>
          </a:ln>
        </p:spPr>
      </p:sp>
      <p:sp>
        <p:nvSpPr>
          <p:cNvPr id="11" name="Text 9"/>
          <p:cNvSpPr/>
          <p:nvPr/>
        </p:nvSpPr>
        <p:spPr>
          <a:xfrm>
            <a:off x="1042416" y="3108960"/>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SIRI · CGR · FGN</a:t>
            </a:r>
            <a:endParaRPr lang="en-US" sz="920" dirty="0"/>
          </a:p>
        </p:txBody>
      </p:sp>
      <p:sp>
        <p:nvSpPr>
          <p:cNvPr id="12" name="Shape 10"/>
          <p:cNvSpPr/>
          <p:nvPr/>
        </p:nvSpPr>
        <p:spPr>
          <a:xfrm>
            <a:off x="795528" y="3813048"/>
            <a:ext cx="146304" cy="146304"/>
          </a:xfrm>
          <a:prstGeom prst="ellipse">
            <a:avLst/>
          </a:prstGeom>
          <a:solidFill>
            <a:srgbClr val="004884"/>
          </a:solidFill>
          <a:ln w="12700">
            <a:solidFill>
              <a:srgbClr val="004884"/>
            </a:solidFill>
            <a:prstDash val="solid"/>
          </a:ln>
        </p:spPr>
      </p:sp>
      <p:sp>
        <p:nvSpPr>
          <p:cNvPr id="13" name="Text 11"/>
          <p:cNvSpPr/>
          <p:nvPr/>
        </p:nvSpPr>
        <p:spPr>
          <a:xfrm>
            <a:off x="1042416" y="3767328"/>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Multas SECOP</a:t>
            </a:r>
            <a:endParaRPr lang="en-US" sz="920" dirty="0"/>
          </a:p>
        </p:txBody>
      </p:sp>
      <p:sp>
        <p:nvSpPr>
          <p:cNvPr id="14" name="Shape 12"/>
          <p:cNvSpPr/>
          <p:nvPr/>
        </p:nvSpPr>
        <p:spPr>
          <a:xfrm>
            <a:off x="795528" y="4471416"/>
            <a:ext cx="146304" cy="146304"/>
          </a:xfrm>
          <a:prstGeom prst="ellipse">
            <a:avLst/>
          </a:prstGeom>
          <a:solidFill>
            <a:srgbClr val="004884"/>
          </a:solidFill>
          <a:ln w="12700">
            <a:solidFill>
              <a:srgbClr val="004884"/>
            </a:solidFill>
            <a:prstDash val="solid"/>
          </a:ln>
        </p:spPr>
      </p:sp>
      <p:sp>
        <p:nvSpPr>
          <p:cNvPr id="15" name="Text 13"/>
          <p:cNvSpPr/>
          <p:nvPr/>
        </p:nvSpPr>
        <p:spPr>
          <a:xfrm>
            <a:off x="1042416" y="4425696"/>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Obras inconclusas</a:t>
            </a:r>
            <a:endParaRPr lang="en-US" sz="920" dirty="0"/>
          </a:p>
        </p:txBody>
      </p:sp>
      <p:sp>
        <p:nvSpPr>
          <p:cNvPr id="16" name="Shape 14"/>
          <p:cNvSpPr/>
          <p:nvPr/>
        </p:nvSpPr>
        <p:spPr>
          <a:xfrm>
            <a:off x="2990088" y="3337560"/>
            <a:ext cx="182880" cy="329184"/>
          </a:xfrm>
          <a:prstGeom prst="chevron">
            <a:avLst/>
          </a:prstGeom>
          <a:solidFill>
            <a:srgbClr val="FEC82F"/>
          </a:solidFill>
          <a:ln w="12700">
            <a:solidFill>
              <a:srgbClr val="FEC82F"/>
            </a:solidFill>
            <a:prstDash val="solid"/>
          </a:ln>
        </p:spPr>
      </p:sp>
      <p:sp>
        <p:nvSpPr>
          <p:cNvPr id="17" name="Shape 15"/>
          <p:cNvSpPr/>
          <p:nvPr/>
        </p:nvSpPr>
        <p:spPr>
          <a:xfrm>
            <a:off x="3154680" y="1600200"/>
            <a:ext cx="2331720" cy="4187952"/>
          </a:xfrm>
          <a:prstGeom prst="roundRect">
            <a:avLst>
              <a:gd name="adj" fmla="val 2745"/>
            </a:avLst>
          </a:prstGeom>
          <a:solidFill>
            <a:srgbClr val="FFFCED"/>
          </a:solidFill>
          <a:ln w="15240">
            <a:solidFill>
              <a:srgbClr val="FEC82F"/>
            </a:solidFill>
            <a:prstDash val="solid"/>
          </a:ln>
        </p:spPr>
      </p:sp>
      <p:sp>
        <p:nvSpPr>
          <p:cNvPr id="18" name="Shape 16"/>
          <p:cNvSpPr/>
          <p:nvPr/>
        </p:nvSpPr>
        <p:spPr>
          <a:xfrm>
            <a:off x="3154680" y="1600200"/>
            <a:ext cx="2331720" cy="502920"/>
          </a:xfrm>
          <a:prstGeom prst="rect">
            <a:avLst/>
          </a:prstGeom>
          <a:solidFill>
            <a:srgbClr val="FEC82F"/>
          </a:solidFill>
          <a:ln w="12700">
            <a:solidFill>
              <a:srgbClr val="FEC82F"/>
            </a:solidFill>
            <a:prstDash val="solid"/>
          </a:ln>
        </p:spPr>
      </p:sp>
      <p:sp>
        <p:nvSpPr>
          <p:cNvPr id="19" name="Text 17"/>
          <p:cNvSpPr/>
          <p:nvPr/>
        </p:nvSpPr>
        <p:spPr>
          <a:xfrm>
            <a:off x="3264408" y="1773936"/>
            <a:ext cx="2112264" cy="146304"/>
          </a:xfrm>
          <a:prstGeom prst="rect">
            <a:avLst/>
          </a:prstGeom>
          <a:noFill/>
          <a:ln/>
        </p:spPr>
        <p:txBody>
          <a:bodyPr wrap="square" lIns="0" tIns="0" rIns="0" bIns="0" rtlCol="0" anchor="ctr"/>
          <a:lstStyle/>
          <a:p>
            <a:pPr algn="ctr" indent="0" marL="0">
              <a:buNone/>
            </a:pPr>
            <a:r>
              <a:rPr lang="en-US" sz="750" b="1" spc="100" kern="0" dirty="0">
                <a:solidFill>
                  <a:srgbClr val="002D58"/>
                </a:solidFill>
              </a:rPr>
              <a:t>2 · API UNIFICADA</a:t>
            </a:r>
            <a:endParaRPr lang="en-US" sz="750" dirty="0"/>
          </a:p>
        </p:txBody>
      </p:sp>
      <p:sp>
        <p:nvSpPr>
          <p:cNvPr id="20" name="Shape 18"/>
          <p:cNvSpPr/>
          <p:nvPr/>
        </p:nvSpPr>
        <p:spPr>
          <a:xfrm>
            <a:off x="3383280" y="2496312"/>
            <a:ext cx="146304" cy="146304"/>
          </a:xfrm>
          <a:prstGeom prst="ellipse">
            <a:avLst/>
          </a:prstGeom>
          <a:solidFill>
            <a:srgbClr val="FEC82F"/>
          </a:solidFill>
          <a:ln w="12700">
            <a:solidFill>
              <a:srgbClr val="FEC82F"/>
            </a:solidFill>
            <a:prstDash val="solid"/>
          </a:ln>
        </p:spPr>
      </p:sp>
      <p:sp>
        <p:nvSpPr>
          <p:cNvPr id="21" name="Text 19"/>
          <p:cNvSpPr/>
          <p:nvPr/>
        </p:nvSpPr>
        <p:spPr>
          <a:xfrm>
            <a:off x="3630168" y="2450592"/>
            <a:ext cx="1636776" cy="256032"/>
          </a:xfrm>
          <a:prstGeom prst="rect">
            <a:avLst/>
          </a:prstGeom>
          <a:noFill/>
          <a:ln/>
        </p:spPr>
        <p:txBody>
          <a:bodyPr wrap="square" lIns="0" tIns="0" rIns="0" bIns="0" rtlCol="0" anchor="ctr">
            <a:normAutofit/>
          </a:bodyPr>
          <a:lstStyle/>
          <a:p>
            <a:pPr indent="0" marL="0">
              <a:buNone/>
            </a:pPr>
            <a:r>
              <a:rPr lang="en-US" sz="920" b="1" dirty="0">
                <a:solidFill>
                  <a:srgbClr val="172033"/>
                </a:solidFill>
              </a:rPr>
              <a:t>Bun + Elysia</a:t>
            </a:r>
            <a:endParaRPr lang="en-US" sz="920" dirty="0"/>
          </a:p>
        </p:txBody>
      </p:sp>
      <p:sp>
        <p:nvSpPr>
          <p:cNvPr id="22" name="Shape 20"/>
          <p:cNvSpPr/>
          <p:nvPr/>
        </p:nvSpPr>
        <p:spPr>
          <a:xfrm>
            <a:off x="3383280" y="3154680"/>
            <a:ext cx="146304" cy="146304"/>
          </a:xfrm>
          <a:prstGeom prst="ellipse">
            <a:avLst/>
          </a:prstGeom>
          <a:solidFill>
            <a:srgbClr val="FEC82F"/>
          </a:solidFill>
          <a:ln w="12700">
            <a:solidFill>
              <a:srgbClr val="FEC82F"/>
            </a:solidFill>
            <a:prstDash val="solid"/>
          </a:ln>
        </p:spPr>
      </p:sp>
      <p:sp>
        <p:nvSpPr>
          <p:cNvPr id="23" name="Text 21"/>
          <p:cNvSpPr/>
          <p:nvPr/>
        </p:nvSpPr>
        <p:spPr>
          <a:xfrm>
            <a:off x="3630168" y="3108960"/>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SQLite e índices</a:t>
            </a:r>
            <a:endParaRPr lang="en-US" sz="920" dirty="0"/>
          </a:p>
        </p:txBody>
      </p:sp>
      <p:sp>
        <p:nvSpPr>
          <p:cNvPr id="24" name="Shape 22"/>
          <p:cNvSpPr/>
          <p:nvPr/>
        </p:nvSpPr>
        <p:spPr>
          <a:xfrm>
            <a:off x="3383280" y="3813048"/>
            <a:ext cx="146304" cy="146304"/>
          </a:xfrm>
          <a:prstGeom prst="ellipse">
            <a:avLst/>
          </a:prstGeom>
          <a:solidFill>
            <a:srgbClr val="FEC82F"/>
          </a:solidFill>
          <a:ln w="12700">
            <a:solidFill>
              <a:srgbClr val="FEC82F"/>
            </a:solidFill>
            <a:prstDash val="solid"/>
          </a:ln>
        </p:spPr>
      </p:sp>
      <p:sp>
        <p:nvSpPr>
          <p:cNvPr id="25" name="Text 23"/>
          <p:cNvSpPr/>
          <p:nvPr/>
        </p:nvSpPr>
        <p:spPr>
          <a:xfrm>
            <a:off x="3630168" y="3767328"/>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/search</a:t>
            </a:r>
            <a:endParaRPr lang="en-US" sz="920" dirty="0"/>
          </a:p>
        </p:txBody>
      </p:sp>
      <p:sp>
        <p:nvSpPr>
          <p:cNvPr id="26" name="Shape 24"/>
          <p:cNvSpPr/>
          <p:nvPr/>
        </p:nvSpPr>
        <p:spPr>
          <a:xfrm>
            <a:off x="3383280" y="4471416"/>
            <a:ext cx="146304" cy="146304"/>
          </a:xfrm>
          <a:prstGeom prst="ellipse">
            <a:avLst/>
          </a:prstGeom>
          <a:solidFill>
            <a:srgbClr val="FEC82F"/>
          </a:solidFill>
          <a:ln w="12700">
            <a:solidFill>
              <a:srgbClr val="FEC82F"/>
            </a:solidFill>
            <a:prstDash val="solid"/>
          </a:ln>
        </p:spPr>
      </p:sp>
      <p:sp>
        <p:nvSpPr>
          <p:cNvPr id="27" name="Text 25"/>
          <p:cNvSpPr/>
          <p:nvPr/>
        </p:nvSpPr>
        <p:spPr>
          <a:xfrm>
            <a:off x="3630168" y="4425696"/>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/persona/:documento</a:t>
            </a:r>
            <a:endParaRPr lang="en-US" sz="920" dirty="0"/>
          </a:p>
        </p:txBody>
      </p:sp>
      <p:sp>
        <p:nvSpPr>
          <p:cNvPr id="28" name="Shape 26"/>
          <p:cNvSpPr/>
          <p:nvPr/>
        </p:nvSpPr>
        <p:spPr>
          <a:xfrm>
            <a:off x="5577840" y="3337560"/>
            <a:ext cx="182880" cy="329184"/>
          </a:xfrm>
          <a:prstGeom prst="chevron">
            <a:avLst/>
          </a:prstGeom>
          <a:solidFill>
            <a:srgbClr val="FEC82F"/>
          </a:solidFill>
          <a:ln w="12700">
            <a:solidFill>
              <a:srgbClr val="FEC82F"/>
            </a:solidFill>
            <a:prstDash val="solid"/>
          </a:ln>
        </p:spPr>
      </p:sp>
      <p:sp>
        <p:nvSpPr>
          <p:cNvPr id="29" name="Shape 27"/>
          <p:cNvSpPr/>
          <p:nvPr/>
        </p:nvSpPr>
        <p:spPr>
          <a:xfrm>
            <a:off x="5742432" y="1600200"/>
            <a:ext cx="2331720" cy="4187952"/>
          </a:xfrm>
          <a:prstGeom prst="roundRect">
            <a:avLst>
              <a:gd name="adj" fmla="val 2745"/>
            </a:avLst>
          </a:prstGeom>
          <a:solidFill>
            <a:srgbClr val="FFFFFF"/>
          </a:solidFill>
          <a:ln w="15240">
            <a:solidFill>
              <a:srgbClr val="16865A"/>
            </a:solidFill>
            <a:prstDash val="solid"/>
          </a:ln>
        </p:spPr>
      </p:sp>
      <p:sp>
        <p:nvSpPr>
          <p:cNvPr id="30" name="Shape 28"/>
          <p:cNvSpPr/>
          <p:nvPr/>
        </p:nvSpPr>
        <p:spPr>
          <a:xfrm>
            <a:off x="5742432" y="1600200"/>
            <a:ext cx="2331720" cy="502920"/>
          </a:xfrm>
          <a:prstGeom prst="rect">
            <a:avLst/>
          </a:prstGeom>
          <a:solidFill>
            <a:srgbClr val="16865A"/>
          </a:solidFill>
          <a:ln w="12700">
            <a:solidFill>
              <a:srgbClr val="16865A"/>
            </a:solidFill>
            <a:prstDash val="solid"/>
          </a:ln>
        </p:spPr>
      </p:sp>
      <p:sp>
        <p:nvSpPr>
          <p:cNvPr id="31" name="Text 29"/>
          <p:cNvSpPr/>
          <p:nvPr/>
        </p:nvSpPr>
        <p:spPr>
          <a:xfrm>
            <a:off x="5852160" y="1773936"/>
            <a:ext cx="2112264" cy="146304"/>
          </a:xfrm>
          <a:prstGeom prst="rect">
            <a:avLst/>
          </a:prstGeom>
          <a:noFill/>
          <a:ln/>
        </p:spPr>
        <p:txBody>
          <a:bodyPr wrap="square" lIns="0" tIns="0" rIns="0" bIns="0" rtlCol="0" anchor="ctr"/>
          <a:lstStyle/>
          <a:p>
            <a:pPr algn="ctr" indent="0" marL="0">
              <a:buNone/>
            </a:pPr>
            <a:r>
              <a:rPr lang="en-US" sz="750" b="1" spc="100" kern="0" dirty="0">
                <a:solidFill>
                  <a:srgbClr val="FFFFFF"/>
                </a:solidFill>
              </a:rPr>
              <a:t>3 · INTELIGENCIA</a:t>
            </a:r>
            <a:endParaRPr lang="en-US" sz="750" dirty="0"/>
          </a:p>
        </p:txBody>
      </p:sp>
      <p:sp>
        <p:nvSpPr>
          <p:cNvPr id="32" name="Shape 30"/>
          <p:cNvSpPr/>
          <p:nvPr/>
        </p:nvSpPr>
        <p:spPr>
          <a:xfrm>
            <a:off x="5971032" y="2496312"/>
            <a:ext cx="146304" cy="146304"/>
          </a:xfrm>
          <a:prstGeom prst="ellipse">
            <a:avLst/>
          </a:prstGeom>
          <a:solidFill>
            <a:srgbClr val="16865A"/>
          </a:solidFill>
          <a:ln w="12700">
            <a:solidFill>
              <a:srgbClr val="16865A"/>
            </a:solidFill>
            <a:prstDash val="solid"/>
          </a:ln>
        </p:spPr>
      </p:sp>
      <p:sp>
        <p:nvSpPr>
          <p:cNvPr id="33" name="Text 31"/>
          <p:cNvSpPr/>
          <p:nvPr/>
        </p:nvSpPr>
        <p:spPr>
          <a:xfrm>
            <a:off x="6217920" y="2450592"/>
            <a:ext cx="1636776" cy="256032"/>
          </a:xfrm>
          <a:prstGeom prst="rect">
            <a:avLst/>
          </a:prstGeom>
          <a:noFill/>
          <a:ln/>
        </p:spPr>
        <p:txBody>
          <a:bodyPr wrap="square" lIns="0" tIns="0" rIns="0" bIns="0" rtlCol="0" anchor="ctr">
            <a:normAutofit/>
          </a:bodyPr>
          <a:lstStyle/>
          <a:p>
            <a:pPr indent="0" marL="0">
              <a:buNone/>
            </a:pPr>
            <a:r>
              <a:rPr lang="en-US" sz="920" b="1" dirty="0">
                <a:solidFill>
                  <a:srgbClr val="172033"/>
                </a:solidFill>
              </a:rPr>
              <a:t>9 reglas de riesgo</a:t>
            </a:r>
            <a:endParaRPr lang="en-US" sz="920" dirty="0"/>
          </a:p>
        </p:txBody>
      </p:sp>
      <p:sp>
        <p:nvSpPr>
          <p:cNvPr id="34" name="Shape 32"/>
          <p:cNvSpPr/>
          <p:nvPr/>
        </p:nvSpPr>
        <p:spPr>
          <a:xfrm>
            <a:off x="5971032" y="3154680"/>
            <a:ext cx="146304" cy="146304"/>
          </a:xfrm>
          <a:prstGeom prst="ellipse">
            <a:avLst/>
          </a:prstGeom>
          <a:solidFill>
            <a:srgbClr val="16865A"/>
          </a:solidFill>
          <a:ln w="12700">
            <a:solidFill>
              <a:srgbClr val="16865A"/>
            </a:solidFill>
            <a:prstDash val="solid"/>
          </a:ln>
        </p:spPr>
      </p:sp>
      <p:sp>
        <p:nvSpPr>
          <p:cNvPr id="35" name="Text 33"/>
          <p:cNvSpPr/>
          <p:nvPr/>
        </p:nvSpPr>
        <p:spPr>
          <a:xfrm>
            <a:off x="6217920" y="3108960"/>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Isolation Forest</a:t>
            </a:r>
            <a:endParaRPr lang="en-US" sz="920" dirty="0"/>
          </a:p>
        </p:txBody>
      </p:sp>
      <p:sp>
        <p:nvSpPr>
          <p:cNvPr id="36" name="Shape 34"/>
          <p:cNvSpPr/>
          <p:nvPr/>
        </p:nvSpPr>
        <p:spPr>
          <a:xfrm>
            <a:off x="5971032" y="3813048"/>
            <a:ext cx="146304" cy="146304"/>
          </a:xfrm>
          <a:prstGeom prst="ellipse">
            <a:avLst/>
          </a:prstGeom>
          <a:solidFill>
            <a:srgbClr val="16865A"/>
          </a:solidFill>
          <a:ln w="12700">
            <a:solidFill>
              <a:srgbClr val="16865A"/>
            </a:solidFill>
            <a:prstDash val="solid"/>
          </a:ln>
        </p:spPr>
      </p:sp>
      <p:sp>
        <p:nvSpPr>
          <p:cNvPr id="37" name="Text 35"/>
          <p:cNvSpPr/>
          <p:nvPr/>
        </p:nvSpPr>
        <p:spPr>
          <a:xfrm>
            <a:off x="6217920" y="3767328"/>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Herramientas Hive</a:t>
            </a:r>
            <a:endParaRPr lang="en-US" sz="920" dirty="0"/>
          </a:p>
        </p:txBody>
      </p:sp>
      <p:sp>
        <p:nvSpPr>
          <p:cNvPr id="38" name="Shape 36"/>
          <p:cNvSpPr/>
          <p:nvPr/>
        </p:nvSpPr>
        <p:spPr>
          <a:xfrm>
            <a:off x="5971032" y="4471416"/>
            <a:ext cx="146304" cy="146304"/>
          </a:xfrm>
          <a:prstGeom prst="ellipse">
            <a:avLst/>
          </a:prstGeom>
          <a:solidFill>
            <a:srgbClr val="16865A"/>
          </a:solidFill>
          <a:ln w="12700">
            <a:solidFill>
              <a:srgbClr val="16865A"/>
            </a:solidFill>
            <a:prstDash val="solid"/>
          </a:ln>
        </p:spPr>
      </p:sp>
      <p:sp>
        <p:nvSpPr>
          <p:cNvPr id="39" name="Text 37"/>
          <p:cNvSpPr/>
          <p:nvPr/>
        </p:nvSpPr>
        <p:spPr>
          <a:xfrm>
            <a:off x="6217920" y="4425696"/>
            <a:ext cx="16367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Caché y evidencia</a:t>
            </a:r>
            <a:endParaRPr lang="en-US" sz="920" dirty="0"/>
          </a:p>
        </p:txBody>
      </p:sp>
      <p:sp>
        <p:nvSpPr>
          <p:cNvPr id="40" name="Shape 38"/>
          <p:cNvSpPr/>
          <p:nvPr/>
        </p:nvSpPr>
        <p:spPr>
          <a:xfrm>
            <a:off x="8165592" y="3337560"/>
            <a:ext cx="182880" cy="329184"/>
          </a:xfrm>
          <a:prstGeom prst="chevron">
            <a:avLst/>
          </a:prstGeom>
          <a:solidFill>
            <a:srgbClr val="FEC82F"/>
          </a:solidFill>
          <a:ln w="12700">
            <a:solidFill>
              <a:srgbClr val="FEC82F"/>
            </a:solidFill>
            <a:prstDash val="solid"/>
          </a:ln>
        </p:spPr>
      </p:sp>
      <p:sp>
        <p:nvSpPr>
          <p:cNvPr id="41" name="Shape 39"/>
          <p:cNvSpPr/>
          <p:nvPr/>
        </p:nvSpPr>
        <p:spPr>
          <a:xfrm>
            <a:off x="8330184" y="1600200"/>
            <a:ext cx="3246120" cy="4187952"/>
          </a:xfrm>
          <a:prstGeom prst="roundRect">
            <a:avLst>
              <a:gd name="adj" fmla="val 1972"/>
            </a:avLst>
          </a:prstGeom>
          <a:solidFill>
            <a:srgbClr val="FFFFFF"/>
          </a:solidFill>
          <a:ln w="15240">
            <a:solidFill>
              <a:srgbClr val="CE1126"/>
            </a:solidFill>
            <a:prstDash val="solid"/>
          </a:ln>
        </p:spPr>
      </p:sp>
      <p:sp>
        <p:nvSpPr>
          <p:cNvPr id="42" name="Shape 40"/>
          <p:cNvSpPr/>
          <p:nvPr/>
        </p:nvSpPr>
        <p:spPr>
          <a:xfrm>
            <a:off x="8330184" y="1600200"/>
            <a:ext cx="3246120" cy="502920"/>
          </a:xfrm>
          <a:prstGeom prst="rect">
            <a:avLst/>
          </a:prstGeom>
          <a:solidFill>
            <a:srgbClr val="CE1126"/>
          </a:solidFill>
          <a:ln w="12700">
            <a:solidFill>
              <a:srgbClr val="CE1126"/>
            </a:solidFill>
            <a:prstDash val="solid"/>
          </a:ln>
        </p:spPr>
      </p:sp>
      <p:sp>
        <p:nvSpPr>
          <p:cNvPr id="43" name="Text 41"/>
          <p:cNvSpPr/>
          <p:nvPr/>
        </p:nvSpPr>
        <p:spPr>
          <a:xfrm>
            <a:off x="8439912" y="1773936"/>
            <a:ext cx="3026664" cy="146304"/>
          </a:xfrm>
          <a:prstGeom prst="rect">
            <a:avLst/>
          </a:prstGeom>
          <a:noFill/>
          <a:ln/>
        </p:spPr>
        <p:txBody>
          <a:bodyPr wrap="square" lIns="0" tIns="0" rIns="0" bIns="0" rtlCol="0" anchor="ctr"/>
          <a:lstStyle/>
          <a:p>
            <a:pPr algn="ctr" indent="0" marL="0">
              <a:buNone/>
            </a:pPr>
            <a:r>
              <a:rPr lang="en-US" sz="750" b="1" spc="100" kern="0" dirty="0">
                <a:solidFill>
                  <a:srgbClr val="FFFFFF"/>
                </a:solidFill>
              </a:rPr>
              <a:t>4 · EXPERIENCIA</a:t>
            </a:r>
            <a:endParaRPr lang="en-US" sz="750" dirty="0"/>
          </a:p>
        </p:txBody>
      </p:sp>
      <p:sp>
        <p:nvSpPr>
          <p:cNvPr id="44" name="Shape 42"/>
          <p:cNvSpPr/>
          <p:nvPr/>
        </p:nvSpPr>
        <p:spPr>
          <a:xfrm>
            <a:off x="8558784" y="2496312"/>
            <a:ext cx="146304" cy="146304"/>
          </a:xfrm>
          <a:prstGeom prst="ellipse">
            <a:avLst/>
          </a:prstGeom>
          <a:solidFill>
            <a:srgbClr val="CE1126"/>
          </a:solidFill>
          <a:ln w="12700">
            <a:solidFill>
              <a:srgbClr val="CE1126"/>
            </a:solidFill>
            <a:prstDash val="solid"/>
          </a:ln>
        </p:spPr>
      </p:sp>
      <p:sp>
        <p:nvSpPr>
          <p:cNvPr id="45" name="Text 43"/>
          <p:cNvSpPr/>
          <p:nvPr/>
        </p:nvSpPr>
        <p:spPr>
          <a:xfrm>
            <a:off x="8805672" y="2450592"/>
            <a:ext cx="2551176" cy="256032"/>
          </a:xfrm>
          <a:prstGeom prst="rect">
            <a:avLst/>
          </a:prstGeom>
          <a:noFill/>
          <a:ln/>
        </p:spPr>
        <p:txBody>
          <a:bodyPr wrap="square" lIns="0" tIns="0" rIns="0" bIns="0" rtlCol="0" anchor="ctr">
            <a:normAutofit/>
          </a:bodyPr>
          <a:lstStyle/>
          <a:p>
            <a:pPr indent="0" marL="0">
              <a:buNone/>
            </a:pPr>
            <a:r>
              <a:rPr lang="en-US" sz="920" b="1" dirty="0">
                <a:solidFill>
                  <a:srgbClr val="172033"/>
                </a:solidFill>
              </a:rPr>
              <a:t>React + Vite</a:t>
            </a:r>
            <a:endParaRPr lang="en-US" sz="920" dirty="0"/>
          </a:p>
        </p:txBody>
      </p:sp>
      <p:sp>
        <p:nvSpPr>
          <p:cNvPr id="46" name="Shape 44"/>
          <p:cNvSpPr/>
          <p:nvPr/>
        </p:nvSpPr>
        <p:spPr>
          <a:xfrm>
            <a:off x="8558784" y="3154680"/>
            <a:ext cx="146304" cy="146304"/>
          </a:xfrm>
          <a:prstGeom prst="ellipse">
            <a:avLst/>
          </a:prstGeom>
          <a:solidFill>
            <a:srgbClr val="CE1126"/>
          </a:solidFill>
          <a:ln w="12700">
            <a:solidFill>
              <a:srgbClr val="CE1126"/>
            </a:solidFill>
            <a:prstDash val="solid"/>
          </a:ln>
        </p:spPr>
      </p:sp>
      <p:sp>
        <p:nvSpPr>
          <p:cNvPr id="47" name="Text 45"/>
          <p:cNvSpPr/>
          <p:nvPr/>
        </p:nvSpPr>
        <p:spPr>
          <a:xfrm>
            <a:off x="8805672" y="3108960"/>
            <a:ext cx="25511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Dashboard</a:t>
            </a:r>
            <a:endParaRPr lang="en-US" sz="920" dirty="0"/>
          </a:p>
        </p:txBody>
      </p:sp>
      <p:sp>
        <p:nvSpPr>
          <p:cNvPr id="48" name="Shape 46"/>
          <p:cNvSpPr/>
          <p:nvPr/>
        </p:nvSpPr>
        <p:spPr>
          <a:xfrm>
            <a:off x="8558784" y="3813048"/>
            <a:ext cx="146304" cy="146304"/>
          </a:xfrm>
          <a:prstGeom prst="ellipse">
            <a:avLst/>
          </a:prstGeom>
          <a:solidFill>
            <a:srgbClr val="CE1126"/>
          </a:solidFill>
          <a:ln w="12700">
            <a:solidFill>
              <a:srgbClr val="CE1126"/>
            </a:solidFill>
            <a:prstDash val="solid"/>
          </a:ln>
        </p:spPr>
      </p:sp>
      <p:sp>
        <p:nvSpPr>
          <p:cNvPr id="49" name="Text 47"/>
          <p:cNvSpPr/>
          <p:nvPr/>
        </p:nvSpPr>
        <p:spPr>
          <a:xfrm>
            <a:off x="8805672" y="3767328"/>
            <a:ext cx="25511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Alertas y perfiles</a:t>
            </a:r>
            <a:endParaRPr lang="en-US" sz="920" dirty="0"/>
          </a:p>
        </p:txBody>
      </p:sp>
      <p:sp>
        <p:nvSpPr>
          <p:cNvPr id="50" name="Shape 48"/>
          <p:cNvSpPr/>
          <p:nvPr/>
        </p:nvSpPr>
        <p:spPr>
          <a:xfrm>
            <a:off x="8558784" y="4471416"/>
            <a:ext cx="146304" cy="146304"/>
          </a:xfrm>
          <a:prstGeom prst="ellipse">
            <a:avLst/>
          </a:prstGeom>
          <a:solidFill>
            <a:srgbClr val="CE1126"/>
          </a:solidFill>
          <a:ln w="12700">
            <a:solidFill>
              <a:srgbClr val="CE1126"/>
            </a:solidFill>
            <a:prstDash val="solid"/>
          </a:ln>
        </p:spPr>
      </p:sp>
      <p:sp>
        <p:nvSpPr>
          <p:cNvPr id="51" name="Text 49"/>
          <p:cNvSpPr/>
          <p:nvPr/>
        </p:nvSpPr>
        <p:spPr>
          <a:xfrm>
            <a:off x="8805672" y="4425696"/>
            <a:ext cx="2551176" cy="256032"/>
          </a:xfrm>
          <a:prstGeom prst="rect">
            <a:avLst/>
          </a:prstGeom>
          <a:noFill/>
          <a:ln/>
        </p:spPr>
        <p:txBody>
          <a:bodyPr wrap="square" lIns="0" tIns="0" rIns="0" bIns="0" rtlCol="0" anchor="ctr">
            <a:normAutofit/>
          </a:bodyPr>
          <a:lstStyle/>
          <a:p>
            <a:pPr indent="0" marL="0">
              <a:buNone/>
            </a:pPr>
            <a:r>
              <a:rPr lang="en-US" sz="920" dirty="0">
                <a:solidFill>
                  <a:srgbClr val="172033"/>
                </a:solidFill>
              </a:rPr>
              <a:t>Asistente virtual</a:t>
            </a:r>
            <a:endParaRPr lang="en-US" sz="920" dirty="0"/>
          </a:p>
        </p:txBody>
      </p:sp>
      <p:sp>
        <p:nvSpPr>
          <p:cNvPr id="52" name="Shape 50"/>
          <p:cNvSpPr/>
          <p:nvPr/>
        </p:nvSpPr>
        <p:spPr>
          <a:xfrm>
            <a:off x="1737360" y="6053328"/>
            <a:ext cx="8458200" cy="0"/>
          </a:xfrm>
          <a:prstGeom prst="line">
            <a:avLst/>
          </a:prstGeom>
          <a:noFill/>
          <a:ln w="21590">
            <a:solidFill>
              <a:srgbClr val="002D58"/>
            </a:solidFill>
            <a:prstDash val="solid"/>
            <a:headEnd type="triangle"/>
          </a:ln>
        </p:spPr>
      </p:sp>
      <p:sp>
        <p:nvSpPr>
          <p:cNvPr id="53" name="Text 51"/>
          <p:cNvSpPr/>
          <p:nvPr/>
        </p:nvSpPr>
        <p:spPr>
          <a:xfrm>
            <a:off x="4526280" y="6144768"/>
            <a:ext cx="2103120" cy="182880"/>
          </a:xfrm>
          <a:prstGeom prst="rect">
            <a:avLst/>
          </a:prstGeom>
          <a:noFill/>
          <a:ln/>
        </p:spPr>
        <p:txBody>
          <a:bodyPr wrap="square" lIns="0" tIns="0" rIns="0" bIns="0" rtlCol="0" anchor="ctr"/>
          <a:lstStyle/>
          <a:p>
            <a:pPr algn="ctr" indent="0" marL="0">
              <a:buNone/>
            </a:pPr>
            <a:r>
              <a:rPr lang="en-US" sz="700" b="1" dirty="0">
                <a:solidFill>
                  <a:srgbClr val="002D58"/>
                </a:solidFill>
              </a:rPr>
              <a:t>Respuesta y evidencia</a:t>
            </a:r>
            <a:endParaRPr lang="en-US" sz="70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IA EXPLICABLE</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Tres capas complementarias; ninguna decide culpabilidad</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La IA ayuda a encontrar y explicar señales. La revisión humana conserva la decisión final.</a:t>
            </a:r>
            <a:endParaRPr lang="en-US" sz="950" dirty="0"/>
          </a:p>
        </p:txBody>
      </p:sp>
      <p:sp>
        <p:nvSpPr>
          <p:cNvPr id="5" name="Shape 3"/>
          <p:cNvSpPr/>
          <p:nvPr/>
        </p:nvSpPr>
        <p:spPr>
          <a:xfrm>
            <a:off x="566928" y="1554480"/>
            <a:ext cx="3401568" cy="3401568"/>
          </a:xfrm>
          <a:prstGeom prst="roundRect">
            <a:avLst>
              <a:gd name="adj" fmla="val 2151"/>
            </a:avLst>
          </a:prstGeom>
          <a:solidFill>
            <a:srgbClr val="EDF3F8"/>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6" name="Shape 4"/>
          <p:cNvSpPr/>
          <p:nvPr/>
        </p:nvSpPr>
        <p:spPr>
          <a:xfrm>
            <a:off x="566928" y="1554480"/>
            <a:ext cx="64008" cy="3401568"/>
          </a:xfrm>
          <a:prstGeom prst="rect">
            <a:avLst/>
          </a:prstGeom>
          <a:solidFill>
            <a:srgbClr val="004884"/>
          </a:solidFill>
          <a:ln w="12700">
            <a:solidFill>
              <a:srgbClr val="004884"/>
            </a:solidFill>
            <a:prstDash val="solid"/>
          </a:ln>
        </p:spPr>
      </p:sp>
      <p:sp>
        <p:nvSpPr>
          <p:cNvPr id="7" name="Text 5"/>
          <p:cNvSpPr/>
          <p:nvPr/>
        </p:nvSpPr>
        <p:spPr>
          <a:xfrm>
            <a:off x="768096" y="1719072"/>
            <a:ext cx="3035808" cy="292608"/>
          </a:xfrm>
          <a:prstGeom prst="rect">
            <a:avLst/>
          </a:prstGeom>
          <a:noFill/>
          <a:ln/>
        </p:spPr>
        <p:txBody>
          <a:bodyPr wrap="square" lIns="0" tIns="0" rIns="0" bIns="0" rtlCol="0" anchor="ctr"/>
          <a:lstStyle/>
          <a:p>
            <a:pPr indent="0" marL="0">
              <a:buNone/>
            </a:pPr>
            <a:r>
              <a:rPr lang="en-US" sz="1400" b="1" dirty="0">
                <a:solidFill>
                  <a:srgbClr val="002D58"/>
                </a:solidFill>
                <a:latin typeface="Montserrat" pitchFamily="34" charset="0"/>
                <a:ea typeface="Montserrat" pitchFamily="34" charset="-122"/>
                <a:cs typeface="Montserrat" pitchFamily="34" charset="-120"/>
              </a:rPr>
              <a:t>Reglas transparentes</a:t>
            </a:r>
            <a:endParaRPr lang="en-US" sz="1400" dirty="0"/>
          </a:p>
        </p:txBody>
      </p:sp>
      <p:sp>
        <p:nvSpPr>
          <p:cNvPr id="8" name="Text 6"/>
          <p:cNvSpPr/>
          <p:nvPr/>
        </p:nvSpPr>
        <p:spPr>
          <a:xfrm>
            <a:off x="768096" y="2084832"/>
            <a:ext cx="3035808" cy="2743200"/>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9 banderas con puntos visibles:</a:t>
            </a:r>
            <a:endParaRPr lang="en-US" sz="1000" dirty="0"/>
          </a:p>
          <a:p>
            <a:pPr indent="0" marL="0">
              <a:buNone/>
            </a:pP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vencimientos y extensiones</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baja ejecución</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concentración de entidades</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antecedentes y multas</a:t>
            </a:r>
            <a:endParaRPr lang="en-US" sz="1000" dirty="0"/>
          </a:p>
          <a:p>
            <a:pPr indent="0" marL="0">
              <a:buNone/>
            </a:pP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El usuario ve la causa y el aporte al score.</a:t>
            </a:r>
            <a:endParaRPr lang="en-US" sz="1000" dirty="0"/>
          </a:p>
        </p:txBody>
      </p:sp>
      <p:sp>
        <p:nvSpPr>
          <p:cNvPr id="9" name="Shape 7"/>
          <p:cNvSpPr/>
          <p:nvPr/>
        </p:nvSpPr>
        <p:spPr>
          <a:xfrm>
            <a:off x="4389120" y="1554480"/>
            <a:ext cx="3401568" cy="3401568"/>
          </a:xfrm>
          <a:prstGeom prst="roundRect">
            <a:avLst>
              <a:gd name="adj" fmla="val 2151"/>
            </a:avLst>
          </a:prstGeom>
          <a:solidFill>
            <a:srgbClr val="FFFCED"/>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0" name="Shape 8"/>
          <p:cNvSpPr/>
          <p:nvPr/>
        </p:nvSpPr>
        <p:spPr>
          <a:xfrm>
            <a:off x="4389120" y="1554480"/>
            <a:ext cx="64008" cy="3401568"/>
          </a:xfrm>
          <a:prstGeom prst="rect">
            <a:avLst/>
          </a:prstGeom>
          <a:solidFill>
            <a:srgbClr val="FEC82F"/>
          </a:solidFill>
          <a:ln w="12700">
            <a:solidFill>
              <a:srgbClr val="FEC82F"/>
            </a:solidFill>
            <a:prstDash val="solid"/>
          </a:ln>
        </p:spPr>
      </p:sp>
      <p:sp>
        <p:nvSpPr>
          <p:cNvPr id="11" name="Text 9"/>
          <p:cNvSpPr/>
          <p:nvPr/>
        </p:nvSpPr>
        <p:spPr>
          <a:xfrm>
            <a:off x="4590288" y="1719072"/>
            <a:ext cx="3035808" cy="292608"/>
          </a:xfrm>
          <a:prstGeom prst="rect">
            <a:avLst/>
          </a:prstGeom>
          <a:noFill/>
          <a:ln/>
        </p:spPr>
        <p:txBody>
          <a:bodyPr wrap="square" lIns="0" tIns="0" rIns="0" bIns="0" rtlCol="0" anchor="ctr"/>
          <a:lstStyle/>
          <a:p>
            <a:pPr indent="0" marL="0">
              <a:buNone/>
            </a:pPr>
            <a:r>
              <a:rPr lang="en-US" sz="1400" b="1" dirty="0">
                <a:solidFill>
                  <a:srgbClr val="002D58"/>
                </a:solidFill>
                <a:latin typeface="Montserrat" pitchFamily="34" charset="0"/>
                <a:ea typeface="Montserrat" pitchFamily="34" charset="-122"/>
                <a:cs typeface="Montserrat" pitchFamily="34" charset="-120"/>
              </a:rPr>
              <a:t>Detección de anomalías</a:t>
            </a:r>
            <a:endParaRPr lang="en-US" sz="1400" dirty="0"/>
          </a:p>
        </p:txBody>
      </p:sp>
      <p:sp>
        <p:nvSpPr>
          <p:cNvPr id="12" name="Text 10"/>
          <p:cNvSpPr/>
          <p:nvPr/>
        </p:nvSpPr>
        <p:spPr>
          <a:xfrm>
            <a:off x="4590288" y="2084832"/>
            <a:ext cx="3035808" cy="2743200"/>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Isolation Forest por sector:</a:t>
            </a:r>
            <a:endParaRPr lang="en-US" sz="1000" dirty="0"/>
          </a:p>
          <a:p>
            <a:pPr indent="0" marL="0">
              <a:buNone/>
            </a:pP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9 variables normalizadas</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100 árboles</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contaminación esperada: 15 %</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bandera si score &lt; −0,05</a:t>
            </a:r>
            <a:endParaRPr lang="en-US" sz="1000" dirty="0"/>
          </a:p>
          <a:p>
            <a:pPr indent="0" marL="0">
              <a:buNone/>
            </a:pP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Compara cada NIT con sus pares.</a:t>
            </a:r>
            <a:endParaRPr lang="en-US" sz="1000" dirty="0"/>
          </a:p>
        </p:txBody>
      </p:sp>
      <p:sp>
        <p:nvSpPr>
          <p:cNvPr id="13" name="Shape 11"/>
          <p:cNvSpPr/>
          <p:nvPr/>
        </p:nvSpPr>
        <p:spPr>
          <a:xfrm>
            <a:off x="8211312" y="1554480"/>
            <a:ext cx="3401568" cy="3401568"/>
          </a:xfrm>
          <a:prstGeom prst="roundRect">
            <a:avLst>
              <a:gd name="adj" fmla="val 2151"/>
            </a:avLst>
          </a:prstGeom>
          <a:solidFill>
            <a:srgbClr val="EAF7F1"/>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4" name="Shape 12"/>
          <p:cNvSpPr/>
          <p:nvPr/>
        </p:nvSpPr>
        <p:spPr>
          <a:xfrm>
            <a:off x="8211312" y="1554480"/>
            <a:ext cx="64008" cy="3401568"/>
          </a:xfrm>
          <a:prstGeom prst="rect">
            <a:avLst/>
          </a:prstGeom>
          <a:solidFill>
            <a:srgbClr val="16865A"/>
          </a:solidFill>
          <a:ln w="12700">
            <a:solidFill>
              <a:srgbClr val="16865A"/>
            </a:solidFill>
            <a:prstDash val="solid"/>
          </a:ln>
        </p:spPr>
      </p:sp>
      <p:sp>
        <p:nvSpPr>
          <p:cNvPr id="15" name="Text 13"/>
          <p:cNvSpPr/>
          <p:nvPr/>
        </p:nvSpPr>
        <p:spPr>
          <a:xfrm>
            <a:off x="8412480" y="1719072"/>
            <a:ext cx="3035808" cy="292608"/>
          </a:xfrm>
          <a:prstGeom prst="rect">
            <a:avLst/>
          </a:prstGeom>
          <a:noFill/>
          <a:ln/>
        </p:spPr>
        <p:txBody>
          <a:bodyPr wrap="square" lIns="0" tIns="0" rIns="0" bIns="0" rtlCol="0" anchor="ctr"/>
          <a:lstStyle/>
          <a:p>
            <a:pPr indent="0" marL="0">
              <a:buNone/>
            </a:pPr>
            <a:r>
              <a:rPr lang="en-US" sz="1400" b="1" dirty="0">
                <a:solidFill>
                  <a:srgbClr val="002D58"/>
                </a:solidFill>
                <a:latin typeface="Montserrat" pitchFamily="34" charset="0"/>
                <a:ea typeface="Montserrat" pitchFamily="34" charset="-122"/>
                <a:cs typeface="Montserrat" pitchFamily="34" charset="-120"/>
              </a:rPr>
              <a:t>Agente conversacional</a:t>
            </a:r>
            <a:endParaRPr lang="en-US" sz="1400" dirty="0"/>
          </a:p>
        </p:txBody>
      </p:sp>
      <p:sp>
        <p:nvSpPr>
          <p:cNvPr id="16" name="Text 14"/>
          <p:cNvSpPr/>
          <p:nvPr/>
        </p:nvSpPr>
        <p:spPr>
          <a:xfrm>
            <a:off x="8412480" y="2084832"/>
            <a:ext cx="3035808" cy="2743200"/>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Hive Agents coordina herramientas para:</a:t>
            </a:r>
            <a:endParaRPr lang="en-US" sz="1000" dirty="0"/>
          </a:p>
          <a:p>
            <a:pPr indent="0" marL="0">
              <a:buNone/>
            </a:pP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buscar contratistas</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consultar scores y sanciones</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listar riesgos por sector</a:t>
            </a: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 responder con contexto y fuente</a:t>
            </a:r>
            <a:endParaRPr lang="en-US" sz="1000" dirty="0"/>
          </a:p>
          <a:p>
            <a:pPr indent="0" marL="0">
              <a:buNone/>
            </a:pPr>
            <a:endParaRPr lang="en-US" sz="1000" dirty="0"/>
          </a:p>
          <a:p>
            <a:pPr indent="0" marL="0">
              <a:buNone/>
            </a:pPr>
            <a:r>
              <a:rPr lang="en-US" sz="1000" dirty="0">
                <a:solidFill>
                  <a:srgbClr val="172033"/>
                </a:solidFill>
                <a:latin typeface="Montserrat" pitchFamily="34" charset="0"/>
                <a:ea typeface="Montserrat" pitchFamily="34" charset="-122"/>
                <a:cs typeface="Montserrat" pitchFamily="34" charset="-120"/>
              </a:rPr>
              <a:t>No responde solo desde memoria.</a:t>
            </a:r>
            <a:endParaRPr lang="en-US" sz="1000" dirty="0"/>
          </a:p>
        </p:txBody>
      </p:sp>
      <p:sp>
        <p:nvSpPr>
          <p:cNvPr id="17" name="Shape 15"/>
          <p:cNvSpPr/>
          <p:nvPr/>
        </p:nvSpPr>
        <p:spPr>
          <a:xfrm>
            <a:off x="566928" y="5266944"/>
            <a:ext cx="11045952" cy="658368"/>
          </a:xfrm>
          <a:prstGeom prst="roundRect">
            <a:avLst>
              <a:gd name="adj" fmla="val 5556"/>
            </a:avLst>
          </a:prstGeom>
          <a:solidFill>
            <a:srgbClr val="FDEBEC"/>
          </a:solidFill>
          <a:ln w="12700">
            <a:solidFill>
              <a:srgbClr val="F5C4CA"/>
            </a:solidFill>
            <a:prstDash val="solid"/>
          </a:ln>
        </p:spPr>
      </p:sp>
      <p:sp>
        <p:nvSpPr>
          <p:cNvPr id="18" name="Text 16"/>
          <p:cNvSpPr/>
          <p:nvPr/>
        </p:nvSpPr>
        <p:spPr>
          <a:xfrm>
            <a:off x="822960" y="5486400"/>
            <a:ext cx="1572768" cy="182880"/>
          </a:xfrm>
          <a:prstGeom prst="rect">
            <a:avLst/>
          </a:prstGeom>
          <a:noFill/>
          <a:ln/>
        </p:spPr>
        <p:txBody>
          <a:bodyPr wrap="square" lIns="0" tIns="0" rIns="0" bIns="0" rtlCol="0" anchor="ctr"/>
          <a:lstStyle/>
          <a:p>
            <a:pPr indent="0" marL="0">
              <a:buNone/>
            </a:pPr>
            <a:r>
              <a:rPr lang="en-US" sz="750" b="1" spc="110" kern="0" dirty="0">
                <a:solidFill>
                  <a:srgbClr val="CE1126"/>
                </a:solidFill>
              </a:rPr>
              <a:t>LÍMITES Y SESGOS</a:t>
            </a:r>
            <a:endParaRPr lang="en-US" sz="750" dirty="0"/>
          </a:p>
        </p:txBody>
      </p:sp>
      <p:sp>
        <p:nvSpPr>
          <p:cNvPr id="19" name="Text 17"/>
          <p:cNvSpPr/>
          <p:nvPr/>
        </p:nvSpPr>
        <p:spPr>
          <a:xfrm>
            <a:off x="2286000" y="5468112"/>
            <a:ext cx="9006840" cy="219456"/>
          </a:xfrm>
          <a:prstGeom prst="rect">
            <a:avLst/>
          </a:prstGeom>
          <a:noFill/>
          <a:ln/>
        </p:spPr>
        <p:txBody>
          <a:bodyPr wrap="square" lIns="0" tIns="0" rIns="0" bIns="0" rtlCol="0" anchor="ctr">
            <a:normAutofit/>
          </a:bodyPr>
          <a:lstStyle/>
          <a:p>
            <a:pPr algn="ctr" indent="0" marL="0">
              <a:buNone/>
            </a:pPr>
            <a:r>
              <a:rPr lang="en-US" sz="880" b="1" dirty="0">
                <a:solidFill>
                  <a:srgbClr val="172033"/>
                </a:solidFill>
              </a:rPr>
              <a:t>Calidad y rezago de la fuente · ausencia de etiquetas de corrupción · outlier ≠ irregularidad · diferencias entre sectores · revisión humana obligatoria</a:t>
            </a:r>
            <a:endParaRPr lang="en-US" sz="880" dirty="0"/>
          </a:p>
        </p:txBody>
      </p:sp>
      <p:sp>
        <p:nvSpPr>
          <p:cNvPr id="20" name="Text 18"/>
          <p:cNvSpPr/>
          <p:nvPr/>
        </p:nvSpPr>
        <p:spPr>
          <a:xfrm>
            <a:off x="914400" y="6071616"/>
            <a:ext cx="10332720" cy="192024"/>
          </a:xfrm>
          <a:prstGeom prst="rect">
            <a:avLst/>
          </a:prstGeom>
          <a:noFill/>
          <a:ln/>
        </p:spPr>
        <p:txBody>
          <a:bodyPr wrap="square" lIns="0" tIns="0" rIns="0" bIns="0" rtlCol="0" anchor="ctr"/>
          <a:lstStyle/>
          <a:p>
            <a:pPr algn="ctr" indent="0" marL="0">
              <a:buNone/>
            </a:pPr>
            <a:r>
              <a:rPr lang="en-US" sz="750" dirty="0">
                <a:solidFill>
                  <a:srgbClr val="5A677D"/>
                </a:solidFill>
              </a:rPr>
              <a:t>Validamos coherencia del score, estabilidad del pipeline y trazabilidad; no publicamos una “precisión” ficticia sin etiquetas confiables.</a:t>
            </a:r>
            <a:endParaRPr lang="en-US" sz="75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RESULTADOS E IMPACTO</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La solución está desplegada, funciona con datos reales y puede replicarse</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Captura del módulo de alertas en producción · 16 de julio de 2026.</a:t>
            </a:r>
            <a:endParaRPr lang="en-US" sz="950" dirty="0"/>
          </a:p>
        </p:txBody>
      </p:sp>
      <p:sp>
        <p:nvSpPr>
          <p:cNvPr id="5" name="Shape 3"/>
          <p:cNvSpPr/>
          <p:nvPr/>
        </p:nvSpPr>
        <p:spPr>
          <a:xfrm>
            <a:off x="530352" y="1499616"/>
            <a:ext cx="6720840" cy="4224528"/>
          </a:xfrm>
          <a:prstGeom prst="roundRect">
            <a:avLst>
              <a:gd name="adj" fmla="val 1082"/>
            </a:avLst>
          </a:prstGeom>
          <a:solidFill>
            <a:srgbClr val="FFFFFF"/>
          </a:solidFill>
          <a:ln w="12700">
            <a:solidFill>
              <a:srgbClr val="D8E1EC"/>
            </a:solidFill>
            <a:prstDash val="solid"/>
          </a:ln>
        </p:spPr>
      </p:sp>
      <p:pic>
        <p:nvPicPr>
          <p:cNvPr id="6" name="Image 0" descr="/home/johnpaez/Documentos/Apps/observatorio/scripts/presentation_assets/alertas.png">    </p:cNvPr>
          <p:cNvPicPr>
            <a:picLocks noChangeAspect="1"/>
          </p:cNvPicPr>
          <p:nvPr/>
        </p:nvPicPr>
        <p:blipFill>
          <a:blip r:embed="rId1"/>
          <a:stretch>
            <a:fillRect/>
          </a:stretch>
        </p:blipFill>
        <p:spPr>
          <a:xfrm>
            <a:off x="676656" y="1645920"/>
            <a:ext cx="6428232" cy="4014216"/>
          </a:xfrm>
          <a:prstGeom prst="rect">
            <a:avLst/>
          </a:prstGeom>
        </p:spPr>
      </p:pic>
      <p:sp>
        <p:nvSpPr>
          <p:cNvPr id="7" name="Text 4"/>
          <p:cNvSpPr/>
          <p:nvPr/>
        </p:nvSpPr>
        <p:spPr>
          <a:xfrm>
            <a:off x="7452360" y="1572768"/>
            <a:ext cx="1828800" cy="530352"/>
          </a:xfrm>
          <a:prstGeom prst="rect">
            <a:avLst/>
          </a:prstGeom>
          <a:noFill/>
          <a:ln/>
        </p:spPr>
        <p:txBody>
          <a:bodyPr wrap="square" lIns="0" tIns="0" rIns="0" bIns="0" rtlCol="0" anchor="ctr"/>
          <a:lstStyle/>
          <a:p>
            <a:pPr algn="ctr" indent="0" marL="0">
              <a:buNone/>
            </a:pPr>
            <a:r>
              <a:rPr lang="en-US" sz="2500" b="1" dirty="0">
                <a:solidFill>
                  <a:srgbClr val="002D58"/>
                </a:solidFill>
                <a:latin typeface="Montserrat" pitchFamily="34" charset="0"/>
                <a:ea typeface="Montserrat" pitchFamily="34" charset="-122"/>
                <a:cs typeface="Montserrat" pitchFamily="34" charset="-120"/>
              </a:rPr>
              <a:t>5,70 M</a:t>
            </a:r>
            <a:endParaRPr lang="en-US" sz="2500" dirty="0"/>
          </a:p>
        </p:txBody>
      </p:sp>
      <p:sp>
        <p:nvSpPr>
          <p:cNvPr id="8" name="Text 5"/>
          <p:cNvSpPr/>
          <p:nvPr/>
        </p:nvSpPr>
        <p:spPr>
          <a:xfrm>
            <a:off x="7452360" y="2103120"/>
            <a:ext cx="1828800" cy="256032"/>
          </a:xfrm>
          <a:prstGeom prst="rect">
            <a:avLst/>
          </a:prstGeom>
          <a:noFill/>
          <a:ln/>
        </p:spPr>
        <p:txBody>
          <a:bodyPr wrap="square" lIns="0" tIns="0" rIns="0" bIns="0" rtlCol="0" anchor="ctr"/>
          <a:lstStyle/>
          <a:p>
            <a:pPr algn="ctr" indent="0" marL="0">
              <a:buNone/>
            </a:pPr>
            <a:r>
              <a:rPr lang="en-US" sz="720" b="1" spc="100" kern="0" dirty="0">
                <a:solidFill>
                  <a:srgbClr val="5A677D"/>
                </a:solidFill>
                <a:latin typeface="Montserrat" pitchFamily="34" charset="0"/>
                <a:ea typeface="Montserrat" pitchFamily="34" charset="-122"/>
                <a:cs typeface="Montserrat" pitchFamily="34" charset="-120"/>
              </a:rPr>
              <a:t>CONTRATOS CONSULTABLES</a:t>
            </a:r>
            <a:endParaRPr lang="en-US" sz="720" dirty="0"/>
          </a:p>
        </p:txBody>
      </p:sp>
      <p:sp>
        <p:nvSpPr>
          <p:cNvPr id="9" name="Text 6"/>
          <p:cNvSpPr/>
          <p:nvPr/>
        </p:nvSpPr>
        <p:spPr>
          <a:xfrm>
            <a:off x="9555480" y="1572768"/>
            <a:ext cx="1828800" cy="530352"/>
          </a:xfrm>
          <a:prstGeom prst="rect">
            <a:avLst/>
          </a:prstGeom>
          <a:noFill/>
          <a:ln/>
        </p:spPr>
        <p:txBody>
          <a:bodyPr wrap="square" lIns="0" tIns="0" rIns="0" bIns="0" rtlCol="0" anchor="ctr"/>
          <a:lstStyle/>
          <a:p>
            <a:pPr algn="ctr" indent="0" marL="0">
              <a:buNone/>
            </a:pPr>
            <a:r>
              <a:rPr lang="en-US" sz="2500" b="1" dirty="0">
                <a:solidFill>
                  <a:srgbClr val="CE1126"/>
                </a:solidFill>
                <a:latin typeface="Montserrat" pitchFamily="34" charset="0"/>
                <a:ea typeface="Montserrat" pitchFamily="34" charset="-122"/>
                <a:cs typeface="Montserrat" pitchFamily="34" charset="-120"/>
              </a:rPr>
              <a:t>460</a:t>
            </a:r>
            <a:endParaRPr lang="en-US" sz="2500" dirty="0"/>
          </a:p>
        </p:txBody>
      </p:sp>
      <p:sp>
        <p:nvSpPr>
          <p:cNvPr id="10" name="Text 7"/>
          <p:cNvSpPr/>
          <p:nvPr/>
        </p:nvSpPr>
        <p:spPr>
          <a:xfrm>
            <a:off x="9555480" y="2103120"/>
            <a:ext cx="1828800" cy="256032"/>
          </a:xfrm>
          <a:prstGeom prst="rect">
            <a:avLst/>
          </a:prstGeom>
          <a:noFill/>
          <a:ln/>
        </p:spPr>
        <p:txBody>
          <a:bodyPr wrap="square" lIns="0" tIns="0" rIns="0" bIns="0" rtlCol="0" anchor="ctr"/>
          <a:lstStyle/>
          <a:p>
            <a:pPr algn="ctr" indent="0" marL="0">
              <a:buNone/>
            </a:pPr>
            <a:r>
              <a:rPr lang="en-US" sz="720" b="1" spc="100" kern="0" dirty="0">
                <a:solidFill>
                  <a:srgbClr val="5A677D"/>
                </a:solidFill>
                <a:latin typeface="Montserrat" pitchFamily="34" charset="0"/>
                <a:ea typeface="Montserrat" pitchFamily="34" charset="-122"/>
                <a:cs typeface="Montserrat" pitchFamily="34" charset="-120"/>
              </a:rPr>
              <a:t>ALERTAS ROJAS VISIBLES</a:t>
            </a:r>
            <a:endParaRPr lang="en-US" sz="720" dirty="0"/>
          </a:p>
        </p:txBody>
      </p:sp>
      <p:sp>
        <p:nvSpPr>
          <p:cNvPr id="11" name="Text 8"/>
          <p:cNvSpPr/>
          <p:nvPr/>
        </p:nvSpPr>
        <p:spPr>
          <a:xfrm>
            <a:off x="7452360" y="2670048"/>
            <a:ext cx="1828800" cy="530352"/>
          </a:xfrm>
          <a:prstGeom prst="rect">
            <a:avLst/>
          </a:prstGeom>
          <a:noFill/>
          <a:ln/>
        </p:spPr>
        <p:txBody>
          <a:bodyPr wrap="square" lIns="0" tIns="0" rIns="0" bIns="0" rtlCol="0" anchor="ctr"/>
          <a:lstStyle/>
          <a:p>
            <a:pPr algn="ctr" indent="0" marL="0">
              <a:buNone/>
            </a:pPr>
            <a:r>
              <a:rPr lang="en-US" sz="2500" b="1" dirty="0">
                <a:solidFill>
                  <a:srgbClr val="004884"/>
                </a:solidFill>
                <a:latin typeface="Montserrat" pitchFamily="34" charset="0"/>
                <a:ea typeface="Montserrat" pitchFamily="34" charset="-122"/>
                <a:cs typeface="Montserrat" pitchFamily="34" charset="-120"/>
              </a:rPr>
              <a:t>9</a:t>
            </a:r>
            <a:endParaRPr lang="en-US" sz="2500" dirty="0"/>
          </a:p>
        </p:txBody>
      </p:sp>
      <p:sp>
        <p:nvSpPr>
          <p:cNvPr id="12" name="Text 9"/>
          <p:cNvSpPr/>
          <p:nvPr/>
        </p:nvSpPr>
        <p:spPr>
          <a:xfrm>
            <a:off x="7452360" y="3200400"/>
            <a:ext cx="1828800" cy="256032"/>
          </a:xfrm>
          <a:prstGeom prst="rect">
            <a:avLst/>
          </a:prstGeom>
          <a:noFill/>
          <a:ln/>
        </p:spPr>
        <p:txBody>
          <a:bodyPr wrap="square" lIns="0" tIns="0" rIns="0" bIns="0" rtlCol="0" anchor="ctr"/>
          <a:lstStyle/>
          <a:p>
            <a:pPr algn="ctr" indent="0" marL="0">
              <a:buNone/>
            </a:pPr>
            <a:r>
              <a:rPr lang="en-US" sz="720" b="1" spc="100" kern="0" dirty="0">
                <a:solidFill>
                  <a:srgbClr val="5A677D"/>
                </a:solidFill>
                <a:latin typeface="Montserrat" pitchFamily="34" charset="0"/>
                <a:ea typeface="Montserrat" pitchFamily="34" charset="-122"/>
                <a:cs typeface="Montserrat" pitchFamily="34" charset="-120"/>
              </a:rPr>
              <a:t>BANDERAS EXPLICABLES</a:t>
            </a:r>
            <a:endParaRPr lang="en-US" sz="720" dirty="0"/>
          </a:p>
        </p:txBody>
      </p:sp>
      <p:sp>
        <p:nvSpPr>
          <p:cNvPr id="13" name="Text 10"/>
          <p:cNvSpPr/>
          <p:nvPr/>
        </p:nvSpPr>
        <p:spPr>
          <a:xfrm>
            <a:off x="9555480" y="2670048"/>
            <a:ext cx="1828800" cy="530352"/>
          </a:xfrm>
          <a:prstGeom prst="rect">
            <a:avLst/>
          </a:prstGeom>
          <a:noFill/>
          <a:ln/>
        </p:spPr>
        <p:txBody>
          <a:bodyPr wrap="square" lIns="0" tIns="0" rIns="0" bIns="0" rtlCol="0" anchor="ctr"/>
          <a:lstStyle/>
          <a:p>
            <a:pPr algn="ctr" indent="0" marL="0">
              <a:buNone/>
            </a:pPr>
            <a:r>
              <a:rPr lang="en-US" sz="2500" b="1" dirty="0">
                <a:solidFill>
                  <a:srgbClr val="16865A"/>
                </a:solidFill>
                <a:latin typeface="Montserrat" pitchFamily="34" charset="0"/>
                <a:ea typeface="Montserrat" pitchFamily="34" charset="-122"/>
                <a:cs typeface="Montserrat" pitchFamily="34" charset="-120"/>
              </a:rPr>
              <a:t>5</a:t>
            </a:r>
            <a:endParaRPr lang="en-US" sz="2500" dirty="0"/>
          </a:p>
        </p:txBody>
      </p:sp>
      <p:sp>
        <p:nvSpPr>
          <p:cNvPr id="14" name="Text 11"/>
          <p:cNvSpPr/>
          <p:nvPr/>
        </p:nvSpPr>
        <p:spPr>
          <a:xfrm>
            <a:off x="9555480" y="3200400"/>
            <a:ext cx="1828800" cy="256032"/>
          </a:xfrm>
          <a:prstGeom prst="rect">
            <a:avLst/>
          </a:prstGeom>
          <a:noFill/>
          <a:ln/>
        </p:spPr>
        <p:txBody>
          <a:bodyPr wrap="square" lIns="0" tIns="0" rIns="0" bIns="0" rtlCol="0" anchor="ctr"/>
          <a:lstStyle/>
          <a:p>
            <a:pPr algn="ctr" indent="0" marL="0">
              <a:buNone/>
            </a:pPr>
            <a:r>
              <a:rPr lang="en-US" sz="720" b="1" spc="100" kern="0" dirty="0">
                <a:solidFill>
                  <a:srgbClr val="5A677D"/>
                </a:solidFill>
                <a:latin typeface="Montserrat" pitchFamily="34" charset="0"/>
                <a:ea typeface="Montserrat" pitchFamily="34" charset="-122"/>
                <a:cs typeface="Montserrat" pitchFamily="34" charset="-120"/>
              </a:rPr>
              <a:t>DOMINIOS EN LA API</a:t>
            </a:r>
            <a:endParaRPr lang="en-US" sz="720" dirty="0"/>
          </a:p>
        </p:txBody>
      </p:sp>
      <p:sp>
        <p:nvSpPr>
          <p:cNvPr id="15" name="Shape 12"/>
          <p:cNvSpPr/>
          <p:nvPr/>
        </p:nvSpPr>
        <p:spPr>
          <a:xfrm>
            <a:off x="7406640" y="3767328"/>
            <a:ext cx="4069080" cy="1956816"/>
          </a:xfrm>
          <a:prstGeom prst="roundRect">
            <a:avLst>
              <a:gd name="adj" fmla="val 3738"/>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6" name="Shape 13"/>
          <p:cNvSpPr/>
          <p:nvPr/>
        </p:nvSpPr>
        <p:spPr>
          <a:xfrm>
            <a:off x="7406640" y="3767328"/>
            <a:ext cx="64008" cy="1956816"/>
          </a:xfrm>
          <a:prstGeom prst="rect">
            <a:avLst/>
          </a:prstGeom>
          <a:solidFill>
            <a:srgbClr val="FEC82F"/>
          </a:solidFill>
          <a:ln w="12700">
            <a:solidFill>
              <a:srgbClr val="FEC82F"/>
            </a:solidFill>
            <a:prstDash val="solid"/>
          </a:ln>
        </p:spPr>
      </p:sp>
      <p:sp>
        <p:nvSpPr>
          <p:cNvPr id="17" name="Text 14"/>
          <p:cNvSpPr/>
          <p:nvPr/>
        </p:nvSpPr>
        <p:spPr>
          <a:xfrm>
            <a:off x="7607808" y="3931920"/>
            <a:ext cx="3703320" cy="292608"/>
          </a:xfrm>
          <a:prstGeom prst="rect">
            <a:avLst/>
          </a:prstGeom>
          <a:noFill/>
          <a:ln/>
        </p:spPr>
        <p:txBody>
          <a:bodyPr wrap="square" lIns="0" tIns="0" rIns="0" bIns="0" rtlCol="0" anchor="ctr"/>
          <a:lstStyle/>
          <a:p>
            <a:pPr indent="0" marL="0">
              <a:buNone/>
            </a:pPr>
            <a:r>
              <a:rPr lang="en-US" sz="1200" b="1" dirty="0">
                <a:solidFill>
                  <a:srgbClr val="002D58"/>
                </a:solidFill>
                <a:latin typeface="Montserrat" pitchFamily="34" charset="0"/>
                <a:ea typeface="Montserrat" pitchFamily="34" charset="-122"/>
                <a:cs typeface="Montserrat" pitchFamily="34" charset="-120"/>
              </a:rPr>
              <a:t>Impacto y escalabilidad</a:t>
            </a:r>
            <a:endParaRPr lang="en-US" sz="1200" dirty="0"/>
          </a:p>
        </p:txBody>
      </p:sp>
      <p:sp>
        <p:nvSpPr>
          <p:cNvPr id="18" name="Text 15"/>
          <p:cNvSpPr/>
          <p:nvPr/>
        </p:nvSpPr>
        <p:spPr>
          <a:xfrm>
            <a:off x="7607808" y="4297680"/>
            <a:ext cx="3703320" cy="1298448"/>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Social: democratiza la consulta.</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Operativo: focaliza revisiones.</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Producto: API reusable + aplicación pública.</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Escala: nuevos datasets, sectores y canales.</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Evidencia: Docker, tests, caché y exportación CSV.</a:t>
            </a:r>
            <a:endParaRPr lang="en-US" sz="850" dirty="0"/>
          </a:p>
        </p:txBody>
      </p:sp>
      <p:sp>
        <p:nvSpPr>
          <p:cNvPr id="19" name="Text 16"/>
          <p:cNvSpPr/>
          <p:nvPr/>
        </p:nvSpPr>
        <p:spPr>
          <a:xfrm>
            <a:off x="713232" y="5961888"/>
            <a:ext cx="10835640" cy="201168"/>
          </a:xfrm>
          <a:prstGeom prst="rect">
            <a:avLst/>
          </a:prstGeom>
          <a:noFill/>
          <a:ln/>
        </p:spPr>
        <p:txBody>
          <a:bodyPr wrap="square" lIns="0" tIns="0" rIns="0" bIns="0" rtlCol="0" anchor="ctr"/>
          <a:lstStyle/>
          <a:p>
            <a:pPr algn="ctr" indent="0" marL="0">
              <a:buNone/>
            </a:pPr>
            <a:r>
              <a:rPr lang="en-US" sz="750" b="1" dirty="0">
                <a:solidFill>
                  <a:srgbClr val="CE1126"/>
                </a:solidFill>
              </a:rPr>
              <a:t>Limitación actual: el valor depende de la calidad, actualización y cobertura de cada fuente pública.</a:t>
            </a:r>
            <a:endParaRPr lang="en-US" sz="75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2D58"/>
        </a:solidFill>
      </p:bgPr>
    </p:bg>
    <p:spTree>
      <p:nvGrpSpPr>
        <p:cNvPr id="1" name=""/>
        <p:cNvGrpSpPr/>
        <p:nvPr/>
      </p:nvGrpSpPr>
      <p:grpSpPr>
        <a:xfrm>
          <a:off x="0" y="0"/>
          <a:ext cx="0" cy="0"/>
          <a:chOff x="0" y="0"/>
          <a:chExt cx="0" cy="0"/>
        </a:xfrm>
      </p:grpSpPr>
      <p:pic>
        <p:nvPicPr>
          <p:cNvPr id="2" name="Image 0" descr="/home/johnpaez/Documentos/Apps/observatorio/frontend/public/favicon.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66928" y="457200"/>
            <a:ext cx="502920" cy="502920"/>
          </a:xfrm>
          <a:prstGeom prst="rect">
            <a:avLst/>
          </a:prstGeom>
        </p:spPr>
      </p:pic>
      <p:sp>
        <p:nvSpPr>
          <p:cNvPr id="3" name="Text 0"/>
          <p:cNvSpPr/>
          <p:nvPr/>
        </p:nvSpPr>
        <p:spPr>
          <a:xfrm>
            <a:off x="1261872" y="612648"/>
            <a:ext cx="4389120" cy="201168"/>
          </a:xfrm>
          <a:prstGeom prst="rect">
            <a:avLst/>
          </a:prstGeom>
          <a:noFill/>
          <a:ln/>
        </p:spPr>
        <p:txBody>
          <a:bodyPr wrap="square" lIns="0" tIns="0" rIns="0" bIns="0" rtlCol="0" anchor="ctr"/>
          <a:lstStyle/>
          <a:p>
            <a:pPr indent="0" marL="0">
              <a:buNone/>
            </a:pPr>
            <a:r>
              <a:rPr lang="en-US" sz="800" b="1" spc="150" kern="0" dirty="0">
                <a:solidFill>
                  <a:srgbClr val="FEC82F"/>
                </a:solidFill>
              </a:rPr>
              <a:t>DE LA PROMESA A LA EVIDENCIA</a:t>
            </a:r>
            <a:endParaRPr lang="en-US" sz="800" dirty="0"/>
          </a:p>
        </p:txBody>
      </p:sp>
      <p:sp>
        <p:nvSpPr>
          <p:cNvPr id="4" name="Text 1"/>
          <p:cNvSpPr/>
          <p:nvPr/>
        </p:nvSpPr>
        <p:spPr>
          <a:xfrm>
            <a:off x="621792" y="1298448"/>
            <a:ext cx="4892040" cy="1234440"/>
          </a:xfrm>
          <a:prstGeom prst="rect">
            <a:avLst/>
          </a:prstGeom>
          <a:noFill/>
          <a:ln/>
        </p:spPr>
        <p:txBody>
          <a:bodyPr wrap="square" lIns="0" tIns="0" rIns="0" bIns="0" rtlCol="0" anchor="ctr"/>
          <a:lstStyle/>
          <a:p>
            <a:pPr indent="0" marL="0">
              <a:buNone/>
            </a:pPr>
            <a:r>
              <a:rPr lang="en-US" sz="3400" b="1" dirty="0">
                <a:solidFill>
                  <a:srgbClr val="FFFFFF"/>
                </a:solidFill>
              </a:rPr>
              <a:t>Ahora hablemos</a:t>
            </a:r>
            <a:endParaRPr lang="en-US" sz="3400" dirty="0"/>
          </a:p>
          <a:p>
            <a:pPr indent="0" marL="0">
              <a:buNone/>
            </a:pPr>
            <a:r>
              <a:rPr lang="en-US" sz="3400" b="1" dirty="0">
                <a:solidFill>
                  <a:srgbClr val="FFFFFF"/>
                </a:solidFill>
              </a:rPr>
              <a:t>con los datos</a:t>
            </a:r>
            <a:endParaRPr lang="en-US" sz="3400" dirty="0"/>
          </a:p>
        </p:txBody>
      </p:sp>
      <p:sp>
        <p:nvSpPr>
          <p:cNvPr id="5" name="Text 2"/>
          <p:cNvSpPr/>
          <p:nvPr/>
        </p:nvSpPr>
        <p:spPr>
          <a:xfrm>
            <a:off x="658368" y="2788920"/>
            <a:ext cx="3383280" cy="320040"/>
          </a:xfrm>
          <a:prstGeom prst="rect">
            <a:avLst/>
          </a:prstGeom>
          <a:noFill/>
          <a:ln/>
        </p:spPr>
        <p:txBody>
          <a:bodyPr wrap="square" lIns="0" tIns="0" rIns="0" bIns="0" rtlCol="0" anchor="ctr"/>
          <a:lstStyle/>
          <a:p>
            <a:pPr indent="0" marL="0">
              <a:buNone/>
            </a:pPr>
            <a:r>
              <a:rPr lang="en-US" sz="1500" b="1" dirty="0">
                <a:solidFill>
                  <a:srgbClr val="FEC82F"/>
                </a:solidFill>
              </a:rPr>
              <a:t>Demo en vivo · 5 minutos</a:t>
            </a:r>
            <a:endParaRPr lang="en-US" sz="1500" dirty="0"/>
          </a:p>
        </p:txBody>
      </p:sp>
      <p:sp>
        <p:nvSpPr>
          <p:cNvPr id="6" name="Text 3"/>
          <p:cNvSpPr/>
          <p:nvPr/>
        </p:nvSpPr>
        <p:spPr>
          <a:xfrm>
            <a:off x="676656" y="3429000"/>
            <a:ext cx="658368" cy="164592"/>
          </a:xfrm>
          <a:prstGeom prst="rect">
            <a:avLst/>
          </a:prstGeom>
          <a:noFill/>
          <a:ln/>
        </p:spPr>
        <p:txBody>
          <a:bodyPr wrap="square" lIns="0" tIns="0" rIns="0" bIns="0" rtlCol="0" anchor="ctr"/>
          <a:lstStyle/>
          <a:p>
            <a:pPr indent="0" marL="0">
              <a:buNone/>
            </a:pPr>
            <a:r>
              <a:rPr lang="en-US" sz="750" b="1" dirty="0">
                <a:solidFill>
                  <a:srgbClr val="FEC82F"/>
                </a:solidFill>
              </a:rPr>
              <a:t>00:30</a:t>
            </a:r>
            <a:endParaRPr lang="en-US" sz="750" dirty="0"/>
          </a:p>
        </p:txBody>
      </p:sp>
      <p:sp>
        <p:nvSpPr>
          <p:cNvPr id="7" name="Text 4"/>
          <p:cNvSpPr/>
          <p:nvPr/>
        </p:nvSpPr>
        <p:spPr>
          <a:xfrm>
            <a:off x="1444752" y="3429000"/>
            <a:ext cx="3108960" cy="182880"/>
          </a:xfrm>
          <a:prstGeom prst="rect">
            <a:avLst/>
          </a:prstGeom>
          <a:noFill/>
          <a:ln/>
        </p:spPr>
        <p:txBody>
          <a:bodyPr wrap="square" lIns="0" tIns="0" rIns="0" bIns="0" rtlCol="0" anchor="ctr"/>
          <a:lstStyle/>
          <a:p>
            <a:pPr indent="0" marL="0">
              <a:buNone/>
            </a:pPr>
            <a:r>
              <a:rPr lang="en-US" sz="950" dirty="0">
                <a:solidFill>
                  <a:srgbClr val="FFFFFF"/>
                </a:solidFill>
              </a:rPr>
              <a:t>Panorama y KPIs</a:t>
            </a:r>
            <a:endParaRPr lang="en-US" sz="950" dirty="0"/>
          </a:p>
        </p:txBody>
      </p:sp>
      <p:sp>
        <p:nvSpPr>
          <p:cNvPr id="8" name="Text 5"/>
          <p:cNvSpPr/>
          <p:nvPr/>
        </p:nvSpPr>
        <p:spPr>
          <a:xfrm>
            <a:off x="676656" y="3886200"/>
            <a:ext cx="658368" cy="164592"/>
          </a:xfrm>
          <a:prstGeom prst="rect">
            <a:avLst/>
          </a:prstGeom>
          <a:noFill/>
          <a:ln/>
        </p:spPr>
        <p:txBody>
          <a:bodyPr wrap="square" lIns="0" tIns="0" rIns="0" bIns="0" rtlCol="0" anchor="ctr"/>
          <a:lstStyle/>
          <a:p>
            <a:pPr indent="0" marL="0">
              <a:buNone/>
            </a:pPr>
            <a:r>
              <a:rPr lang="en-US" sz="750" b="1" dirty="0">
                <a:solidFill>
                  <a:srgbClr val="FEC82F"/>
                </a:solidFill>
              </a:rPr>
              <a:t>01:30</a:t>
            </a:r>
            <a:endParaRPr lang="en-US" sz="750" dirty="0"/>
          </a:p>
        </p:txBody>
      </p:sp>
      <p:sp>
        <p:nvSpPr>
          <p:cNvPr id="9" name="Text 6"/>
          <p:cNvSpPr/>
          <p:nvPr/>
        </p:nvSpPr>
        <p:spPr>
          <a:xfrm>
            <a:off x="1444752" y="3886200"/>
            <a:ext cx="3108960" cy="182880"/>
          </a:xfrm>
          <a:prstGeom prst="rect">
            <a:avLst/>
          </a:prstGeom>
          <a:noFill/>
          <a:ln/>
        </p:spPr>
        <p:txBody>
          <a:bodyPr wrap="square" lIns="0" tIns="0" rIns="0" bIns="0" rtlCol="0" anchor="ctr"/>
          <a:lstStyle/>
          <a:p>
            <a:pPr indent="0" marL="0">
              <a:buNone/>
            </a:pPr>
            <a:r>
              <a:rPr lang="en-US" sz="950" dirty="0">
                <a:solidFill>
                  <a:srgbClr val="FFFFFF"/>
                </a:solidFill>
              </a:rPr>
              <a:t>Sector y semáforo</a:t>
            </a:r>
            <a:endParaRPr lang="en-US" sz="950" dirty="0"/>
          </a:p>
        </p:txBody>
      </p:sp>
      <p:sp>
        <p:nvSpPr>
          <p:cNvPr id="10" name="Text 7"/>
          <p:cNvSpPr/>
          <p:nvPr/>
        </p:nvSpPr>
        <p:spPr>
          <a:xfrm>
            <a:off x="676656" y="4343400"/>
            <a:ext cx="658368" cy="164592"/>
          </a:xfrm>
          <a:prstGeom prst="rect">
            <a:avLst/>
          </a:prstGeom>
          <a:noFill/>
          <a:ln/>
        </p:spPr>
        <p:txBody>
          <a:bodyPr wrap="square" lIns="0" tIns="0" rIns="0" bIns="0" rtlCol="0" anchor="ctr"/>
          <a:lstStyle/>
          <a:p>
            <a:pPr indent="0" marL="0">
              <a:buNone/>
            </a:pPr>
            <a:r>
              <a:rPr lang="en-US" sz="750" b="1" dirty="0">
                <a:solidFill>
                  <a:srgbClr val="FEC82F"/>
                </a:solidFill>
              </a:rPr>
              <a:t>01:00</a:t>
            </a:r>
            <a:endParaRPr lang="en-US" sz="750" dirty="0"/>
          </a:p>
        </p:txBody>
      </p:sp>
      <p:sp>
        <p:nvSpPr>
          <p:cNvPr id="11" name="Text 8"/>
          <p:cNvSpPr/>
          <p:nvPr/>
        </p:nvSpPr>
        <p:spPr>
          <a:xfrm>
            <a:off x="1444752" y="4343400"/>
            <a:ext cx="3108960" cy="182880"/>
          </a:xfrm>
          <a:prstGeom prst="rect">
            <a:avLst/>
          </a:prstGeom>
          <a:noFill/>
          <a:ln/>
        </p:spPr>
        <p:txBody>
          <a:bodyPr wrap="square" lIns="0" tIns="0" rIns="0" bIns="0" rtlCol="0" anchor="ctr"/>
          <a:lstStyle/>
          <a:p>
            <a:pPr indent="0" marL="0">
              <a:buNone/>
            </a:pPr>
            <a:r>
              <a:rPr lang="en-US" sz="950" dirty="0">
                <a:solidFill>
                  <a:srgbClr val="FFFFFF"/>
                </a:solidFill>
              </a:rPr>
              <a:t>Perfil API y banderas</a:t>
            </a:r>
            <a:endParaRPr lang="en-US" sz="950" dirty="0"/>
          </a:p>
        </p:txBody>
      </p:sp>
      <p:sp>
        <p:nvSpPr>
          <p:cNvPr id="12" name="Text 9"/>
          <p:cNvSpPr/>
          <p:nvPr/>
        </p:nvSpPr>
        <p:spPr>
          <a:xfrm>
            <a:off x="676656" y="4800600"/>
            <a:ext cx="658368" cy="164592"/>
          </a:xfrm>
          <a:prstGeom prst="rect">
            <a:avLst/>
          </a:prstGeom>
          <a:noFill/>
          <a:ln/>
        </p:spPr>
        <p:txBody>
          <a:bodyPr wrap="square" lIns="0" tIns="0" rIns="0" bIns="0" rtlCol="0" anchor="ctr"/>
          <a:lstStyle/>
          <a:p>
            <a:pPr indent="0" marL="0">
              <a:buNone/>
            </a:pPr>
            <a:r>
              <a:rPr lang="en-US" sz="750" b="1" dirty="0">
                <a:solidFill>
                  <a:srgbClr val="FEC82F"/>
                </a:solidFill>
              </a:rPr>
              <a:t>01:30</a:t>
            </a:r>
            <a:endParaRPr lang="en-US" sz="750" dirty="0"/>
          </a:p>
        </p:txBody>
      </p:sp>
      <p:sp>
        <p:nvSpPr>
          <p:cNvPr id="13" name="Text 10"/>
          <p:cNvSpPr/>
          <p:nvPr/>
        </p:nvSpPr>
        <p:spPr>
          <a:xfrm>
            <a:off x="1444752" y="4800600"/>
            <a:ext cx="3108960" cy="182880"/>
          </a:xfrm>
          <a:prstGeom prst="rect">
            <a:avLst/>
          </a:prstGeom>
          <a:noFill/>
          <a:ln/>
        </p:spPr>
        <p:txBody>
          <a:bodyPr wrap="square" lIns="0" tIns="0" rIns="0" bIns="0" rtlCol="0" anchor="ctr"/>
          <a:lstStyle/>
          <a:p>
            <a:pPr indent="0" marL="0">
              <a:buNone/>
            </a:pPr>
            <a:r>
              <a:rPr lang="en-US" sz="950" dirty="0">
                <a:solidFill>
                  <a:srgbClr val="FFFFFF"/>
                </a:solidFill>
              </a:rPr>
              <a:t>Pregunta al asistente</a:t>
            </a:r>
            <a:endParaRPr lang="en-US" sz="950" dirty="0"/>
          </a:p>
        </p:txBody>
      </p:sp>
      <p:sp>
        <p:nvSpPr>
          <p:cNvPr id="14" name="Text 11"/>
          <p:cNvSpPr/>
          <p:nvPr/>
        </p:nvSpPr>
        <p:spPr>
          <a:xfrm>
            <a:off x="676656" y="5257800"/>
            <a:ext cx="658368" cy="164592"/>
          </a:xfrm>
          <a:prstGeom prst="rect">
            <a:avLst/>
          </a:prstGeom>
          <a:noFill/>
          <a:ln/>
        </p:spPr>
        <p:txBody>
          <a:bodyPr wrap="square" lIns="0" tIns="0" rIns="0" bIns="0" rtlCol="0" anchor="ctr"/>
          <a:lstStyle/>
          <a:p>
            <a:pPr indent="0" marL="0">
              <a:buNone/>
            </a:pPr>
            <a:r>
              <a:rPr lang="en-US" sz="750" b="1" dirty="0">
                <a:solidFill>
                  <a:srgbClr val="FEC82F"/>
                </a:solidFill>
              </a:rPr>
              <a:t>00:30</a:t>
            </a:r>
            <a:endParaRPr lang="en-US" sz="750" dirty="0"/>
          </a:p>
        </p:txBody>
      </p:sp>
      <p:sp>
        <p:nvSpPr>
          <p:cNvPr id="15" name="Text 12"/>
          <p:cNvSpPr/>
          <p:nvPr/>
        </p:nvSpPr>
        <p:spPr>
          <a:xfrm>
            <a:off x="1444752" y="5257800"/>
            <a:ext cx="3108960" cy="182880"/>
          </a:xfrm>
          <a:prstGeom prst="rect">
            <a:avLst/>
          </a:prstGeom>
          <a:noFill/>
          <a:ln/>
        </p:spPr>
        <p:txBody>
          <a:bodyPr wrap="square" lIns="0" tIns="0" rIns="0" bIns="0" rtlCol="0" anchor="ctr"/>
          <a:lstStyle/>
          <a:p>
            <a:pPr indent="0" marL="0">
              <a:buNone/>
            </a:pPr>
            <a:r>
              <a:rPr lang="en-US" sz="950" dirty="0">
                <a:solidFill>
                  <a:srgbClr val="FFFFFF"/>
                </a:solidFill>
              </a:rPr>
              <a:t>Trazabilidad y cierre</a:t>
            </a:r>
            <a:endParaRPr lang="en-US" sz="950" dirty="0"/>
          </a:p>
        </p:txBody>
      </p:sp>
      <p:sp>
        <p:nvSpPr>
          <p:cNvPr id="16" name="Shape 13"/>
          <p:cNvSpPr/>
          <p:nvPr/>
        </p:nvSpPr>
        <p:spPr>
          <a:xfrm>
            <a:off x="5715000" y="685800"/>
            <a:ext cx="5897880" cy="5440680"/>
          </a:xfrm>
          <a:prstGeom prst="roundRect">
            <a:avLst>
              <a:gd name="adj" fmla="val 1345"/>
            </a:avLst>
          </a:prstGeom>
          <a:solidFill>
            <a:srgbClr val="FFFFFF"/>
          </a:solidFill>
          <a:ln w="12700">
            <a:solidFill>
              <a:srgbClr val="40658A"/>
            </a:solidFill>
            <a:prstDash val="solid"/>
          </a:ln>
        </p:spPr>
      </p:sp>
      <p:pic>
        <p:nvPicPr>
          <p:cNvPr id="17" name="Image 1" descr="/home/johnpaez/Documentos/Apps/observatorio/scripts/presentation_assets/chat.png">    </p:cNvPr>
          <p:cNvPicPr>
            <a:picLocks noChangeAspect="1"/>
          </p:cNvPicPr>
          <p:nvPr/>
        </p:nvPicPr>
        <p:blipFill>
          <a:blip r:embed="rId3"/>
          <a:stretch>
            <a:fillRect/>
          </a:stretch>
        </p:blipFill>
        <p:spPr>
          <a:xfrm>
            <a:off x="5925312" y="896112"/>
            <a:ext cx="5468112" cy="3419856"/>
          </a:xfrm>
          <a:prstGeom prst="rect">
            <a:avLst/>
          </a:prstGeom>
        </p:spPr>
      </p:pic>
      <p:sp>
        <p:nvSpPr>
          <p:cNvPr id="18" name="Text 14"/>
          <p:cNvSpPr/>
          <p:nvPr/>
        </p:nvSpPr>
        <p:spPr>
          <a:xfrm>
            <a:off x="6053328" y="4617720"/>
            <a:ext cx="1645920" cy="182880"/>
          </a:xfrm>
          <a:prstGeom prst="rect">
            <a:avLst/>
          </a:prstGeom>
          <a:noFill/>
          <a:ln/>
        </p:spPr>
        <p:txBody>
          <a:bodyPr wrap="square" lIns="0" tIns="0" rIns="0" bIns="0" rtlCol="0" anchor="ctr"/>
          <a:lstStyle/>
          <a:p>
            <a:pPr indent="0" marL="0">
              <a:buNone/>
            </a:pPr>
            <a:r>
              <a:rPr lang="en-US" sz="750" b="1" spc="110" kern="0" dirty="0">
                <a:solidFill>
                  <a:srgbClr val="CE1126"/>
                </a:solidFill>
              </a:rPr>
              <a:t>Pregunta preparada</a:t>
            </a:r>
            <a:endParaRPr lang="en-US" sz="750" dirty="0"/>
          </a:p>
        </p:txBody>
      </p:sp>
      <p:sp>
        <p:nvSpPr>
          <p:cNvPr id="19" name="Text 15"/>
          <p:cNvSpPr/>
          <p:nvPr/>
        </p:nvSpPr>
        <p:spPr>
          <a:xfrm>
            <a:off x="6053328" y="4956048"/>
            <a:ext cx="5166360" cy="502920"/>
          </a:xfrm>
          <a:prstGeom prst="rect">
            <a:avLst/>
          </a:prstGeom>
          <a:noFill/>
          <a:ln/>
        </p:spPr>
        <p:txBody>
          <a:bodyPr wrap="square" lIns="0" tIns="0" rIns="0" bIns="0" rtlCol="0" anchor="ctr"/>
          <a:lstStyle/>
          <a:p>
            <a:pPr algn="ctr" indent="0" marL="0">
              <a:buNone/>
            </a:pPr>
            <a:r>
              <a:rPr lang="en-US" sz="1400" b="1" dirty="0">
                <a:solidFill>
                  <a:srgbClr val="002D58"/>
                </a:solidFill>
              </a:rPr>
              <a:t>“¿Cuáles son los contratistas de mayor riesgo en Transporte y por qué?”</a:t>
            </a:r>
            <a:endParaRPr lang="en-US" sz="1400" dirty="0"/>
          </a:p>
        </p:txBody>
      </p:sp>
      <p:sp>
        <p:nvSpPr>
          <p:cNvPr id="20" name="Text 16">
            <a:hlinkClick r:id="rId4" tooltip=""/>
          </p:cNvPr>
          <p:cNvSpPr/>
          <p:nvPr/>
        </p:nvSpPr>
        <p:spPr>
          <a:xfrm>
            <a:off x="6995160" y="5669280"/>
            <a:ext cx="3429000" cy="219456"/>
          </a:xfrm>
          <a:prstGeom prst="rect">
            <a:avLst/>
          </a:prstGeom>
          <a:noFill/>
          <a:ln/>
        </p:spPr>
        <p:txBody>
          <a:bodyPr wrap="square" lIns="0" tIns="0" rIns="0" bIns="0" rtlCol="0" anchor="ctr"/>
          <a:lstStyle/>
          <a:p>
            <a:pPr algn="ctr" indent="0" marL="0">
              <a:buNone/>
            </a:pPr>
            <a:r>
              <a:rPr lang="en-US" sz="850" b="1" u="sng" dirty="0">
                <a:solidFill>
                  <a:srgbClr val="004884"/>
                </a:solidFill>
                <a:hlinkClick r:id="rId4" invalidUrl="" action="" tgtFrame="" tooltip="" history="1" highlightClick="0" endSnd="0">
                  <a:extLst>
                    <a:ext uri="{A12FA001-AC4F-418D-AE19-62706E023703}">
                      <ahyp:hlinkClr xmlns:ahyp="http://schemas.microsoft.com/office/drawing/2018/hyperlinkcolor" val="tx"/>
                    </a:ext>
                  </a:extLst>
                </a:hlinkClick>
              </a:rPr>
              <a:t>ABRIR APLICACIÓN EN VIVO</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ANEXO TÉCNICO</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Las nueve banderas y su contribución al score</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Material de respaldo para preguntas del jurado; no hace parte de los 10 minutos.</a:t>
            </a:r>
            <a:endParaRPr lang="en-US" sz="950" dirty="0"/>
          </a:p>
        </p:txBody>
      </p:sp>
      <p:sp>
        <p:nvSpPr>
          <p:cNvPr id="5" name="Shape 3"/>
          <p:cNvSpPr/>
          <p:nvPr/>
        </p:nvSpPr>
        <p:spPr>
          <a:xfrm>
            <a:off x="566928" y="150876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6" name="Shape 4"/>
          <p:cNvSpPr/>
          <p:nvPr/>
        </p:nvSpPr>
        <p:spPr>
          <a:xfrm>
            <a:off x="566928" y="1508760"/>
            <a:ext cx="64008" cy="1216152"/>
          </a:xfrm>
          <a:prstGeom prst="rect">
            <a:avLst/>
          </a:prstGeom>
          <a:solidFill>
            <a:srgbClr val="004884"/>
          </a:solidFill>
          <a:ln w="12700">
            <a:solidFill>
              <a:srgbClr val="004884"/>
            </a:solidFill>
            <a:prstDash val="solid"/>
          </a:ln>
        </p:spPr>
      </p:sp>
      <p:sp>
        <p:nvSpPr>
          <p:cNvPr id="7" name="Text 5"/>
          <p:cNvSpPr/>
          <p:nvPr/>
        </p:nvSpPr>
        <p:spPr>
          <a:xfrm>
            <a:off x="768096" y="167335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Vencidos sin cerrar</a:t>
            </a:r>
            <a:endParaRPr lang="en-US" sz="1050" dirty="0"/>
          </a:p>
        </p:txBody>
      </p:sp>
      <p:sp>
        <p:nvSpPr>
          <p:cNvPr id="8" name="Text 6"/>
          <p:cNvSpPr/>
          <p:nvPr/>
        </p:nvSpPr>
        <p:spPr>
          <a:xfrm>
            <a:off x="768096" y="203911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+25 c/u · máx. 75</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Ejecución vencida hace más de 6 meses</a:t>
            </a:r>
            <a:endParaRPr lang="en-US" sz="850" dirty="0"/>
          </a:p>
        </p:txBody>
      </p:sp>
      <p:sp>
        <p:nvSpPr>
          <p:cNvPr id="9" name="Shape 7"/>
          <p:cNvSpPr/>
          <p:nvPr/>
        </p:nvSpPr>
        <p:spPr>
          <a:xfrm>
            <a:off x="4407408" y="150876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0" name="Shape 8"/>
          <p:cNvSpPr/>
          <p:nvPr/>
        </p:nvSpPr>
        <p:spPr>
          <a:xfrm>
            <a:off x="4407408" y="1508760"/>
            <a:ext cx="64008" cy="1216152"/>
          </a:xfrm>
          <a:prstGeom prst="rect">
            <a:avLst/>
          </a:prstGeom>
          <a:solidFill>
            <a:srgbClr val="004884"/>
          </a:solidFill>
          <a:ln w="12700">
            <a:solidFill>
              <a:srgbClr val="004884"/>
            </a:solidFill>
            <a:prstDash val="solid"/>
          </a:ln>
        </p:spPr>
      </p:sp>
      <p:sp>
        <p:nvSpPr>
          <p:cNvPr id="11" name="Text 9"/>
          <p:cNvSpPr/>
          <p:nvPr/>
        </p:nvSpPr>
        <p:spPr>
          <a:xfrm>
            <a:off x="4608576" y="167335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Extensión &gt; 1 año</a:t>
            </a:r>
            <a:endParaRPr lang="en-US" sz="1050" dirty="0"/>
          </a:p>
        </p:txBody>
      </p:sp>
      <p:sp>
        <p:nvSpPr>
          <p:cNvPr id="12" name="Text 10"/>
          <p:cNvSpPr/>
          <p:nvPr/>
        </p:nvSpPr>
        <p:spPr>
          <a:xfrm>
            <a:off x="4608576" y="203911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+20</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Más de 365 días adicionados</a:t>
            </a:r>
            <a:endParaRPr lang="en-US" sz="850" dirty="0"/>
          </a:p>
        </p:txBody>
      </p:sp>
      <p:sp>
        <p:nvSpPr>
          <p:cNvPr id="13" name="Shape 11"/>
          <p:cNvSpPr/>
          <p:nvPr/>
        </p:nvSpPr>
        <p:spPr>
          <a:xfrm>
            <a:off x="8247888" y="150876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4" name="Shape 12"/>
          <p:cNvSpPr/>
          <p:nvPr/>
        </p:nvSpPr>
        <p:spPr>
          <a:xfrm>
            <a:off x="8247888" y="1508760"/>
            <a:ext cx="64008" cy="1216152"/>
          </a:xfrm>
          <a:prstGeom prst="rect">
            <a:avLst/>
          </a:prstGeom>
          <a:solidFill>
            <a:srgbClr val="004884"/>
          </a:solidFill>
          <a:ln w="12700">
            <a:solidFill>
              <a:srgbClr val="004884"/>
            </a:solidFill>
            <a:prstDash val="solid"/>
          </a:ln>
        </p:spPr>
      </p:sp>
      <p:sp>
        <p:nvSpPr>
          <p:cNvPr id="15" name="Text 13"/>
          <p:cNvSpPr/>
          <p:nvPr/>
        </p:nvSpPr>
        <p:spPr>
          <a:xfrm>
            <a:off x="8449056" y="167335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Múltiples adiciones</a:t>
            </a:r>
            <a:endParaRPr lang="en-US" sz="1050" dirty="0"/>
          </a:p>
        </p:txBody>
      </p:sp>
      <p:sp>
        <p:nvSpPr>
          <p:cNvPr id="16" name="Text 14"/>
          <p:cNvSpPr/>
          <p:nvPr/>
        </p:nvSpPr>
        <p:spPr>
          <a:xfrm>
            <a:off x="8449056" y="203911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+15</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Tres o más contratos con extensión</a:t>
            </a:r>
            <a:endParaRPr lang="en-US" sz="850" dirty="0"/>
          </a:p>
        </p:txBody>
      </p:sp>
      <p:sp>
        <p:nvSpPr>
          <p:cNvPr id="17" name="Shape 15"/>
          <p:cNvSpPr/>
          <p:nvPr/>
        </p:nvSpPr>
        <p:spPr>
          <a:xfrm>
            <a:off x="566928" y="301752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8" name="Shape 16"/>
          <p:cNvSpPr/>
          <p:nvPr/>
        </p:nvSpPr>
        <p:spPr>
          <a:xfrm>
            <a:off x="566928" y="3017520"/>
            <a:ext cx="64008" cy="1216152"/>
          </a:xfrm>
          <a:prstGeom prst="rect">
            <a:avLst/>
          </a:prstGeom>
          <a:solidFill>
            <a:srgbClr val="004884"/>
          </a:solidFill>
          <a:ln w="12700">
            <a:solidFill>
              <a:srgbClr val="004884"/>
            </a:solidFill>
            <a:prstDash val="solid"/>
          </a:ln>
        </p:spPr>
      </p:sp>
      <p:sp>
        <p:nvSpPr>
          <p:cNvPr id="19" name="Text 17"/>
          <p:cNvSpPr/>
          <p:nvPr/>
        </p:nvSpPr>
        <p:spPr>
          <a:xfrm>
            <a:off x="768096" y="318211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Concentración</a:t>
            </a:r>
            <a:endParaRPr lang="en-US" sz="1050" dirty="0"/>
          </a:p>
        </p:txBody>
      </p:sp>
      <p:sp>
        <p:nvSpPr>
          <p:cNvPr id="20" name="Text 18"/>
          <p:cNvSpPr/>
          <p:nvPr/>
        </p:nvSpPr>
        <p:spPr>
          <a:xfrm>
            <a:off x="768096" y="354787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+10</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Cinco o más entidades del sector</a:t>
            </a:r>
            <a:endParaRPr lang="en-US" sz="850" dirty="0"/>
          </a:p>
        </p:txBody>
      </p:sp>
      <p:sp>
        <p:nvSpPr>
          <p:cNvPr id="21" name="Shape 19"/>
          <p:cNvSpPr/>
          <p:nvPr/>
        </p:nvSpPr>
        <p:spPr>
          <a:xfrm>
            <a:off x="4407408" y="301752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22" name="Shape 20"/>
          <p:cNvSpPr/>
          <p:nvPr/>
        </p:nvSpPr>
        <p:spPr>
          <a:xfrm>
            <a:off x="4407408" y="3017520"/>
            <a:ext cx="64008" cy="1216152"/>
          </a:xfrm>
          <a:prstGeom prst="rect">
            <a:avLst/>
          </a:prstGeom>
          <a:solidFill>
            <a:srgbClr val="004884"/>
          </a:solidFill>
          <a:ln w="12700">
            <a:solidFill>
              <a:srgbClr val="004884"/>
            </a:solidFill>
            <a:prstDash val="solid"/>
          </a:ln>
        </p:spPr>
      </p:sp>
      <p:sp>
        <p:nvSpPr>
          <p:cNvPr id="23" name="Text 21"/>
          <p:cNvSpPr/>
          <p:nvPr/>
        </p:nvSpPr>
        <p:spPr>
          <a:xfrm>
            <a:off x="4608576" y="318211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Baja ejecución</a:t>
            </a:r>
            <a:endParaRPr lang="en-US" sz="1050" dirty="0"/>
          </a:p>
        </p:txBody>
      </p:sp>
      <p:sp>
        <p:nvSpPr>
          <p:cNvPr id="24" name="Text 22"/>
          <p:cNvSpPr/>
          <p:nvPr/>
        </p:nvSpPr>
        <p:spPr>
          <a:xfrm>
            <a:off x="4608576" y="354787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+15</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Facturado &lt; 50 % en contratos &gt; $5 M</a:t>
            </a:r>
            <a:endParaRPr lang="en-US" sz="850" dirty="0"/>
          </a:p>
        </p:txBody>
      </p:sp>
      <p:sp>
        <p:nvSpPr>
          <p:cNvPr id="25" name="Shape 23"/>
          <p:cNvSpPr/>
          <p:nvPr/>
        </p:nvSpPr>
        <p:spPr>
          <a:xfrm>
            <a:off x="8247888" y="301752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26" name="Shape 24"/>
          <p:cNvSpPr/>
          <p:nvPr/>
        </p:nvSpPr>
        <p:spPr>
          <a:xfrm>
            <a:off x="8247888" y="3017520"/>
            <a:ext cx="64008" cy="1216152"/>
          </a:xfrm>
          <a:prstGeom prst="rect">
            <a:avLst/>
          </a:prstGeom>
          <a:solidFill>
            <a:srgbClr val="CE1126"/>
          </a:solidFill>
          <a:ln w="12700">
            <a:solidFill>
              <a:srgbClr val="CE1126"/>
            </a:solidFill>
            <a:prstDash val="solid"/>
          </a:ln>
        </p:spPr>
      </p:sp>
      <p:sp>
        <p:nvSpPr>
          <p:cNvPr id="27" name="Text 25"/>
          <p:cNvSpPr/>
          <p:nvPr/>
        </p:nvSpPr>
        <p:spPr>
          <a:xfrm>
            <a:off x="8449056" y="318211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Sanción disciplinaria</a:t>
            </a:r>
            <a:endParaRPr lang="en-US" sz="1050" dirty="0"/>
          </a:p>
        </p:txBody>
      </p:sp>
      <p:sp>
        <p:nvSpPr>
          <p:cNvPr id="28" name="Text 26"/>
          <p:cNvSpPr/>
          <p:nvPr/>
        </p:nvSpPr>
        <p:spPr>
          <a:xfrm>
            <a:off x="8449056" y="354787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+30</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Coincidencia en SIRI</a:t>
            </a:r>
            <a:endParaRPr lang="en-US" sz="850" dirty="0"/>
          </a:p>
        </p:txBody>
      </p:sp>
      <p:sp>
        <p:nvSpPr>
          <p:cNvPr id="29" name="Shape 27"/>
          <p:cNvSpPr/>
          <p:nvPr/>
        </p:nvSpPr>
        <p:spPr>
          <a:xfrm>
            <a:off x="566928" y="452628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30" name="Shape 28"/>
          <p:cNvSpPr/>
          <p:nvPr/>
        </p:nvSpPr>
        <p:spPr>
          <a:xfrm>
            <a:off x="566928" y="4526280"/>
            <a:ext cx="64008" cy="1216152"/>
          </a:xfrm>
          <a:prstGeom prst="rect">
            <a:avLst/>
          </a:prstGeom>
          <a:solidFill>
            <a:srgbClr val="CE1126"/>
          </a:solidFill>
          <a:ln w="12700">
            <a:solidFill>
              <a:srgbClr val="CE1126"/>
            </a:solidFill>
            <a:prstDash val="solid"/>
          </a:ln>
        </p:spPr>
      </p:sp>
      <p:sp>
        <p:nvSpPr>
          <p:cNvPr id="31" name="Text 29"/>
          <p:cNvSpPr/>
          <p:nvPr/>
        </p:nvSpPr>
        <p:spPr>
          <a:xfrm>
            <a:off x="768096" y="469087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Responsabilidad fiscal</a:t>
            </a:r>
            <a:endParaRPr lang="en-US" sz="1050" dirty="0"/>
          </a:p>
        </p:txBody>
      </p:sp>
      <p:sp>
        <p:nvSpPr>
          <p:cNvPr id="32" name="Text 30"/>
          <p:cNvSpPr/>
          <p:nvPr/>
        </p:nvSpPr>
        <p:spPr>
          <a:xfrm>
            <a:off x="768096" y="505663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+25</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Coincidencia en CGR</a:t>
            </a:r>
            <a:endParaRPr lang="en-US" sz="850" dirty="0"/>
          </a:p>
        </p:txBody>
      </p:sp>
      <p:sp>
        <p:nvSpPr>
          <p:cNvPr id="33" name="Shape 31"/>
          <p:cNvSpPr/>
          <p:nvPr/>
        </p:nvSpPr>
        <p:spPr>
          <a:xfrm>
            <a:off x="4407408" y="452628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34" name="Shape 32"/>
          <p:cNvSpPr/>
          <p:nvPr/>
        </p:nvSpPr>
        <p:spPr>
          <a:xfrm>
            <a:off x="4407408" y="4526280"/>
            <a:ext cx="64008" cy="1216152"/>
          </a:xfrm>
          <a:prstGeom prst="rect">
            <a:avLst/>
          </a:prstGeom>
          <a:solidFill>
            <a:srgbClr val="CE1126"/>
          </a:solidFill>
          <a:ln w="12700">
            <a:solidFill>
              <a:srgbClr val="CE1126"/>
            </a:solidFill>
            <a:prstDash val="solid"/>
          </a:ln>
        </p:spPr>
      </p:sp>
      <p:sp>
        <p:nvSpPr>
          <p:cNvPr id="35" name="Text 33"/>
          <p:cNvSpPr/>
          <p:nvPr/>
        </p:nvSpPr>
        <p:spPr>
          <a:xfrm>
            <a:off x="4608576" y="469087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Multa SECOP</a:t>
            </a:r>
            <a:endParaRPr lang="en-US" sz="1050" dirty="0"/>
          </a:p>
        </p:txBody>
      </p:sp>
      <p:sp>
        <p:nvSpPr>
          <p:cNvPr id="36" name="Text 34"/>
          <p:cNvSpPr/>
          <p:nvPr/>
        </p:nvSpPr>
        <p:spPr>
          <a:xfrm>
            <a:off x="4608576" y="505663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+15</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Multa contractual registrada</a:t>
            </a:r>
            <a:endParaRPr lang="en-US" sz="850" dirty="0"/>
          </a:p>
        </p:txBody>
      </p:sp>
      <p:sp>
        <p:nvSpPr>
          <p:cNvPr id="37" name="Shape 35"/>
          <p:cNvSpPr/>
          <p:nvPr/>
        </p:nvSpPr>
        <p:spPr>
          <a:xfrm>
            <a:off x="8247888" y="4526280"/>
            <a:ext cx="3520440" cy="1216152"/>
          </a:xfrm>
          <a:prstGeom prst="roundRect">
            <a:avLst>
              <a:gd name="adj" fmla="val 6015"/>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38" name="Shape 36"/>
          <p:cNvSpPr/>
          <p:nvPr/>
        </p:nvSpPr>
        <p:spPr>
          <a:xfrm>
            <a:off x="8247888" y="4526280"/>
            <a:ext cx="64008" cy="1216152"/>
          </a:xfrm>
          <a:prstGeom prst="rect">
            <a:avLst/>
          </a:prstGeom>
          <a:solidFill>
            <a:srgbClr val="FEC82F"/>
          </a:solidFill>
          <a:ln w="12700">
            <a:solidFill>
              <a:srgbClr val="FEC82F"/>
            </a:solidFill>
            <a:prstDash val="solid"/>
          </a:ln>
        </p:spPr>
      </p:sp>
      <p:sp>
        <p:nvSpPr>
          <p:cNvPr id="39" name="Text 37"/>
          <p:cNvSpPr/>
          <p:nvPr/>
        </p:nvSpPr>
        <p:spPr>
          <a:xfrm>
            <a:off x="8449056" y="4690872"/>
            <a:ext cx="3154680" cy="292608"/>
          </a:xfrm>
          <a:prstGeom prst="rect">
            <a:avLst/>
          </a:prstGeom>
          <a:noFill/>
          <a:ln/>
        </p:spPr>
        <p:txBody>
          <a:bodyPr wrap="square" lIns="0" tIns="0" rIns="0" bIns="0" rtlCol="0" anchor="ctr"/>
          <a:lstStyle/>
          <a:p>
            <a:pPr indent="0" marL="0">
              <a:buNone/>
            </a:pPr>
            <a:r>
              <a:rPr lang="en-US" sz="1050" b="1" dirty="0">
                <a:solidFill>
                  <a:srgbClr val="002D58"/>
                </a:solidFill>
                <a:latin typeface="Montserrat" pitchFamily="34" charset="0"/>
                <a:ea typeface="Montserrat" pitchFamily="34" charset="-122"/>
                <a:cs typeface="Montserrat" pitchFamily="34" charset="-120"/>
              </a:rPr>
              <a:t>Anomalía estadística</a:t>
            </a:r>
            <a:endParaRPr lang="en-US" sz="1050" dirty="0"/>
          </a:p>
        </p:txBody>
      </p:sp>
      <p:sp>
        <p:nvSpPr>
          <p:cNvPr id="40" name="Text 38"/>
          <p:cNvSpPr/>
          <p:nvPr/>
        </p:nvSpPr>
        <p:spPr>
          <a:xfrm>
            <a:off x="8449056" y="5056632"/>
            <a:ext cx="3154680" cy="557784"/>
          </a:xfrm>
          <a:prstGeom prst="rect">
            <a:avLst/>
          </a:prstGeom>
          <a:noFill/>
          <a:ln/>
        </p:spPr>
        <p:txBody>
          <a:bodyPr wrap="square" lIns="0" tIns="0" rIns="0" bIns="0" rtlCol="0" anchor="t">
            <a:normAutofit/>
          </a:bodyPr>
          <a:lstStyle/>
          <a:p>
            <a:pPr indent="0" marL="0">
              <a:buNone/>
            </a:pPr>
            <a:r>
              <a:rPr lang="en-US" sz="850" dirty="0">
                <a:solidFill>
                  <a:srgbClr val="172033"/>
                </a:solidFill>
                <a:latin typeface="Montserrat" pitchFamily="34" charset="0"/>
                <a:ea typeface="Montserrat" pitchFamily="34" charset="-122"/>
                <a:cs typeface="Montserrat" pitchFamily="34" charset="-120"/>
              </a:rPr>
              <a:t>0 a +30</a:t>
            </a:r>
            <a:endParaRPr lang="en-US" sz="850" dirty="0"/>
          </a:p>
          <a:p>
            <a:pPr indent="0" marL="0">
              <a:buNone/>
            </a:pPr>
            <a:r>
              <a:rPr lang="en-US" sz="850" dirty="0">
                <a:solidFill>
                  <a:srgbClr val="172033"/>
                </a:solidFill>
                <a:latin typeface="Montserrat" pitchFamily="34" charset="0"/>
                <a:ea typeface="Montserrat" pitchFamily="34" charset="-122"/>
                <a:cs typeface="Montserrat" pitchFamily="34" charset="-120"/>
              </a:rPr>
              <a:t>Isolation Forest &lt; −0,05</a:t>
            </a:r>
            <a:endParaRPr lang="en-US" sz="850" dirty="0"/>
          </a:p>
        </p:txBody>
      </p:sp>
      <p:sp>
        <p:nvSpPr>
          <p:cNvPr id="41" name="Text 39"/>
          <p:cNvSpPr/>
          <p:nvPr/>
        </p:nvSpPr>
        <p:spPr>
          <a:xfrm>
            <a:off x="1828800" y="6144768"/>
            <a:ext cx="8503920" cy="182880"/>
          </a:xfrm>
          <a:prstGeom prst="rect">
            <a:avLst/>
          </a:prstGeom>
          <a:noFill/>
          <a:ln/>
        </p:spPr>
        <p:txBody>
          <a:bodyPr wrap="square" lIns="0" tIns="0" rIns="0" bIns="0" rtlCol="0" anchor="ctr"/>
          <a:lstStyle/>
          <a:p>
            <a:pPr algn="ctr" indent="0" marL="0">
              <a:buNone/>
            </a:pPr>
            <a:r>
              <a:rPr lang="en-US" sz="950" b="1" dirty="0">
                <a:solidFill>
                  <a:srgbClr val="002D58"/>
                </a:solidFill>
              </a:rPr>
              <a:t>Semáforo: ROJO &gt; 60 · AMARILLO 30–60 · VERDE &lt; 30</a:t>
            </a:r>
            <a:endParaRPr lang="en-US" sz="95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ANEXO METODOLÓGICO</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Fuentes, fundamento y reproducibilidad</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Enlaces preparados para sustentar el origen de los datos y las decisiones técnicas.</a:t>
            </a:r>
            <a:endParaRPr lang="en-US" sz="950" dirty="0"/>
          </a:p>
        </p:txBody>
      </p:sp>
      <p:sp>
        <p:nvSpPr>
          <p:cNvPr id="5" name="Shape 3"/>
          <p:cNvSpPr/>
          <p:nvPr/>
        </p:nvSpPr>
        <p:spPr>
          <a:xfrm>
            <a:off x="566928" y="1554480"/>
            <a:ext cx="5440680" cy="1417320"/>
          </a:xfrm>
          <a:prstGeom prst="roundRect">
            <a:avLst>
              <a:gd name="adj" fmla="val 516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6" name="Shape 4"/>
          <p:cNvSpPr/>
          <p:nvPr/>
        </p:nvSpPr>
        <p:spPr>
          <a:xfrm>
            <a:off x="566928" y="1554480"/>
            <a:ext cx="64008" cy="1417320"/>
          </a:xfrm>
          <a:prstGeom prst="rect">
            <a:avLst/>
          </a:prstGeom>
          <a:solidFill>
            <a:srgbClr val="004884"/>
          </a:solidFill>
          <a:ln w="12700">
            <a:solidFill>
              <a:srgbClr val="004884"/>
            </a:solidFill>
            <a:prstDash val="solid"/>
          </a:ln>
        </p:spPr>
      </p:sp>
      <p:sp>
        <p:nvSpPr>
          <p:cNvPr id="7" name="Text 5"/>
          <p:cNvSpPr/>
          <p:nvPr/>
        </p:nvSpPr>
        <p:spPr>
          <a:xfrm>
            <a:off x="768096" y="1719072"/>
            <a:ext cx="5074920" cy="292608"/>
          </a:xfrm>
          <a:prstGeom prst="rect">
            <a:avLst/>
          </a:prstGeom>
          <a:noFill/>
          <a:ln/>
        </p:spPr>
        <p:txBody>
          <a:bodyPr wrap="square" lIns="0" tIns="0" rIns="0" bIns="0" rtlCol="0" anchor="ctr"/>
          <a:lstStyle/>
          <a:p>
            <a:pPr indent="0" marL="0">
              <a:buNone/>
            </a:pPr>
            <a:r>
              <a:rPr lang="en-US" sz="1300" b="1" dirty="0">
                <a:solidFill>
                  <a:srgbClr val="002D58"/>
                </a:solidFill>
                <a:latin typeface="Montserrat" pitchFamily="34" charset="0"/>
                <a:ea typeface="Montserrat" pitchFamily="34" charset="-122"/>
                <a:cs typeface="Montserrat" pitchFamily="34" charset="-120"/>
              </a:rPr>
              <a:t>SECOP II — Contratos Electrónicos</a:t>
            </a:r>
            <a:endParaRPr lang="en-US" sz="1300" dirty="0"/>
          </a:p>
        </p:txBody>
      </p:sp>
      <p:sp>
        <p:nvSpPr>
          <p:cNvPr id="8" name="Text 6"/>
          <p:cNvSpPr/>
          <p:nvPr/>
        </p:nvSpPr>
        <p:spPr>
          <a:xfrm>
            <a:off x="768096" y="2084832"/>
            <a:ext cx="5074920" cy="75895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Colombia Compra Eficiente · datos.gov.co · ID jbjy-vk9h · actualización diaria · cobertura nacional.</a:t>
            </a:r>
            <a:endParaRPr lang="en-US" sz="1000" dirty="0"/>
          </a:p>
        </p:txBody>
      </p:sp>
      <p:sp>
        <p:nvSpPr>
          <p:cNvPr id="9" name="Shape 7"/>
          <p:cNvSpPr/>
          <p:nvPr/>
        </p:nvSpPr>
        <p:spPr>
          <a:xfrm>
            <a:off x="6217920" y="1554480"/>
            <a:ext cx="5394960" cy="1417320"/>
          </a:xfrm>
          <a:prstGeom prst="roundRect">
            <a:avLst>
              <a:gd name="adj" fmla="val 516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0" name="Shape 8"/>
          <p:cNvSpPr/>
          <p:nvPr/>
        </p:nvSpPr>
        <p:spPr>
          <a:xfrm>
            <a:off x="6217920" y="1554480"/>
            <a:ext cx="64008" cy="1417320"/>
          </a:xfrm>
          <a:prstGeom prst="rect">
            <a:avLst/>
          </a:prstGeom>
          <a:solidFill>
            <a:srgbClr val="FEC82F"/>
          </a:solidFill>
          <a:ln w="12700">
            <a:solidFill>
              <a:srgbClr val="FEC82F"/>
            </a:solidFill>
            <a:prstDash val="solid"/>
          </a:ln>
        </p:spPr>
      </p:sp>
      <p:sp>
        <p:nvSpPr>
          <p:cNvPr id="11" name="Text 9"/>
          <p:cNvSpPr/>
          <p:nvPr/>
        </p:nvSpPr>
        <p:spPr>
          <a:xfrm>
            <a:off x="6419088" y="1719072"/>
            <a:ext cx="5029200" cy="292608"/>
          </a:xfrm>
          <a:prstGeom prst="rect">
            <a:avLst/>
          </a:prstGeom>
          <a:noFill/>
          <a:ln/>
        </p:spPr>
        <p:txBody>
          <a:bodyPr wrap="square" lIns="0" tIns="0" rIns="0" bIns="0" rtlCol="0" anchor="ctr"/>
          <a:lstStyle/>
          <a:p>
            <a:pPr indent="0" marL="0">
              <a:buNone/>
            </a:pPr>
            <a:r>
              <a:rPr lang="en-US" sz="1300" b="1" dirty="0">
                <a:solidFill>
                  <a:srgbClr val="002D58"/>
                </a:solidFill>
                <a:latin typeface="Montserrat" pitchFamily="34" charset="0"/>
                <a:ea typeface="Montserrat" pitchFamily="34" charset="-122"/>
                <a:cs typeface="Montserrat" pitchFamily="34" charset="-120"/>
              </a:rPr>
              <a:t>Isolation Forest</a:t>
            </a:r>
            <a:endParaRPr lang="en-US" sz="1300" dirty="0"/>
          </a:p>
        </p:txBody>
      </p:sp>
      <p:sp>
        <p:nvSpPr>
          <p:cNvPr id="12" name="Text 10"/>
          <p:cNvSpPr/>
          <p:nvPr/>
        </p:nvSpPr>
        <p:spPr>
          <a:xfrm>
            <a:off x="6419088" y="2084832"/>
            <a:ext cx="5029200" cy="75895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Liu, Ting y Zhou (IEEE ICDM, 2008). Algoritmo no supervisado para aislar observaciones atípicas.</a:t>
            </a:r>
            <a:endParaRPr lang="en-US" sz="1000" dirty="0"/>
          </a:p>
        </p:txBody>
      </p:sp>
      <p:sp>
        <p:nvSpPr>
          <p:cNvPr id="13" name="Shape 11"/>
          <p:cNvSpPr/>
          <p:nvPr/>
        </p:nvSpPr>
        <p:spPr>
          <a:xfrm>
            <a:off x="566928" y="3246120"/>
            <a:ext cx="5440680" cy="1417320"/>
          </a:xfrm>
          <a:prstGeom prst="roundRect">
            <a:avLst>
              <a:gd name="adj" fmla="val 516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4" name="Shape 12"/>
          <p:cNvSpPr/>
          <p:nvPr/>
        </p:nvSpPr>
        <p:spPr>
          <a:xfrm>
            <a:off x="566928" y="3246120"/>
            <a:ext cx="64008" cy="1417320"/>
          </a:xfrm>
          <a:prstGeom prst="rect">
            <a:avLst/>
          </a:prstGeom>
          <a:solidFill>
            <a:srgbClr val="CE1126"/>
          </a:solidFill>
          <a:ln w="12700">
            <a:solidFill>
              <a:srgbClr val="CE1126"/>
            </a:solidFill>
            <a:prstDash val="solid"/>
          </a:ln>
        </p:spPr>
      </p:sp>
      <p:sp>
        <p:nvSpPr>
          <p:cNvPr id="15" name="Text 13"/>
          <p:cNvSpPr/>
          <p:nvPr/>
        </p:nvSpPr>
        <p:spPr>
          <a:xfrm>
            <a:off x="768096" y="3410712"/>
            <a:ext cx="5074920" cy="292608"/>
          </a:xfrm>
          <a:prstGeom prst="rect">
            <a:avLst/>
          </a:prstGeom>
          <a:noFill/>
          <a:ln/>
        </p:spPr>
        <p:txBody>
          <a:bodyPr wrap="square" lIns="0" tIns="0" rIns="0" bIns="0" rtlCol="0" anchor="ctr"/>
          <a:lstStyle/>
          <a:p>
            <a:pPr indent="0" marL="0">
              <a:buNone/>
            </a:pPr>
            <a:r>
              <a:rPr lang="en-US" sz="1300" b="1" dirty="0">
                <a:solidFill>
                  <a:srgbClr val="002D58"/>
                </a:solidFill>
                <a:latin typeface="Montserrat" pitchFamily="34" charset="0"/>
                <a:ea typeface="Montserrat" pitchFamily="34" charset="-122"/>
                <a:cs typeface="Montserrat" pitchFamily="34" charset="-120"/>
              </a:rPr>
              <a:t>Antecedente colombiano</a:t>
            </a:r>
            <a:endParaRPr lang="en-US" sz="1300" dirty="0"/>
          </a:p>
        </p:txBody>
      </p:sp>
      <p:sp>
        <p:nvSpPr>
          <p:cNvPr id="16" name="Text 14"/>
          <p:cNvSpPr/>
          <p:nvPr/>
        </p:nvSpPr>
        <p:spPr>
          <a:xfrm>
            <a:off x="768096" y="3776472"/>
            <a:ext cx="5074920" cy="75895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Índice de riesgo de corrupción en el sistema de compra pública colombiano. Fedesarrollo/BID, 2019.</a:t>
            </a:r>
            <a:endParaRPr lang="en-US" sz="1000" dirty="0"/>
          </a:p>
        </p:txBody>
      </p:sp>
      <p:sp>
        <p:nvSpPr>
          <p:cNvPr id="17" name="Shape 15"/>
          <p:cNvSpPr/>
          <p:nvPr/>
        </p:nvSpPr>
        <p:spPr>
          <a:xfrm>
            <a:off x="6217920" y="3246120"/>
            <a:ext cx="5394960" cy="1417320"/>
          </a:xfrm>
          <a:prstGeom prst="roundRect">
            <a:avLst>
              <a:gd name="adj" fmla="val 516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8" name="Shape 16"/>
          <p:cNvSpPr/>
          <p:nvPr/>
        </p:nvSpPr>
        <p:spPr>
          <a:xfrm>
            <a:off x="6217920" y="3246120"/>
            <a:ext cx="64008" cy="1417320"/>
          </a:xfrm>
          <a:prstGeom prst="rect">
            <a:avLst/>
          </a:prstGeom>
          <a:solidFill>
            <a:srgbClr val="16865A"/>
          </a:solidFill>
          <a:ln w="12700">
            <a:solidFill>
              <a:srgbClr val="16865A"/>
            </a:solidFill>
            <a:prstDash val="solid"/>
          </a:ln>
        </p:spPr>
      </p:sp>
      <p:sp>
        <p:nvSpPr>
          <p:cNvPr id="19" name="Text 17"/>
          <p:cNvSpPr/>
          <p:nvPr/>
        </p:nvSpPr>
        <p:spPr>
          <a:xfrm>
            <a:off x="6419088" y="3410712"/>
            <a:ext cx="5029200" cy="292608"/>
          </a:xfrm>
          <a:prstGeom prst="rect">
            <a:avLst/>
          </a:prstGeom>
          <a:noFill/>
          <a:ln/>
        </p:spPr>
        <p:txBody>
          <a:bodyPr wrap="square" lIns="0" tIns="0" rIns="0" bIns="0" rtlCol="0" anchor="ctr"/>
          <a:lstStyle/>
          <a:p>
            <a:pPr indent="0" marL="0">
              <a:buNone/>
            </a:pPr>
            <a:r>
              <a:rPr lang="en-US" sz="1300" b="1" dirty="0">
                <a:solidFill>
                  <a:srgbClr val="002D58"/>
                </a:solidFill>
                <a:latin typeface="Montserrat" pitchFamily="34" charset="0"/>
                <a:ea typeface="Montserrat" pitchFamily="34" charset="-122"/>
                <a:cs typeface="Montserrat" pitchFamily="34" charset="-120"/>
              </a:rPr>
              <a:t>Reproducibilidad</a:t>
            </a:r>
            <a:endParaRPr lang="en-US" sz="1300" dirty="0"/>
          </a:p>
        </p:txBody>
      </p:sp>
      <p:sp>
        <p:nvSpPr>
          <p:cNvPr id="20" name="Text 18"/>
          <p:cNvSpPr/>
          <p:nvPr/>
        </p:nvSpPr>
        <p:spPr>
          <a:xfrm>
            <a:off x="6419088" y="3776472"/>
            <a:ext cx="5029200" cy="75895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Código TypeScript/Python · Docker · pruebas unitarias y E2E · fuentes y variables documentadas · evidencia original persistida.</a:t>
            </a:r>
            <a:endParaRPr lang="en-US" sz="1000" dirty="0"/>
          </a:p>
        </p:txBody>
      </p:sp>
      <p:sp>
        <p:nvSpPr>
          <p:cNvPr id="21" name="Text 19"/>
          <p:cNvSpPr/>
          <p:nvPr/>
        </p:nvSpPr>
        <p:spPr>
          <a:xfrm>
            <a:off x="685800" y="5074920"/>
            <a:ext cx="914400" cy="182880"/>
          </a:xfrm>
          <a:prstGeom prst="rect">
            <a:avLst/>
          </a:prstGeom>
          <a:noFill/>
          <a:ln/>
        </p:spPr>
        <p:txBody>
          <a:bodyPr wrap="square" lIns="0" tIns="0" rIns="0" bIns="0" rtlCol="0" anchor="ctr"/>
          <a:lstStyle/>
          <a:p>
            <a:pPr indent="0" marL="0">
              <a:buNone/>
            </a:pPr>
            <a:r>
              <a:rPr lang="en-US" sz="800" b="1" spc="110" kern="0" dirty="0">
                <a:solidFill>
                  <a:srgbClr val="CE1126"/>
                </a:solidFill>
              </a:rPr>
              <a:t>Enlaces</a:t>
            </a:r>
            <a:endParaRPr lang="en-US" sz="800" dirty="0"/>
          </a:p>
        </p:txBody>
      </p:sp>
      <p:sp>
        <p:nvSpPr>
          <p:cNvPr id="22" name="Text 20">
            <a:hlinkClick r:id="rId1" tooltip=""/>
          </p:cNvPr>
          <p:cNvSpPr/>
          <p:nvPr/>
        </p:nvSpPr>
        <p:spPr>
          <a:xfrm>
            <a:off x="1645920" y="5056632"/>
            <a:ext cx="2788920" cy="210312"/>
          </a:xfrm>
          <a:prstGeom prst="rect">
            <a:avLst/>
          </a:prstGeom>
          <a:noFill/>
          <a:ln/>
        </p:spPr>
        <p:txBody>
          <a:bodyPr wrap="square" lIns="0" tIns="0" rIns="0" bIns="0" rtlCol="0" anchor="ctr"/>
          <a:lstStyle/>
          <a:p>
            <a:pPr indent="0" marL="0">
              <a:buNone/>
            </a:pPr>
            <a:r>
              <a:rPr lang="en-US" sz="820" u="sng" dirty="0">
                <a:solidFill>
                  <a:srgbClr val="004884"/>
                </a:solidFill>
                <a:hlinkClick r:id="rId1" invalidUrl="" action="" tgtFrame="" tooltip="" history="1" highlightClick="0" endSnd="0">
                  <a:extLst>
                    <a:ext uri="{A12FA001-AC4F-418D-AE19-62706E023703}">
                      <ahyp:hlinkClr xmlns:ahyp="http://schemas.microsoft.com/office/drawing/2018/hyperlinkcolor" val="tx"/>
                    </a:ext>
                  </a:extLst>
                </a:hlinkClick>
              </a:rPr>
              <a:t>datos.gov.co/.../jbjy-vk9h</a:t>
            </a:r>
            <a:endParaRPr lang="en-US" sz="820" dirty="0"/>
          </a:p>
        </p:txBody>
      </p:sp>
      <p:sp>
        <p:nvSpPr>
          <p:cNvPr id="23" name="Text 21">
            <a:hlinkClick r:id="rId2" tooltip=""/>
          </p:cNvPr>
          <p:cNvSpPr/>
          <p:nvPr/>
        </p:nvSpPr>
        <p:spPr>
          <a:xfrm>
            <a:off x="4572000" y="5056632"/>
            <a:ext cx="2834640" cy="210312"/>
          </a:xfrm>
          <a:prstGeom prst="rect">
            <a:avLst/>
          </a:prstGeom>
          <a:noFill/>
          <a:ln/>
        </p:spPr>
        <p:txBody>
          <a:bodyPr wrap="square" lIns="0" tIns="0" rIns="0" bIns="0" rtlCol="0" anchor="ctr"/>
          <a:lstStyle/>
          <a:p>
            <a:pPr indent="0" marL="0">
              <a:buNone/>
            </a:pPr>
            <a:r>
              <a:rPr lang="en-US" sz="820" u="sng" dirty="0">
                <a:solidFill>
                  <a:srgbClr val="004884"/>
                </a:solidFill>
                <a:hlinkClick r:id="rId2" invalidUrl="" action="" tgtFrame="" tooltip="" history="1" highlightClick="0" endSnd="0">
                  <a:extLst>
                    <a:ext uri="{A12FA001-AC4F-418D-AE19-62706E023703}">
                      <ahyp:hlinkClr xmlns:ahyp="http://schemas.microsoft.com/office/drawing/2018/hyperlinkcolor" val="tx"/>
                    </a:ext>
                  </a:extLst>
                </a:hlinkClick>
              </a:rPr>
              <a:t>hdl.handle.net/11445/3872</a:t>
            </a:r>
            <a:endParaRPr lang="en-US" sz="820" dirty="0"/>
          </a:p>
        </p:txBody>
      </p:sp>
      <p:sp>
        <p:nvSpPr>
          <p:cNvPr id="24" name="Text 22">
            <a:hlinkClick r:id="rId3" tooltip=""/>
          </p:cNvPr>
          <p:cNvSpPr/>
          <p:nvPr/>
        </p:nvSpPr>
        <p:spPr>
          <a:xfrm>
            <a:off x="7635240" y="5056632"/>
            <a:ext cx="2606040" cy="210312"/>
          </a:xfrm>
          <a:prstGeom prst="rect">
            <a:avLst/>
          </a:prstGeom>
          <a:noFill/>
          <a:ln/>
        </p:spPr>
        <p:txBody>
          <a:bodyPr wrap="square" lIns="0" tIns="0" rIns="0" bIns="0" rtlCol="0" anchor="ctr"/>
          <a:lstStyle/>
          <a:p>
            <a:pPr indent="0" marL="0">
              <a:buNone/>
            </a:pPr>
            <a:r>
              <a:rPr lang="en-US" sz="820" u="sng" dirty="0">
                <a:solidFill>
                  <a:srgbClr val="004884"/>
                </a:solidFill>
                <a:hlinkClick r:id="rId3" invalidUrl="" action="" tgtFrame="" tooltip="" history="1" highlightClick="0" endSnd="0">
                  <a:extLst>
                    <a:ext uri="{A12FA001-AC4F-418D-AE19-62706E023703}">
                      <ahyp:hlinkClr xmlns:ahyp="http://schemas.microsoft.com/office/drawing/2018/hyperlinkcolor" val="tx"/>
                    </a:ext>
                  </a:extLst>
                </a:hlinkClick>
              </a:rPr>
              <a:t>Isolation Forest · paper</a:t>
            </a:r>
            <a:endParaRPr lang="en-US" sz="82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30352" y="292608"/>
            <a:ext cx="5943600" cy="201168"/>
          </a:xfrm>
          <a:prstGeom prst="rect">
            <a:avLst/>
          </a:prstGeom>
          <a:noFill/>
          <a:ln/>
        </p:spPr>
        <p:txBody>
          <a:bodyPr wrap="square" lIns="0" tIns="0" rIns="0" bIns="0" rtlCol="0" anchor="ctr"/>
          <a:lstStyle/>
          <a:p>
            <a:pPr indent="0" marL="0">
              <a:buNone/>
            </a:pPr>
            <a:r>
              <a:rPr lang="en-US" sz="750" b="1" spc="180" kern="0" dirty="0">
                <a:solidFill>
                  <a:srgbClr val="CE1126"/>
                </a:solidFill>
                <a:latin typeface="Montserrat" pitchFamily="34" charset="0"/>
                <a:ea typeface="Montserrat" pitchFamily="34" charset="-122"/>
                <a:cs typeface="Montserrat" pitchFamily="34" charset="-120"/>
              </a:rPr>
              <a:t>ANEXO DE DEFENSA</a:t>
            </a:r>
            <a:endParaRPr lang="en-US" sz="750" dirty="0"/>
          </a:p>
        </p:txBody>
      </p:sp>
      <p:sp>
        <p:nvSpPr>
          <p:cNvPr id="3" name="Text 1"/>
          <p:cNvSpPr/>
          <p:nvPr/>
        </p:nvSpPr>
        <p:spPr>
          <a:xfrm>
            <a:off x="502920" y="566928"/>
            <a:ext cx="11109960" cy="475488"/>
          </a:xfrm>
          <a:prstGeom prst="rect">
            <a:avLst/>
          </a:prstGeom>
          <a:noFill/>
          <a:ln/>
        </p:spPr>
        <p:txBody>
          <a:bodyPr wrap="square" lIns="0" tIns="0" rIns="0" bIns="0" rtlCol="0" anchor="ctr"/>
          <a:lstStyle/>
          <a:p>
            <a:pPr indent="0" marL="0">
              <a:buNone/>
            </a:pPr>
            <a:r>
              <a:rPr lang="en-US" sz="2500" b="1" dirty="0">
                <a:solidFill>
                  <a:srgbClr val="002D58"/>
                </a:solidFill>
                <a:latin typeface="Montserrat" pitchFamily="34" charset="0"/>
                <a:ea typeface="Montserrat" pitchFamily="34" charset="-122"/>
                <a:cs typeface="Montserrat" pitchFamily="34" charset="-120"/>
              </a:rPr>
              <a:t>Cuatro preguntas difíciles y respuestas breves</a:t>
            </a:r>
            <a:endParaRPr lang="en-US" sz="2500" dirty="0"/>
          </a:p>
        </p:txBody>
      </p:sp>
      <p:sp>
        <p:nvSpPr>
          <p:cNvPr id="4" name="Text 2"/>
          <p:cNvSpPr/>
          <p:nvPr/>
        </p:nvSpPr>
        <p:spPr>
          <a:xfrm>
            <a:off x="530352" y="1078992"/>
            <a:ext cx="10881360" cy="292608"/>
          </a:xfrm>
          <a:prstGeom prst="rect">
            <a:avLst/>
          </a:prstGeom>
          <a:noFill/>
          <a:ln/>
        </p:spPr>
        <p:txBody>
          <a:bodyPr wrap="square" lIns="0" tIns="0" rIns="0" bIns="0" rtlCol="0" anchor="ctr"/>
          <a:lstStyle/>
          <a:p>
            <a:pPr indent="0" marL="0">
              <a:buNone/>
            </a:pPr>
            <a:r>
              <a:rPr lang="en-US" sz="950" dirty="0">
                <a:solidFill>
                  <a:srgbClr val="5A677D"/>
                </a:solidFill>
                <a:latin typeface="Montserrat" pitchFamily="34" charset="0"/>
                <a:ea typeface="Montserrat" pitchFamily="34" charset="-122"/>
                <a:cs typeface="Montserrat" pitchFamily="34" charset="-120"/>
              </a:rPr>
              <a:t>Responder con evidencia, reconocer límites y evitar afirmaciones que el sistema no demuestra.</a:t>
            </a:r>
            <a:endParaRPr lang="en-US" sz="950" dirty="0"/>
          </a:p>
        </p:txBody>
      </p:sp>
      <p:sp>
        <p:nvSpPr>
          <p:cNvPr id="5" name="Shape 3"/>
          <p:cNvSpPr/>
          <p:nvPr/>
        </p:nvSpPr>
        <p:spPr>
          <a:xfrm>
            <a:off x="566928" y="1481328"/>
            <a:ext cx="5440680" cy="1965960"/>
          </a:xfrm>
          <a:prstGeom prst="roundRect">
            <a:avLst>
              <a:gd name="adj" fmla="val 372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6" name="Shape 4"/>
          <p:cNvSpPr/>
          <p:nvPr/>
        </p:nvSpPr>
        <p:spPr>
          <a:xfrm>
            <a:off x="566928" y="1481328"/>
            <a:ext cx="64008" cy="1965960"/>
          </a:xfrm>
          <a:prstGeom prst="rect">
            <a:avLst/>
          </a:prstGeom>
          <a:solidFill>
            <a:srgbClr val="CE1126"/>
          </a:solidFill>
          <a:ln w="12700">
            <a:solidFill>
              <a:srgbClr val="CE1126"/>
            </a:solidFill>
            <a:prstDash val="solid"/>
          </a:ln>
        </p:spPr>
      </p:sp>
      <p:sp>
        <p:nvSpPr>
          <p:cNvPr id="7" name="Text 5"/>
          <p:cNvSpPr/>
          <p:nvPr/>
        </p:nvSpPr>
        <p:spPr>
          <a:xfrm>
            <a:off x="768096" y="1645920"/>
            <a:ext cx="5074920" cy="292608"/>
          </a:xfrm>
          <a:prstGeom prst="rect">
            <a:avLst/>
          </a:prstGeom>
          <a:noFill/>
          <a:ln/>
        </p:spPr>
        <p:txBody>
          <a:bodyPr wrap="square" lIns="0" tIns="0" rIns="0" bIns="0" rtlCol="0" anchor="ctr"/>
          <a:lstStyle/>
          <a:p>
            <a:pPr indent="0" marL="0">
              <a:buNone/>
            </a:pPr>
            <a:r>
              <a:rPr lang="en-US" sz="1200" b="1" dirty="0">
                <a:solidFill>
                  <a:srgbClr val="002D58"/>
                </a:solidFill>
                <a:latin typeface="Montserrat" pitchFamily="34" charset="0"/>
                <a:ea typeface="Montserrat" pitchFamily="34" charset="-122"/>
                <a:cs typeface="Montserrat" pitchFamily="34" charset="-120"/>
              </a:rPr>
              <a:t>¿El sistema detecta corrupción?</a:t>
            </a:r>
            <a:endParaRPr lang="en-US" sz="1200" dirty="0"/>
          </a:p>
        </p:txBody>
      </p:sp>
      <p:sp>
        <p:nvSpPr>
          <p:cNvPr id="8" name="Text 6"/>
          <p:cNvSpPr/>
          <p:nvPr/>
        </p:nvSpPr>
        <p:spPr>
          <a:xfrm>
            <a:off x="768096" y="2011680"/>
            <a:ext cx="5074920" cy="130759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No. Detecta señales de riesgo y anomalías que ayudan a priorizar revisiones. La determinación requiere investigación, contexto y debido proceso.</a:t>
            </a:r>
            <a:endParaRPr lang="en-US" sz="1000" dirty="0"/>
          </a:p>
        </p:txBody>
      </p:sp>
      <p:sp>
        <p:nvSpPr>
          <p:cNvPr id="9" name="Shape 7"/>
          <p:cNvSpPr/>
          <p:nvPr/>
        </p:nvSpPr>
        <p:spPr>
          <a:xfrm>
            <a:off x="6217920" y="1481328"/>
            <a:ext cx="5394960" cy="1965960"/>
          </a:xfrm>
          <a:prstGeom prst="roundRect">
            <a:avLst>
              <a:gd name="adj" fmla="val 372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0" name="Shape 8"/>
          <p:cNvSpPr/>
          <p:nvPr/>
        </p:nvSpPr>
        <p:spPr>
          <a:xfrm>
            <a:off x="6217920" y="1481328"/>
            <a:ext cx="64008" cy="1965960"/>
          </a:xfrm>
          <a:prstGeom prst="rect">
            <a:avLst/>
          </a:prstGeom>
          <a:solidFill>
            <a:srgbClr val="FEC82F"/>
          </a:solidFill>
          <a:ln w="12700">
            <a:solidFill>
              <a:srgbClr val="FEC82F"/>
            </a:solidFill>
            <a:prstDash val="solid"/>
          </a:ln>
        </p:spPr>
      </p:sp>
      <p:sp>
        <p:nvSpPr>
          <p:cNvPr id="11" name="Text 9"/>
          <p:cNvSpPr/>
          <p:nvPr/>
        </p:nvSpPr>
        <p:spPr>
          <a:xfrm>
            <a:off x="6419088" y="1645920"/>
            <a:ext cx="5029200" cy="292608"/>
          </a:xfrm>
          <a:prstGeom prst="rect">
            <a:avLst/>
          </a:prstGeom>
          <a:noFill/>
          <a:ln/>
        </p:spPr>
        <p:txBody>
          <a:bodyPr wrap="square" lIns="0" tIns="0" rIns="0" bIns="0" rtlCol="0" anchor="ctr"/>
          <a:lstStyle/>
          <a:p>
            <a:pPr indent="0" marL="0">
              <a:buNone/>
            </a:pPr>
            <a:r>
              <a:rPr lang="en-US" sz="1200" b="1" dirty="0">
                <a:solidFill>
                  <a:srgbClr val="002D58"/>
                </a:solidFill>
                <a:latin typeface="Montserrat" pitchFamily="34" charset="0"/>
                <a:ea typeface="Montserrat" pitchFamily="34" charset="-122"/>
                <a:cs typeface="Montserrat" pitchFamily="34" charset="-120"/>
              </a:rPr>
              <a:t>¿Cómo saben que el modelo funciona?</a:t>
            </a:r>
            <a:endParaRPr lang="en-US" sz="1200" dirty="0"/>
          </a:p>
        </p:txBody>
      </p:sp>
      <p:sp>
        <p:nvSpPr>
          <p:cNvPr id="12" name="Text 10"/>
          <p:cNvSpPr/>
          <p:nvPr/>
        </p:nvSpPr>
        <p:spPr>
          <a:xfrm>
            <a:off x="6419088" y="2011680"/>
            <a:ext cx="5029200" cy="130759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Validamos coherencia matemática, estabilidad, ejecución E2E y trazabilidad. Sin etiquetas confiables no afirmamos una precisión supervisada.</a:t>
            </a:r>
            <a:endParaRPr lang="en-US" sz="1000" dirty="0"/>
          </a:p>
        </p:txBody>
      </p:sp>
      <p:sp>
        <p:nvSpPr>
          <p:cNvPr id="13" name="Shape 11"/>
          <p:cNvSpPr/>
          <p:nvPr/>
        </p:nvSpPr>
        <p:spPr>
          <a:xfrm>
            <a:off x="566928" y="3675888"/>
            <a:ext cx="5440680" cy="1965960"/>
          </a:xfrm>
          <a:prstGeom prst="roundRect">
            <a:avLst>
              <a:gd name="adj" fmla="val 372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4" name="Shape 12"/>
          <p:cNvSpPr/>
          <p:nvPr/>
        </p:nvSpPr>
        <p:spPr>
          <a:xfrm>
            <a:off x="566928" y="3675888"/>
            <a:ext cx="64008" cy="1965960"/>
          </a:xfrm>
          <a:prstGeom prst="rect">
            <a:avLst/>
          </a:prstGeom>
          <a:solidFill>
            <a:srgbClr val="004884"/>
          </a:solidFill>
          <a:ln w="12700">
            <a:solidFill>
              <a:srgbClr val="004884"/>
            </a:solidFill>
            <a:prstDash val="solid"/>
          </a:ln>
        </p:spPr>
      </p:sp>
      <p:sp>
        <p:nvSpPr>
          <p:cNvPr id="15" name="Text 13"/>
          <p:cNvSpPr/>
          <p:nvPr/>
        </p:nvSpPr>
        <p:spPr>
          <a:xfrm>
            <a:off x="768096" y="3840480"/>
            <a:ext cx="5074920" cy="292608"/>
          </a:xfrm>
          <a:prstGeom prst="rect">
            <a:avLst/>
          </a:prstGeom>
          <a:noFill/>
          <a:ln/>
        </p:spPr>
        <p:txBody>
          <a:bodyPr wrap="square" lIns="0" tIns="0" rIns="0" bIns="0" rtlCol="0" anchor="ctr"/>
          <a:lstStyle/>
          <a:p>
            <a:pPr indent="0" marL="0">
              <a:buNone/>
            </a:pPr>
            <a:r>
              <a:rPr lang="en-US" sz="1200" b="1" dirty="0">
                <a:solidFill>
                  <a:srgbClr val="002D58"/>
                </a:solidFill>
                <a:latin typeface="Montserrat" pitchFamily="34" charset="0"/>
                <a:ea typeface="Montserrat" pitchFamily="34" charset="-122"/>
                <a:cs typeface="Montserrat" pitchFamily="34" charset="-120"/>
              </a:rPr>
              <a:t>¿Qué pasa si datos.gov.co falla?</a:t>
            </a:r>
            <a:endParaRPr lang="en-US" sz="1200" dirty="0"/>
          </a:p>
        </p:txBody>
      </p:sp>
      <p:sp>
        <p:nvSpPr>
          <p:cNvPr id="16" name="Text 14"/>
          <p:cNvSpPr/>
          <p:nvPr/>
        </p:nvSpPr>
        <p:spPr>
          <a:xfrm>
            <a:off x="768096" y="4206240"/>
            <a:ext cx="5074920" cy="130759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La aplicación conserva una copia local y usa caché con actualización en segundo plano. La respuesta identifica la fuente y evita ocultar su antigüedad.</a:t>
            </a:r>
            <a:endParaRPr lang="en-US" sz="1000" dirty="0"/>
          </a:p>
        </p:txBody>
      </p:sp>
      <p:sp>
        <p:nvSpPr>
          <p:cNvPr id="17" name="Shape 15"/>
          <p:cNvSpPr/>
          <p:nvPr/>
        </p:nvSpPr>
        <p:spPr>
          <a:xfrm>
            <a:off x="6217920" y="3675888"/>
            <a:ext cx="5394960" cy="1965960"/>
          </a:xfrm>
          <a:prstGeom prst="roundRect">
            <a:avLst>
              <a:gd name="adj" fmla="val 3721"/>
            </a:avLst>
          </a:prstGeom>
          <a:solidFill>
            <a:srgbClr val="FFFFFF"/>
          </a:solidFill>
          <a:ln w="10160">
            <a:solidFill>
              <a:srgbClr val="D8E1EC"/>
            </a:solidFill>
            <a:prstDash val="solid"/>
          </a:ln>
          <a:effectLst>
            <a:outerShdw sx="100000" sy="100000" kx="0" ky="0" algn="bl" rotWithShape="0" blurRad="12700" dist="50800" dir="2700000">
              <a:srgbClr val="AAB7C6">
                <a:alpha val="12000"/>
              </a:srgbClr>
            </a:outerShdw>
          </a:effectLst>
        </p:spPr>
      </p:sp>
      <p:sp>
        <p:nvSpPr>
          <p:cNvPr id="18" name="Shape 16"/>
          <p:cNvSpPr/>
          <p:nvPr/>
        </p:nvSpPr>
        <p:spPr>
          <a:xfrm>
            <a:off x="6217920" y="3675888"/>
            <a:ext cx="64008" cy="1965960"/>
          </a:xfrm>
          <a:prstGeom prst="rect">
            <a:avLst/>
          </a:prstGeom>
          <a:solidFill>
            <a:srgbClr val="16865A"/>
          </a:solidFill>
          <a:ln w="12700">
            <a:solidFill>
              <a:srgbClr val="16865A"/>
            </a:solidFill>
            <a:prstDash val="solid"/>
          </a:ln>
        </p:spPr>
      </p:sp>
      <p:sp>
        <p:nvSpPr>
          <p:cNvPr id="19" name="Text 17"/>
          <p:cNvSpPr/>
          <p:nvPr/>
        </p:nvSpPr>
        <p:spPr>
          <a:xfrm>
            <a:off x="6419088" y="3840480"/>
            <a:ext cx="5029200" cy="292608"/>
          </a:xfrm>
          <a:prstGeom prst="rect">
            <a:avLst/>
          </a:prstGeom>
          <a:noFill/>
          <a:ln/>
        </p:spPr>
        <p:txBody>
          <a:bodyPr wrap="square" lIns="0" tIns="0" rIns="0" bIns="0" rtlCol="0" anchor="ctr"/>
          <a:lstStyle/>
          <a:p>
            <a:pPr indent="0" marL="0">
              <a:buNone/>
            </a:pPr>
            <a:r>
              <a:rPr lang="en-US" sz="1200" b="1" dirty="0">
                <a:solidFill>
                  <a:srgbClr val="002D58"/>
                </a:solidFill>
                <a:latin typeface="Montserrat" pitchFamily="34" charset="0"/>
                <a:ea typeface="Montserrat" pitchFamily="34" charset="-122"/>
                <a:cs typeface="Montserrat" pitchFamily="34" charset="-120"/>
              </a:rPr>
              <a:t>¿Cómo escala?</a:t>
            </a:r>
            <a:endParaRPr lang="en-US" sz="1200" dirty="0"/>
          </a:p>
        </p:txBody>
      </p:sp>
      <p:sp>
        <p:nvSpPr>
          <p:cNvPr id="20" name="Text 18"/>
          <p:cNvSpPr/>
          <p:nvPr/>
        </p:nvSpPr>
        <p:spPr>
          <a:xfrm>
            <a:off x="6419088" y="4206240"/>
            <a:ext cx="5029200" cy="1307592"/>
          </a:xfrm>
          <a:prstGeom prst="rect">
            <a:avLst/>
          </a:prstGeom>
          <a:noFill/>
          <a:ln/>
        </p:spPr>
        <p:txBody>
          <a:bodyPr wrap="square" lIns="0" tIns="0" rIns="0" bIns="0" rtlCol="0" anchor="t">
            <a:normAutofit/>
          </a:bodyPr>
          <a:lstStyle/>
          <a:p>
            <a:pPr indent="0" marL="0">
              <a:buNone/>
            </a:pPr>
            <a:r>
              <a:rPr lang="en-US" sz="1000" dirty="0">
                <a:solidFill>
                  <a:srgbClr val="172033"/>
                </a:solidFill>
                <a:latin typeface="Montserrat" pitchFamily="34" charset="0"/>
                <a:ea typeface="Montserrat" pitchFamily="34" charset="-122"/>
                <a:cs typeface="Montserrat" pitchFamily="34" charset="-120"/>
              </a:rPr>
              <a:t>Las fuentes, reglas, servicios y canales están desacoplados. Se pueden sumar datasets, sectores, alertas y canales sin rediseñar toda la plataforma.</a:t>
            </a:r>
            <a:endParaRPr lang="en-US" sz="1000" dirty="0"/>
          </a:p>
        </p:txBody>
      </p:sp>
      <p:sp>
        <p:nvSpPr>
          <p:cNvPr id="25" name="Slide Number Placeholder 0"/>
          <p:cNvSpPr>
            <a:spLocks noGrp="1"/>
          </p:cNvSpPr>
          <p:nvPr>
            <p:ph type="sldNum" sz="quarter" idx="4294967295"/>
          </p:nvPr>
        </p:nvSpPr>
        <p:spPr>
          <a:xfrm>
            <a:off x="11722608" y="6492240"/>
            <a:ext cx="800000" cy="300000"/>
          </a:xfrm>
          <a:prstGeom prst="rect">
            <a:avLst/>
          </a:prstGeom>
          <a:extLst>
            <a:ext uri="{C572A759-6A51-4108-AA02-DFA0A04FC94B}">
              <ma14:wrappingTextBoxFlag xmlns:ma14="http://schemas.microsoft.com/office/mac/drawingml/2011/main" val="0"/>
            </a:ext>
          </a:extLst>
        </p:spPr>
        <p:txBody>
          <a:bodyPr/>
          <a:lstStyle>
            <a:lvl1pPr>
              <a:defRPr sz="600">
                <a:solidFill>
                  <a:srgbClr val="718096"/>
                </a:solidFill>
                <a:latin typeface="Montserrat"/>
                <a:ea typeface="Montserrat"/>
                <a:cs typeface="Montserrat"/>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ontserra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Datos al Ecosistema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Observatorio Anticorrupción de Colombia</dc:title>
  <dc:subject>Sustentación Datos al Ecosistema 2026</dc:subject>
  <dc:creator>John Paez y Esperanza Niño</dc:creator>
  <cp:lastModifiedBy>John Paez y Esperanza Niño</cp:lastModifiedBy>
  <cp:revision>1</cp:revision>
  <dcterms:created xsi:type="dcterms:W3CDTF">2026-07-17T16:59:35Z</dcterms:created>
  <dcterms:modified xsi:type="dcterms:W3CDTF">2026-07-17T16:59:35Z</dcterms:modified>
</cp:coreProperties>
</file>